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Good morning. We built PCOS Pathfinder: a practical, explainable decision-support workflow for earlier PCOS detection. Our thesis is simple — clinical AI should not just predict a label. It should help clinicians decide who needs assessment, explain why, and avoid missing overlapping conditions. On the held-out split, the enhanced model reaches 0.953 ROC-AUC with 0.886 sensitivity, and everything is reproducible from thirteen notebooks.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challenge asks us to improve diagnostic accuracy in women's health. PCOS is a perfect core case because it is common, heterogeneous, and often delayed. A patient may first present with acne, hair growth, irregular bleeding, weight changes, or fertility concerns. Those signals are clinically meaningful, but they are often spread across visits and specialists. Our design goal is not just a high AUC — it is a workflow that fits the diagnostic pathway.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PCOS hyperandrogenism is not a primary ovarian problem alone — the GnRH pulse generator runs fast, LH dominates relative to FSH, and theca cells overproduce androgens. The screening model picks up the downstream skin and cycle features without needing the lab; the enhanced tier adds AMH and follicle counts that reflect the follicular-arrest endpoint.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insulin–androgen loop is the metabolic engine of PCOS. The long-term risk multipliers — type-2 diabetes, cardiovascular events, NAFLD — justify treating PCOS as a metabolic-cardiovascular condition, not only a reproductive one. The app's lean-PCOS warning is grounded in this biology: low BMI does not rule out insulin resistance.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Polycystic morphology is not multiple cysts — it is follicular arrest. Small antral follicles accumulate at the periphery because none receive sufficient FSH to become dominant. This is why follicle_no_l and follicle_no_r dominate enhanced-model SHAP for positive cases: they are the most specific morphologic signal in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PCOS is not one disease. Four phenotypes presenting through different combinations of hyperandrogenism, ovulatory dysfunction, and polycystic morphology — with different metabolic profiles. The screening tier exists in part to catch phenotypes B (H+O, no PCOM) without requiring ultrasound.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single-cell layer is used for biological rationale only, not as expression evidence. The point is that the same biological axes that drive PCOS at the molecular level — steroidogenesis, androgen signalling, insulin, follicular development, GWAS loci — are the axes our clinical features capture downstream.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product is tiered. First, a frontline model uses low-friction data. Second, an enhanced model uses labs and ultrasound. Third, the app shows a diagnostic-completeness checklist so the clinician sees what evidence is present and what is missing. Fourth, the overlap prompt warns when the symptom pattern deserves broader gynecologic workup. That is why this is decision support, not automated diagnosis.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data boundaries are as important as the model. We use the PCOS clinical data as the foundation. The endometriosis dataset is synthetic, so we only use it as a workflow prompt. The single-cell data supports biological rationale only. We also fixed a critical data-quality issue: the source says cycle length, but the range is 0 to 12 days, so it is actually bleeding duration. That prevents out-of-distribution inputs like 28 days. Blood group is handled as a categorical caveat per Yang et al. 2025.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threshold is not chosen on the test set. We select models using cross-validation on training data, then choose thresholds using out-of-fold probabilities from that training split. Only after that do we evaluate on the held-out test set. We optimize for recall — missing a PCOS case is more costly than sending someone for follow-up.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screening model catches 39 of 44 PCOS-positive patients in the holdout cohort. The enhanced model keeps the same sensitivity, but raises specificity from 0.685 to 0.902 and precision from 0.574 to 0.812. That is the point of the tiered workflow: screen broadly first, then use labs and ultrasound to reduce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Point estimates alone are not enough for a clinical prediction pitch. We added bootstrap confidence intervals, calibration, decision curve analysis, conformal prediction, subgroup audits, TabPFN benchmarking, and a Rotterdam comparison. The combined layer is what makes the model harder to dismiss in peer review.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Decision curve analysis asks whether a model helps at clinically plausible thresholds — ours do. We also found an honest fairness risk: recall is lower in the normal-BMI group for screening. Rather than hide that, we added a warning to the prototype.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Explainability is not an afterthought. The clinician sees the probability, the action threshold, the risk tier, and the top SHAP contributors. In the enhanced model, follicle counts rise to the top, which is clinically sensible. The checklist translates that into next-step reasoning.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We did not stop at comparing random forest to logistic regression. TabPFN slightly improves AUC, but the random forest keeps better recall and F2 at the selected action threshold and is easier to deploy. Against Rotterdam, enhanced ML catches more positives with only a small specificity cost.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differential module is framed as a prompt. Because the endometriosis dataset is synthetic, we make no clinical diagnostic claim. But when chronic pain, infertility, hormonal abnormality and menstrual irregularity cluster together, the system reminds the clinician not to stop thinking after the PCOS risk score.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Two held-out app walkthroughs side by side. The high-risk patient: follicle counts ten and nine, irregular cycle, skin darkening — both tiers say High Risk, all four checklist boxes tick. The low-risk patient: elevated AMH at 11.4 might worry a clinician, but low follicle counts and regular cycle correctly drive a Low Risk score on both tiers. Pre-rendered from outputs/metrics/demo_*.csv.</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The deployment path is honest: internal validation, silent pilot, prospective study — external validation before any clinical claim. The impact is earlier triage for delayed patients, a screening model that needs no labs for low-resource settings, transparent SHAP and conformal abstention for safety, and subgroup gaps that we measured and surfaced rather than hid. Thank you.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This is the cleaning step. Every column gets numeric-coerced and every non-numeric cell that drops to NaN is recorded with an example. That is how we caught the literal string '1.99.' in the second beta-HCG column and the literal letter 'a' in the AMH column. We drop identifiers and the marriage-status column. Blood group is withheld because codes 11–18 are categorical ABO/Rh labels, not an ordered diagnostic scale.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A common failure mode in clinical ML pitches is choosing the threshold on the same test set you then report metrics from. We avoid it. The threshold is picked from out-of-fold training probabilities. The held-out test set is evaluated exactly once, after the model is refit on the full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We ran a paired bootstrap: the same 2000 resampled index vectors for both models, computed delta-AUC on each, and reported the 2.5 and 97.5 percentile of the differences plus the empirical two-sided p value. The enhanced model is above the screening model on AUC with 95% confidence on this holdout.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For one held-out positive case, SHAP tells us why the model said PCOS: high follicle counts on both ovaries do most of the work, with AMH and cycle irregularity contributing, and the absence of skin darkening and weight gain pulling slightly the other way.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Inter"/>
              </a:rPr>
              <a:t>Split-conformal gives each patient a prediction set with a distribution-free coverage guarantee. We hold out 30% of the training set as a calibration slice, compute one minus the model probability of the true label on it, and pick q-hat at the appropriate quantile. Targeted 90% coverage; observed 91.2% on the holdout. Empty sets count as abstentions.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CLINICAL DECISION SUPPORT  ·  BIOHACKATHON 2026 WOMEN'S HEALTH</a:t>
            </a:r>
          </a:p>
        </p:txBody>
      </p:sp>
      <p:sp>
        <p:nvSpPr>
          <p:cNvPr id="8" name="TextBox 7"/>
          <p:cNvSpPr txBox="1"/>
          <p:nvPr/>
        </p:nvSpPr>
        <p:spPr>
          <a:xfrm>
            <a:off x="502920" y="1005840"/>
            <a:ext cx="6858000" cy="1828800"/>
          </a:xfrm>
          <a:prstGeom prst="rect">
            <a:avLst/>
          </a:prstGeom>
          <a:noFill/>
        </p:spPr>
        <p:txBody>
          <a:bodyPr wrap="square" lIns="0" rIns="0" tIns="36576" bIns="36576" anchor="t">
            <a:spAutoFit/>
          </a:bodyPr>
          <a:lstStyle/>
          <a:p>
            <a:pPr algn="l">
              <a:spcAft>
                <a:spcPts val="400"/>
              </a:spcAft>
            </a:pPr>
            <a:r>
              <a:rPr sz="6400" b="1" i="0">
                <a:solidFill>
                  <a:srgbClr val="1F3A5F"/>
                </a:solidFill>
                <a:latin typeface="Inter"/>
              </a:rPr>
              <a:t>PCOS Pathfinder</a:t>
            </a:r>
          </a:p>
        </p:txBody>
      </p:sp>
      <p:sp>
        <p:nvSpPr>
          <p:cNvPr id="9" name="TextBox 8"/>
          <p:cNvSpPr txBox="1"/>
          <p:nvPr/>
        </p:nvSpPr>
        <p:spPr>
          <a:xfrm>
            <a:off x="502920" y="2971800"/>
            <a:ext cx="6766560" cy="1463040"/>
          </a:xfrm>
          <a:prstGeom prst="rect">
            <a:avLst/>
          </a:prstGeom>
          <a:noFill/>
        </p:spPr>
        <p:txBody>
          <a:bodyPr wrap="square" lIns="0" rIns="0" tIns="36576" bIns="36576" anchor="t">
            <a:spAutoFit/>
          </a:bodyPr>
          <a:lstStyle/>
          <a:p>
            <a:pPr algn="l">
              <a:spcAft>
                <a:spcPts val="400"/>
              </a:spcAft>
            </a:pPr>
            <a:r>
              <a:rPr sz="2000" b="0" i="0">
                <a:solidFill>
                  <a:srgbClr val="334155"/>
                </a:solidFill>
                <a:latin typeface="Inter"/>
              </a:rPr>
              <a:t>A tiered, explainable clinical decision-support prototype for earlier PCOS detection and safer differential workup.</a:t>
            </a:r>
          </a:p>
        </p:txBody>
      </p:sp>
      <p:sp>
        <p:nvSpPr>
          <p:cNvPr id="10" name="Rounded Rectangle 9"/>
          <p:cNvSpPr/>
          <p:nvPr/>
        </p:nvSpPr>
        <p:spPr>
          <a:xfrm>
            <a:off x="502920" y="4663440"/>
            <a:ext cx="2148840" cy="128016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4663440"/>
            <a:ext cx="2148840" cy="64008"/>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846320"/>
            <a:ext cx="2148840" cy="1005840"/>
          </a:xfrm>
          <a:prstGeom prst="rect">
            <a:avLst/>
          </a:prstGeom>
          <a:noFill/>
        </p:spPr>
        <p:txBody>
          <a:bodyPr wrap="square" lIns="0" rIns="0" tIns="36576" bIns="36576" anchor="t">
            <a:spAutoFit/>
          </a:bodyPr>
          <a:lstStyle/>
          <a:p>
            <a:pPr algn="ctr">
              <a:spcAft>
                <a:spcPts val="400"/>
              </a:spcAft>
            </a:pPr>
            <a:r>
              <a:rPr sz="3600" b="1" i="0">
                <a:solidFill>
                  <a:srgbClr val="007C89"/>
                </a:solidFill>
                <a:latin typeface="Inter"/>
              </a:rPr>
              <a:t>0.953</a:t>
            </a:r>
          </a:p>
          <a:p>
            <a:pPr algn="ctr"/>
            <a:r>
              <a:rPr sz="1100" b="0" i="0">
                <a:solidFill>
                  <a:srgbClr val="5F6C7B"/>
                </a:solidFill>
                <a:latin typeface="Inter"/>
              </a:rPr>
              <a:t>Enhanced AUC</a:t>
            </a:r>
          </a:p>
        </p:txBody>
      </p:sp>
      <p:sp>
        <p:nvSpPr>
          <p:cNvPr id="13" name="Rounded Rectangle 12"/>
          <p:cNvSpPr/>
          <p:nvPr/>
        </p:nvSpPr>
        <p:spPr>
          <a:xfrm>
            <a:off x="2834640" y="4663440"/>
            <a:ext cx="2148840" cy="128016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34640" y="4663440"/>
            <a:ext cx="2148840" cy="6400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4846320"/>
            <a:ext cx="2148840" cy="1005840"/>
          </a:xfrm>
          <a:prstGeom prst="rect">
            <a:avLst/>
          </a:prstGeom>
          <a:noFill/>
        </p:spPr>
        <p:txBody>
          <a:bodyPr wrap="square" lIns="0" rIns="0" tIns="36576" bIns="36576" anchor="t">
            <a:spAutoFit/>
          </a:bodyPr>
          <a:lstStyle/>
          <a:p>
            <a:pPr algn="ctr">
              <a:spcAft>
                <a:spcPts val="400"/>
              </a:spcAft>
            </a:pPr>
            <a:r>
              <a:rPr sz="3600" b="1" i="0">
                <a:solidFill>
                  <a:srgbClr val="D95D39"/>
                </a:solidFill>
                <a:latin typeface="Inter"/>
              </a:rPr>
              <a:t>0.886</a:t>
            </a:r>
          </a:p>
          <a:p>
            <a:pPr algn="ctr"/>
            <a:r>
              <a:rPr sz="1100" b="0" i="0">
                <a:solidFill>
                  <a:srgbClr val="5F6C7B"/>
                </a:solidFill>
                <a:latin typeface="Inter"/>
              </a:rPr>
              <a:t>Sensitivity</a:t>
            </a:r>
          </a:p>
        </p:txBody>
      </p:sp>
      <p:sp>
        <p:nvSpPr>
          <p:cNvPr id="16" name="Rounded Rectangle 15"/>
          <p:cNvSpPr/>
          <p:nvPr/>
        </p:nvSpPr>
        <p:spPr>
          <a:xfrm>
            <a:off x="5166360" y="4663440"/>
            <a:ext cx="2148840" cy="128016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66360" y="4663440"/>
            <a:ext cx="2148840" cy="64008"/>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4846320"/>
            <a:ext cx="2148840" cy="1005840"/>
          </a:xfrm>
          <a:prstGeom prst="rect">
            <a:avLst/>
          </a:prstGeom>
          <a:noFill/>
        </p:spPr>
        <p:txBody>
          <a:bodyPr wrap="square" lIns="0" rIns="0" tIns="36576" bIns="36576" anchor="t">
            <a:spAutoFit/>
          </a:bodyPr>
          <a:lstStyle/>
          <a:p>
            <a:pPr algn="ctr">
              <a:spcAft>
                <a:spcPts val="400"/>
              </a:spcAft>
            </a:pPr>
            <a:r>
              <a:rPr sz="3600" b="1" i="0">
                <a:solidFill>
                  <a:srgbClr val="C98910"/>
                </a:solidFill>
                <a:latin typeface="Inter"/>
              </a:rPr>
              <a:t>13</a:t>
            </a:r>
          </a:p>
          <a:p>
            <a:pPr algn="ctr"/>
            <a:r>
              <a:rPr sz="1100" b="0" i="0">
                <a:solidFill>
                  <a:srgbClr val="5F6C7B"/>
                </a:solidFill>
                <a:latin typeface="Inter"/>
              </a:rPr>
              <a:t>Reproducible notebooks</a:t>
            </a:r>
          </a:p>
        </p:txBody>
      </p:sp>
      <p:pic>
        <p:nvPicPr>
          <p:cNvPr id="19" name="Picture 18" descr="enhanced_roc_curve.png"/>
          <p:cNvPicPr>
            <a:picLocks noChangeAspect="1"/>
          </p:cNvPicPr>
          <p:nvPr/>
        </p:nvPicPr>
        <p:blipFill>
          <a:blip r:embed="rId2"/>
          <a:stretch>
            <a:fillRect/>
          </a:stretch>
        </p:blipFill>
        <p:spPr>
          <a:xfrm>
            <a:off x="7680960" y="1298448"/>
            <a:ext cx="4069080" cy="3255264"/>
          </a:xfrm>
          <a:prstGeom prst="rect">
            <a:avLst/>
          </a:prstGeom>
        </p:spPr>
      </p:pic>
      <p:sp>
        <p:nvSpPr>
          <p:cNvPr id="20" name="TextBox 19"/>
          <p:cNvSpPr txBox="1"/>
          <p:nvPr/>
        </p:nvSpPr>
        <p:spPr>
          <a:xfrm>
            <a:off x="7680960" y="4983480"/>
            <a:ext cx="4069080" cy="274320"/>
          </a:xfrm>
          <a:prstGeom prst="rect">
            <a:avLst/>
          </a:prstGeom>
          <a:noFill/>
        </p:spPr>
        <p:txBody>
          <a:bodyPr wrap="square" lIns="0" rIns="0" tIns="36576" bIns="36576" anchor="t">
            <a:spAutoFit/>
          </a:bodyPr>
          <a:lstStyle/>
          <a:p>
            <a:pPr algn="ctr">
              <a:spcAft>
                <a:spcPts val="400"/>
              </a:spcAft>
            </a:pPr>
            <a:r>
              <a:rPr sz="1000" b="0" i="1">
                <a:solidFill>
                  <a:srgbClr val="5F6C7B"/>
                </a:solidFill>
                <a:latin typeface="Inter"/>
              </a:rPr>
              <a:t>Held-out test split, n=136. Thresholds selected from training out-of-fold probabilities.</a:t>
            </a:r>
          </a:p>
        </p:txBody>
      </p:sp>
      <p:sp>
        <p:nvSpPr>
          <p:cNvPr id="21" name="TextBox 20"/>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THE DIAGNOSTIC GAP</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800" b="1" i="0">
                <a:solidFill>
                  <a:srgbClr val="1F3A5F"/>
                </a:solidFill>
                <a:latin typeface="Inter"/>
              </a:rPr>
              <a:t>PCOS is common, heterogeneous, and routinely missed.</a:t>
            </a:r>
          </a:p>
        </p:txBody>
      </p:sp>
      <p:sp>
        <p:nvSpPr>
          <p:cNvPr id="9" name="Rounded Rectangle 8"/>
          <p:cNvSpPr/>
          <p:nvPr/>
        </p:nvSpPr>
        <p:spPr>
          <a:xfrm>
            <a:off x="502920" y="1874519"/>
            <a:ext cx="2240280" cy="11887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74519"/>
            <a:ext cx="2240280" cy="64008"/>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039111"/>
            <a:ext cx="2240280" cy="914400"/>
          </a:xfrm>
          <a:prstGeom prst="rect">
            <a:avLst/>
          </a:prstGeom>
          <a:noFill/>
        </p:spPr>
        <p:txBody>
          <a:bodyPr wrap="square" tIns="36576" bIns="36576" anchor="t">
            <a:spAutoFit/>
          </a:bodyPr>
          <a:lstStyle/>
          <a:p>
            <a:pPr algn="ctr">
              <a:spcAft>
                <a:spcPts val="400"/>
              </a:spcAft>
            </a:pPr>
            <a:r>
              <a:rPr sz="2600" b="1" i="0">
                <a:solidFill>
                  <a:srgbClr val="007C89"/>
                </a:solidFill>
                <a:latin typeface="Inter"/>
              </a:rPr>
              <a:t>8–13%</a:t>
            </a:r>
          </a:p>
          <a:p>
            <a:pPr algn="ctr">
              <a:spcAft>
                <a:spcPts val="400"/>
              </a:spcAft>
            </a:pPr>
            <a:r>
              <a:rPr sz="1000" b="0" i="0">
                <a:solidFill>
                  <a:srgbClr val="5F6C7B"/>
                </a:solidFill>
                <a:latin typeface="Inter"/>
              </a:rPr>
              <a:t>of reproductive-age women affected</a:t>
            </a:r>
            <a:br/>
            <a:r>
              <a:rPr sz="1000" b="0" i="0">
                <a:solidFill>
                  <a:srgbClr val="5F6C7B"/>
                </a:solidFill>
                <a:latin typeface="Inter"/>
              </a:rPr>
              <a:t>(Teede et al., Fertil Steril 2023)</a:t>
            </a:r>
          </a:p>
        </p:txBody>
      </p:sp>
      <p:sp>
        <p:nvSpPr>
          <p:cNvPr id="12" name="Rounded Rectangle 11"/>
          <p:cNvSpPr/>
          <p:nvPr/>
        </p:nvSpPr>
        <p:spPr>
          <a:xfrm>
            <a:off x="2834640" y="1874519"/>
            <a:ext cx="2240280" cy="11887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34640" y="1874519"/>
            <a:ext cx="2240280" cy="6400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2039111"/>
            <a:ext cx="2240280" cy="914400"/>
          </a:xfrm>
          <a:prstGeom prst="rect">
            <a:avLst/>
          </a:prstGeom>
          <a:noFill/>
        </p:spPr>
        <p:txBody>
          <a:bodyPr wrap="square" tIns="36576" bIns="36576" anchor="t">
            <a:spAutoFit/>
          </a:bodyPr>
          <a:lstStyle/>
          <a:p>
            <a:pPr algn="ctr">
              <a:spcAft>
                <a:spcPts val="400"/>
              </a:spcAft>
            </a:pPr>
            <a:r>
              <a:rPr sz="2600" b="1" i="0">
                <a:solidFill>
                  <a:srgbClr val="D95D39"/>
                </a:solidFill>
                <a:latin typeface="Inter"/>
              </a:rPr>
              <a:t>4+ yrs</a:t>
            </a:r>
          </a:p>
          <a:p>
            <a:pPr algn="ctr">
              <a:spcAft>
                <a:spcPts val="400"/>
              </a:spcAft>
            </a:pPr>
            <a:r>
              <a:rPr sz="1000" b="0" i="0">
                <a:solidFill>
                  <a:srgbClr val="5F6C7B"/>
                </a:solidFill>
                <a:latin typeface="Inter"/>
              </a:rPr>
              <a:t>average diagnostic delay</a:t>
            </a:r>
            <a:br/>
            <a:r>
              <a:rPr sz="1000" b="0" i="0">
                <a:solidFill>
                  <a:srgbClr val="5F6C7B"/>
                </a:solidFill>
                <a:latin typeface="Inter"/>
              </a:rPr>
              <a:t>across studies</a:t>
            </a:r>
          </a:p>
        </p:txBody>
      </p:sp>
      <p:sp>
        <p:nvSpPr>
          <p:cNvPr id="15" name="Rounded Rectangle 14"/>
          <p:cNvSpPr/>
          <p:nvPr/>
        </p:nvSpPr>
        <p:spPr>
          <a:xfrm>
            <a:off x="5166360" y="1874519"/>
            <a:ext cx="2240280" cy="11887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66360" y="1874519"/>
            <a:ext cx="2240280" cy="64008"/>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039111"/>
            <a:ext cx="2240280" cy="914400"/>
          </a:xfrm>
          <a:prstGeom prst="rect">
            <a:avLst/>
          </a:prstGeom>
          <a:noFill/>
        </p:spPr>
        <p:txBody>
          <a:bodyPr wrap="square" tIns="36576" bIns="36576" anchor="t">
            <a:spAutoFit/>
          </a:bodyPr>
          <a:lstStyle/>
          <a:p>
            <a:pPr algn="ctr">
              <a:spcAft>
                <a:spcPts val="400"/>
              </a:spcAft>
            </a:pPr>
            <a:r>
              <a:rPr sz="2600" b="1" i="0">
                <a:solidFill>
                  <a:srgbClr val="C98910"/>
                </a:solidFill>
                <a:latin typeface="Inter"/>
              </a:rPr>
              <a:t>~70%</a:t>
            </a:r>
          </a:p>
          <a:p>
            <a:pPr algn="ctr">
              <a:spcAft>
                <a:spcPts val="400"/>
              </a:spcAft>
            </a:pPr>
            <a:r>
              <a:rPr sz="1000" b="0" i="0">
                <a:solidFill>
                  <a:srgbClr val="5F6C7B"/>
                </a:solidFill>
                <a:latin typeface="Inter"/>
              </a:rPr>
              <a:t>estimated undiagnosed globally</a:t>
            </a:r>
            <a:br/>
            <a:r>
              <a:rPr sz="1000" b="0" i="0">
                <a:solidFill>
                  <a:srgbClr val="5F6C7B"/>
                </a:solidFill>
                <a:latin typeface="Inter"/>
              </a:rPr>
              <a:t>(Teede 2023; March 2010)</a:t>
            </a:r>
          </a:p>
        </p:txBody>
      </p:sp>
      <p:sp>
        <p:nvSpPr>
          <p:cNvPr id="18" name="Rounded Rectangle 17"/>
          <p:cNvSpPr/>
          <p:nvPr/>
        </p:nvSpPr>
        <p:spPr>
          <a:xfrm>
            <a:off x="502920" y="3246120"/>
            <a:ext cx="2240280" cy="21031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246120"/>
            <a:ext cx="2240280" cy="64008"/>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3429000"/>
            <a:ext cx="1911096" cy="1828800"/>
          </a:xfrm>
          <a:prstGeom prst="rect">
            <a:avLst/>
          </a:prstGeom>
          <a:noFill/>
        </p:spPr>
        <p:txBody>
          <a:bodyPr wrap="square" lIns="73152" rIns="73152" tIns="36576" bIns="36576" anchor="t">
            <a:spAutoFit/>
          </a:bodyPr>
          <a:lstStyle/>
          <a:p>
            <a:pPr algn="l">
              <a:spcAft>
                <a:spcPts val="400"/>
              </a:spcAft>
            </a:pPr>
            <a:r>
              <a:rPr sz="1550" b="1" i="0">
                <a:solidFill>
                  <a:srgbClr val="1F3A5F"/>
                </a:solidFill>
                <a:latin typeface="Inter"/>
              </a:rPr>
              <a:t>Complex presentation</a:t>
            </a:r>
          </a:p>
          <a:p>
            <a:pPr algn="l"/>
            <a:r>
              <a:rPr sz="1200" b="0" i="0">
                <a:solidFill>
                  <a:srgbClr val="5F6C7B"/>
                </a:solidFill>
                <a:latin typeface="Inter"/>
              </a:rPr>
              <a:t>Acne, weight change, irregular bleeding, infertility, metabolic risk, and ultrasound findings can each be the first signal.</a:t>
            </a:r>
          </a:p>
        </p:txBody>
      </p:sp>
      <p:sp>
        <p:nvSpPr>
          <p:cNvPr id="21" name="Rounded Rectangle 20"/>
          <p:cNvSpPr/>
          <p:nvPr/>
        </p:nvSpPr>
        <p:spPr>
          <a:xfrm>
            <a:off x="2834640" y="3246120"/>
            <a:ext cx="2240280" cy="21031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40" y="3246120"/>
            <a:ext cx="2240280" cy="6400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2" y="3429000"/>
            <a:ext cx="1911096" cy="1828800"/>
          </a:xfrm>
          <a:prstGeom prst="rect">
            <a:avLst/>
          </a:prstGeom>
          <a:noFill/>
        </p:spPr>
        <p:txBody>
          <a:bodyPr wrap="square" lIns="73152" rIns="73152" tIns="36576" bIns="36576" anchor="t">
            <a:spAutoFit/>
          </a:bodyPr>
          <a:lstStyle/>
          <a:p>
            <a:pPr algn="l">
              <a:spcAft>
                <a:spcPts val="400"/>
              </a:spcAft>
            </a:pPr>
            <a:r>
              <a:rPr sz="1550" b="1" i="0">
                <a:solidFill>
                  <a:srgbClr val="1F3A5F"/>
                </a:solidFill>
                <a:latin typeface="Inter"/>
              </a:rPr>
              <a:t>Delayed pathway</a:t>
            </a:r>
          </a:p>
          <a:p>
            <a:pPr algn="l"/>
            <a:r>
              <a:rPr sz="1200" b="0" i="0">
                <a:solidFill>
                  <a:srgbClr val="5F6C7B"/>
                </a:solidFill>
                <a:latin typeface="Inter"/>
              </a:rPr>
              <a:t>Primary care sees the earliest signals; labs and ultrasound often arrive only after specialist referral.</a:t>
            </a:r>
          </a:p>
        </p:txBody>
      </p:sp>
      <p:sp>
        <p:nvSpPr>
          <p:cNvPr id="24" name="Rounded Rectangle 23"/>
          <p:cNvSpPr/>
          <p:nvPr/>
        </p:nvSpPr>
        <p:spPr>
          <a:xfrm>
            <a:off x="5166360" y="3246120"/>
            <a:ext cx="2240280" cy="21031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66360" y="3246120"/>
            <a:ext cx="2240280" cy="64008"/>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30952" y="3429000"/>
            <a:ext cx="1911096" cy="1828800"/>
          </a:xfrm>
          <a:prstGeom prst="rect">
            <a:avLst/>
          </a:prstGeom>
          <a:noFill/>
        </p:spPr>
        <p:txBody>
          <a:bodyPr wrap="square" lIns="73152" rIns="73152" tIns="36576" bIns="36576" anchor="t">
            <a:spAutoFit/>
          </a:bodyPr>
          <a:lstStyle/>
          <a:p>
            <a:pPr algn="l">
              <a:spcAft>
                <a:spcPts val="400"/>
              </a:spcAft>
            </a:pPr>
            <a:r>
              <a:rPr sz="1550" b="1" i="0">
                <a:solidFill>
                  <a:srgbClr val="1F3A5F"/>
                </a:solidFill>
                <a:latin typeface="Inter"/>
              </a:rPr>
              <a:t>Overlap risk</a:t>
            </a:r>
          </a:p>
          <a:p>
            <a:pPr algn="l"/>
            <a:r>
              <a:rPr sz="1200" b="0" i="0">
                <a:solidFill>
                  <a:srgbClr val="5F6C7B"/>
                </a:solidFill>
                <a:latin typeface="Inter"/>
              </a:rPr>
              <a:t>Pelvic pain and infertility can point toward adjacent gynecologic conditions — the system must reduce tunnel vision.</a:t>
            </a:r>
          </a:p>
        </p:txBody>
      </p:sp>
      <p:pic>
        <p:nvPicPr>
          <p:cNvPr id="27" name="Picture 26" descr="pcos_symptom_rates.png"/>
          <p:cNvPicPr>
            <a:picLocks noChangeAspect="1"/>
          </p:cNvPicPr>
          <p:nvPr/>
        </p:nvPicPr>
        <p:blipFill>
          <a:blip r:embed="rId2"/>
          <a:stretch>
            <a:fillRect/>
          </a:stretch>
        </p:blipFill>
        <p:spPr>
          <a:xfrm>
            <a:off x="7680960" y="2523172"/>
            <a:ext cx="4069080" cy="2543175"/>
          </a:xfrm>
          <a:prstGeom prst="rect">
            <a:avLst/>
          </a:prstGeom>
        </p:spPr>
      </p:pic>
      <p:sp>
        <p:nvSpPr>
          <p:cNvPr id="28" name="TextBox 27"/>
          <p:cNvSpPr txBox="1"/>
          <p:nvPr/>
        </p:nvSpPr>
        <p:spPr>
          <a:xfrm>
            <a:off x="7680960" y="5760720"/>
            <a:ext cx="4069080" cy="274320"/>
          </a:xfrm>
          <a:prstGeom prst="rect">
            <a:avLst/>
          </a:prstGeom>
          <a:noFill/>
        </p:spPr>
        <p:txBody>
          <a:bodyPr wrap="square" lIns="0" rIns="0" tIns="36576" bIns="36576" anchor="t">
            <a:spAutoFit/>
          </a:bodyPr>
          <a:lstStyle/>
          <a:p>
            <a:pPr algn="ctr">
              <a:spcAft>
                <a:spcPts val="400"/>
              </a:spcAft>
            </a:pPr>
            <a:r>
              <a:rPr sz="1000" b="0" i="1">
                <a:solidFill>
                  <a:srgbClr val="5F6C7B"/>
                </a:solidFill>
                <a:latin typeface="Inter"/>
              </a:rPr>
              <a:t>Source cohort symptom differences ground the clinical story.</a:t>
            </a:r>
          </a:p>
        </p:txBody>
      </p:sp>
      <p:sp>
        <p:nvSpPr>
          <p:cNvPr id="29" name="TextBox 28"/>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6B5B95"/>
                </a:solidFill>
                <a:latin typeface="Inter"/>
              </a:rPr>
              <a:t>PATHOPHYSIOLOGY  ·  HPO AXIS</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600" b="1" i="0">
                <a:solidFill>
                  <a:srgbClr val="1F3A5F"/>
                </a:solidFill>
                <a:latin typeface="Inter"/>
              </a:rPr>
              <a:t>The hyperandrogenism in PCOS is upstream of the ovary.</a:t>
            </a:r>
          </a:p>
        </p:txBody>
      </p:sp>
      <p:pic>
        <p:nvPicPr>
          <p:cNvPr id="9" name="Picture 8" descr="hpo_axis.png"/>
          <p:cNvPicPr>
            <a:picLocks noChangeAspect="1"/>
          </p:cNvPicPr>
          <p:nvPr/>
        </p:nvPicPr>
        <p:blipFill>
          <a:blip r:embed="rId2"/>
          <a:stretch>
            <a:fillRect/>
          </a:stretch>
        </p:blipFill>
        <p:spPr>
          <a:xfrm>
            <a:off x="802902" y="1920240"/>
            <a:ext cx="6898114" cy="4434840"/>
          </a:xfrm>
          <a:prstGeom prst="rect">
            <a:avLst/>
          </a:prstGeom>
        </p:spPr>
      </p:pic>
      <p:sp>
        <p:nvSpPr>
          <p:cNvPr id="10" name="Rounded Rectangle 9"/>
          <p:cNvSpPr/>
          <p:nvPr/>
        </p:nvSpPr>
        <p:spPr>
          <a:xfrm>
            <a:off x="8229600" y="1920240"/>
            <a:ext cx="3520440" cy="44348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920240"/>
            <a:ext cx="91440" cy="44348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103120"/>
            <a:ext cx="3246120" cy="4160520"/>
          </a:xfrm>
          <a:prstGeom prst="rect">
            <a:avLst/>
          </a:prstGeom>
          <a:noFill/>
        </p:spPr>
        <p:txBody>
          <a:bodyPr wrap="square" lIns="73152" rIns="73152" tIns="36576" bIns="36576" anchor="t">
            <a:spAutoFit/>
          </a:bodyPr>
          <a:lstStyle/>
          <a:p>
            <a:pPr algn="l">
              <a:spcAft>
                <a:spcPts val="800"/>
              </a:spcAft>
            </a:pPr>
            <a:r>
              <a:rPr sz="1400" b="1" i="0">
                <a:solidFill>
                  <a:srgbClr val="6B5B95"/>
                </a:solidFill>
                <a:latin typeface="Inter"/>
              </a:rPr>
              <a:t>Why this matters for the model</a:t>
            </a:r>
          </a:p>
          <a:p>
            <a:pPr algn="l">
              <a:spcAft>
                <a:spcPts val="800"/>
              </a:spcAft>
            </a:pPr>
            <a:r>
              <a:rPr sz="1200" b="1" i="0">
                <a:solidFill>
                  <a:srgbClr val="6B5B95"/>
                </a:solidFill>
                <a:latin typeface="Inter"/>
              </a:rPr>
              <a:t>•  </a:t>
            </a:r>
            <a:r>
              <a:rPr sz="1200" b="0" i="0">
                <a:solidFill>
                  <a:srgbClr val="14213D"/>
                </a:solidFill>
                <a:latin typeface="Inter"/>
              </a:rPr>
              <a:t>PCOS disrupts GnRH pulse frequency, raising LH relative to FSH.</a:t>
            </a:r>
          </a:p>
          <a:p>
            <a:pPr algn="l">
              <a:spcAft>
                <a:spcPts val="800"/>
              </a:spcAft>
            </a:pPr>
            <a:r>
              <a:rPr sz="1200" b="1" i="0">
                <a:solidFill>
                  <a:srgbClr val="6B5B95"/>
                </a:solidFill>
                <a:latin typeface="Inter"/>
              </a:rPr>
              <a:t>•  </a:t>
            </a:r>
            <a:r>
              <a:rPr sz="1200" b="0" i="0">
                <a:solidFill>
                  <a:srgbClr val="14213D"/>
                </a:solidFill>
                <a:latin typeface="Inter"/>
              </a:rPr>
              <a:t>Elevated LH drives theca-cell androgen production; relative FSH deficit reduces aromatization to estradiol.</a:t>
            </a:r>
          </a:p>
          <a:p>
            <a:pPr algn="l">
              <a:spcAft>
                <a:spcPts val="800"/>
              </a:spcAft>
            </a:pPr>
            <a:r>
              <a:rPr sz="1200" b="1" i="0">
                <a:solidFill>
                  <a:srgbClr val="6B5B95"/>
                </a:solidFill>
                <a:latin typeface="Inter"/>
              </a:rPr>
              <a:t>•  </a:t>
            </a:r>
            <a:r>
              <a:rPr sz="1200" b="0" i="0">
                <a:solidFill>
                  <a:srgbClr val="14213D"/>
                </a:solidFill>
                <a:latin typeface="Inter"/>
              </a:rPr>
              <a:t>Clinically: hirsutism, acne, oligo-ovulation — features the screening tier uses as low-friction inputs.</a:t>
            </a:r>
          </a:p>
          <a:p>
            <a:pPr algn="l">
              <a:spcAft>
                <a:spcPts val="800"/>
              </a:spcAft>
            </a:pPr>
            <a:r>
              <a:rPr sz="1200" b="1" i="0">
                <a:solidFill>
                  <a:srgbClr val="6B5B95"/>
                </a:solidFill>
                <a:latin typeface="Inter"/>
              </a:rPr>
              <a:t>•  </a:t>
            </a:r>
            <a:r>
              <a:rPr sz="1200" b="0" i="0">
                <a:solidFill>
                  <a:srgbClr val="14213D"/>
                </a:solidFill>
                <a:latin typeface="Inter"/>
              </a:rPr>
              <a:t>Why an enhanced tier matters: testosterone is the missing direct biomarker; AMH + LH:FSH context partially substitutes.</a:t>
            </a:r>
          </a:p>
        </p:txBody>
      </p:sp>
      <p:sp>
        <p:nvSpPr>
          <p:cNvPr id="13" name="TextBox 12"/>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6B5B95"/>
                </a:solidFill>
                <a:latin typeface="Inter"/>
              </a:rPr>
              <a:t>PATHOPHYSIOLOGY  ·  METABOLIC AXIS</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600" b="1" i="0">
                <a:solidFill>
                  <a:srgbClr val="1F3A5F"/>
                </a:solidFill>
                <a:latin typeface="Inter"/>
              </a:rPr>
              <a:t>Insulin resistance amplifies the androgen loop and drives long-term risk.</a:t>
            </a:r>
          </a:p>
        </p:txBody>
      </p:sp>
      <p:pic>
        <p:nvPicPr>
          <p:cNvPr id="9" name="Picture 8" descr="insulin_androgen.png"/>
          <p:cNvPicPr>
            <a:picLocks noChangeAspect="1"/>
          </p:cNvPicPr>
          <p:nvPr/>
        </p:nvPicPr>
        <p:blipFill>
          <a:blip r:embed="rId2"/>
          <a:stretch>
            <a:fillRect/>
          </a:stretch>
        </p:blipFill>
        <p:spPr>
          <a:xfrm>
            <a:off x="502920" y="2008968"/>
            <a:ext cx="7498079" cy="4257383"/>
          </a:xfrm>
          <a:prstGeom prst="rect">
            <a:avLst/>
          </a:prstGeom>
        </p:spPr>
      </p:pic>
      <p:sp>
        <p:nvSpPr>
          <p:cNvPr id="10" name="Rounded Rectangle 9"/>
          <p:cNvSpPr/>
          <p:nvPr/>
        </p:nvSpPr>
        <p:spPr>
          <a:xfrm>
            <a:off x="8229600" y="1920240"/>
            <a:ext cx="3520440" cy="44348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920240"/>
            <a:ext cx="91440" cy="44348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103120"/>
            <a:ext cx="3246120" cy="4160520"/>
          </a:xfrm>
          <a:prstGeom prst="rect">
            <a:avLst/>
          </a:prstGeom>
          <a:noFill/>
        </p:spPr>
        <p:txBody>
          <a:bodyPr wrap="square" lIns="73152" rIns="73152" tIns="36576" bIns="36576" anchor="t">
            <a:spAutoFit/>
          </a:bodyPr>
          <a:lstStyle/>
          <a:p>
            <a:pPr algn="l">
              <a:spcAft>
                <a:spcPts val="800"/>
              </a:spcAft>
            </a:pPr>
            <a:r>
              <a:rPr sz="1400" b="1" i="0">
                <a:solidFill>
                  <a:srgbClr val="6B5B95"/>
                </a:solidFill>
                <a:latin typeface="Inter"/>
              </a:rPr>
              <a:t>Why this matters for the model</a:t>
            </a:r>
          </a:p>
          <a:p>
            <a:pPr algn="l">
              <a:spcAft>
                <a:spcPts val="800"/>
              </a:spcAft>
            </a:pPr>
            <a:r>
              <a:rPr sz="1200" b="1" i="0">
                <a:solidFill>
                  <a:srgbClr val="6B5B95"/>
                </a:solidFill>
                <a:latin typeface="Inter"/>
              </a:rPr>
              <a:t>•  </a:t>
            </a:r>
            <a:r>
              <a:rPr sz="1200" b="0" i="0">
                <a:solidFill>
                  <a:srgbClr val="14213D"/>
                </a:solidFill>
                <a:latin typeface="Inter"/>
              </a:rPr>
              <a:t>Peripheral insulin resistance raises insulin, which directly stimulates ovarian theca androgen output.</a:t>
            </a:r>
          </a:p>
          <a:p>
            <a:pPr algn="l">
              <a:spcAft>
                <a:spcPts val="800"/>
              </a:spcAft>
            </a:pPr>
            <a:r>
              <a:rPr sz="1200" b="1" i="0">
                <a:solidFill>
                  <a:srgbClr val="6B5B95"/>
                </a:solidFill>
                <a:latin typeface="Inter"/>
              </a:rPr>
              <a:t>•  </a:t>
            </a:r>
            <a:r>
              <a:rPr sz="1200" b="0" i="0">
                <a:solidFill>
                  <a:srgbClr val="14213D"/>
                </a:solidFill>
                <a:latin typeface="Inter"/>
              </a:rPr>
              <a:t>Hyperinsulinemia also lowers hepatic SHBG, raising free testosterone.</a:t>
            </a:r>
          </a:p>
          <a:p>
            <a:pPr algn="l">
              <a:spcAft>
                <a:spcPts val="800"/>
              </a:spcAft>
            </a:pPr>
            <a:r>
              <a:rPr sz="1200" b="1" i="0">
                <a:solidFill>
                  <a:srgbClr val="6B5B95"/>
                </a:solidFill>
                <a:latin typeface="Inter"/>
              </a:rPr>
              <a:t>•  </a:t>
            </a:r>
            <a:r>
              <a:rPr sz="1200" b="0" i="0">
                <a:solidFill>
                  <a:srgbClr val="14213D"/>
                </a:solidFill>
                <a:latin typeface="Inter"/>
              </a:rPr>
              <a:t>PCOS confers 3–7× relative risk of T2DM; CVD, GDM, NAFLD, and endometrial hyperplasia all elevated.</a:t>
            </a:r>
          </a:p>
          <a:p>
            <a:pPr algn="l">
              <a:spcAft>
                <a:spcPts val="800"/>
              </a:spcAft>
            </a:pPr>
            <a:r>
              <a:rPr sz="1200" b="1" i="0">
                <a:solidFill>
                  <a:srgbClr val="6B5B95"/>
                </a:solidFill>
                <a:latin typeface="Inter"/>
              </a:rPr>
              <a:t>•  </a:t>
            </a:r>
            <a:r>
              <a:rPr sz="1200" b="0" i="0">
                <a:solidFill>
                  <a:srgbClr val="14213D"/>
                </a:solidFill>
                <a:latin typeface="Inter"/>
              </a:rPr>
              <a:t>Why our app warns on lean PCOS: metabolic risk is not purely BMI-driven; lean patients can still be insulin-resistant.</a:t>
            </a:r>
          </a:p>
        </p:txBody>
      </p:sp>
      <p:sp>
        <p:nvSpPr>
          <p:cNvPr id="13" name="TextBox 12"/>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6B5B95"/>
                </a:solidFill>
                <a:latin typeface="Inter"/>
              </a:rPr>
              <a:t>MORPHOLOGY  ·  FOLLICULAR ARREST</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600" b="1" i="0">
                <a:solidFill>
                  <a:srgbClr val="1F3A5F"/>
                </a:solidFill>
                <a:latin typeface="Inter"/>
              </a:rPr>
              <a:t>Polycystic morphology is follicular arrest, not multiple cysts.</a:t>
            </a:r>
          </a:p>
        </p:txBody>
      </p:sp>
      <p:pic>
        <p:nvPicPr>
          <p:cNvPr id="9" name="Picture 8" descr="ovary_morphology.png"/>
          <p:cNvPicPr>
            <a:picLocks noChangeAspect="1"/>
          </p:cNvPicPr>
          <p:nvPr/>
        </p:nvPicPr>
        <p:blipFill>
          <a:blip r:embed="rId2"/>
          <a:stretch>
            <a:fillRect/>
          </a:stretch>
        </p:blipFill>
        <p:spPr>
          <a:xfrm>
            <a:off x="879808" y="1920240"/>
            <a:ext cx="6744303" cy="4434840"/>
          </a:xfrm>
          <a:prstGeom prst="rect">
            <a:avLst/>
          </a:prstGeom>
        </p:spPr>
      </p:pic>
      <p:sp>
        <p:nvSpPr>
          <p:cNvPr id="10" name="Rounded Rectangle 9"/>
          <p:cNvSpPr/>
          <p:nvPr/>
        </p:nvSpPr>
        <p:spPr>
          <a:xfrm>
            <a:off x="8229600" y="1920240"/>
            <a:ext cx="3520440" cy="44348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920240"/>
            <a:ext cx="91440" cy="44348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103120"/>
            <a:ext cx="3246120" cy="4160520"/>
          </a:xfrm>
          <a:prstGeom prst="rect">
            <a:avLst/>
          </a:prstGeom>
          <a:noFill/>
        </p:spPr>
        <p:txBody>
          <a:bodyPr wrap="square" lIns="73152" rIns="73152" tIns="36576" bIns="36576" anchor="t">
            <a:spAutoFit/>
          </a:bodyPr>
          <a:lstStyle/>
          <a:p>
            <a:pPr algn="l">
              <a:spcAft>
                <a:spcPts val="800"/>
              </a:spcAft>
            </a:pPr>
            <a:r>
              <a:rPr sz="1400" b="1" i="0">
                <a:solidFill>
                  <a:srgbClr val="6B5B95"/>
                </a:solidFill>
                <a:latin typeface="Inter"/>
              </a:rPr>
              <a:t>Why this matters for the model</a:t>
            </a:r>
          </a:p>
          <a:p>
            <a:pPr algn="l">
              <a:spcAft>
                <a:spcPts val="800"/>
              </a:spcAft>
            </a:pPr>
            <a:r>
              <a:rPr sz="1200" b="1" i="0">
                <a:solidFill>
                  <a:srgbClr val="6B5B95"/>
                </a:solidFill>
                <a:latin typeface="Inter"/>
              </a:rPr>
              <a:t>•  </a:t>
            </a:r>
            <a:r>
              <a:rPr sz="1200" b="0" i="0">
                <a:solidFill>
                  <a:srgbClr val="14213D"/>
                </a:solidFill>
                <a:latin typeface="Inter"/>
              </a:rPr>
              <a:t>Healthy ovary: 5–10 antral follicles, one dominant follicle matures and ovulates.</a:t>
            </a:r>
          </a:p>
          <a:p>
            <a:pPr algn="l">
              <a:spcAft>
                <a:spcPts val="800"/>
              </a:spcAft>
            </a:pPr>
            <a:r>
              <a:rPr sz="1200" b="1" i="0">
                <a:solidFill>
                  <a:srgbClr val="6B5B95"/>
                </a:solidFill>
                <a:latin typeface="Inter"/>
              </a:rPr>
              <a:t>•  </a:t>
            </a:r>
            <a:r>
              <a:rPr sz="1200" b="0" i="0">
                <a:solidFill>
                  <a:srgbClr val="14213D"/>
                </a:solidFill>
                <a:latin typeface="Inter"/>
              </a:rPr>
              <a:t>PCOM: ≥ 12 follicles 2–9 mm arranged peripherally; dense stroma; no dominant follicle.</a:t>
            </a:r>
          </a:p>
          <a:p>
            <a:pPr algn="l">
              <a:spcAft>
                <a:spcPts val="800"/>
              </a:spcAft>
            </a:pPr>
            <a:r>
              <a:rPr sz="1200" b="1" i="0">
                <a:solidFill>
                  <a:srgbClr val="6B5B95"/>
                </a:solidFill>
                <a:latin typeface="Inter"/>
              </a:rPr>
              <a:t>•  </a:t>
            </a:r>
            <a:r>
              <a:rPr sz="1200" b="0" i="0">
                <a:solidFill>
                  <a:srgbClr val="14213D"/>
                </a:solidFill>
                <a:latin typeface="Inter"/>
              </a:rPr>
              <a:t>Rotterdam 2003 ultrasound criterion: ≥12 follicles or volume ≥10 mL.</a:t>
            </a:r>
          </a:p>
          <a:p>
            <a:pPr algn="l">
              <a:spcAft>
                <a:spcPts val="800"/>
              </a:spcAft>
            </a:pPr>
            <a:r>
              <a:rPr sz="1200" b="1" i="0">
                <a:solidFill>
                  <a:srgbClr val="6B5B95"/>
                </a:solidFill>
                <a:latin typeface="Inter"/>
              </a:rPr>
              <a:t>•  </a:t>
            </a:r>
            <a:r>
              <a:rPr sz="1200" b="0" i="0">
                <a:solidFill>
                  <a:srgbClr val="14213D"/>
                </a:solidFill>
                <a:latin typeface="Inter"/>
              </a:rPr>
              <a:t>Why follicle counts dominate enhanced-model SHAP: they are the most specific morphologic feature available in this dataset.</a:t>
            </a:r>
          </a:p>
        </p:txBody>
      </p:sp>
      <p:sp>
        <p:nvSpPr>
          <p:cNvPr id="13" name="TextBox 12"/>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6B5B95"/>
                </a:solidFill>
                <a:latin typeface="Inter"/>
              </a:rPr>
              <a:t>HETEROGENEITY  ·  ROTTERDAM PHENOTYPES</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600" b="1" i="0">
                <a:solidFill>
                  <a:srgbClr val="1F3A5F"/>
                </a:solidFill>
                <a:latin typeface="Inter"/>
              </a:rPr>
              <a:t>PCOS is heterogeneous: 4 Rotterdam phenotypes with different presentations.</a:t>
            </a:r>
          </a:p>
        </p:txBody>
      </p:sp>
      <p:pic>
        <p:nvPicPr>
          <p:cNvPr id="9" name="Picture 8" descr="phenotype_venn.png"/>
          <p:cNvPicPr>
            <a:picLocks noChangeAspect="1"/>
          </p:cNvPicPr>
          <p:nvPr/>
        </p:nvPicPr>
        <p:blipFill>
          <a:blip r:embed="rId2"/>
          <a:stretch>
            <a:fillRect/>
          </a:stretch>
        </p:blipFill>
        <p:spPr>
          <a:xfrm>
            <a:off x="653882" y="1920240"/>
            <a:ext cx="7196155" cy="4434840"/>
          </a:xfrm>
          <a:prstGeom prst="rect">
            <a:avLst/>
          </a:prstGeom>
        </p:spPr>
      </p:pic>
      <p:sp>
        <p:nvSpPr>
          <p:cNvPr id="10" name="Rounded Rectangle 9"/>
          <p:cNvSpPr/>
          <p:nvPr/>
        </p:nvSpPr>
        <p:spPr>
          <a:xfrm>
            <a:off x="8229600" y="1920240"/>
            <a:ext cx="3520440" cy="44348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920240"/>
            <a:ext cx="91440" cy="44348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103120"/>
            <a:ext cx="3246120" cy="4160520"/>
          </a:xfrm>
          <a:prstGeom prst="rect">
            <a:avLst/>
          </a:prstGeom>
          <a:noFill/>
        </p:spPr>
        <p:txBody>
          <a:bodyPr wrap="square" lIns="73152" rIns="73152" tIns="36576" bIns="36576" anchor="t">
            <a:spAutoFit/>
          </a:bodyPr>
          <a:lstStyle/>
          <a:p>
            <a:pPr algn="l">
              <a:spcAft>
                <a:spcPts val="800"/>
              </a:spcAft>
            </a:pPr>
            <a:r>
              <a:rPr sz="1400" b="1" i="0">
                <a:solidFill>
                  <a:srgbClr val="6B5B95"/>
                </a:solidFill>
                <a:latin typeface="Inter"/>
              </a:rPr>
              <a:t>Why this matters for the model</a:t>
            </a:r>
          </a:p>
          <a:p>
            <a:pPr algn="l">
              <a:spcAft>
                <a:spcPts val="800"/>
              </a:spcAft>
            </a:pPr>
            <a:r>
              <a:rPr sz="1200" b="1" i="0">
                <a:solidFill>
                  <a:srgbClr val="6B5B95"/>
                </a:solidFill>
                <a:latin typeface="Inter"/>
              </a:rPr>
              <a:t>•  </a:t>
            </a:r>
            <a:r>
              <a:rPr sz="1200" b="0" i="0">
                <a:solidFill>
                  <a:srgbClr val="14213D"/>
                </a:solidFill>
                <a:latin typeface="Inter"/>
              </a:rPr>
              <a:t>Rotterdam criteria: any 2 of hyperandrogenism, ovulatory dysfunction, polycystic morphology.</a:t>
            </a:r>
          </a:p>
          <a:p>
            <a:pPr algn="l">
              <a:spcAft>
                <a:spcPts val="800"/>
              </a:spcAft>
            </a:pPr>
            <a:r>
              <a:rPr sz="1200" b="1" i="0">
                <a:solidFill>
                  <a:srgbClr val="6B5B95"/>
                </a:solidFill>
                <a:latin typeface="Inter"/>
              </a:rPr>
              <a:t>•  </a:t>
            </a:r>
            <a:r>
              <a:rPr sz="1200" b="0" i="0">
                <a:solidFill>
                  <a:srgbClr val="14213D"/>
                </a:solidFill>
                <a:latin typeface="Inter"/>
              </a:rPr>
              <a:t>Phenotype A (all three) ≈50%; B (H+O) ≈10%; C (H+P) ≈25%; D (O+P) ≈15% (Lizneva 2016).</a:t>
            </a:r>
          </a:p>
          <a:p>
            <a:pPr algn="l">
              <a:spcAft>
                <a:spcPts val="800"/>
              </a:spcAft>
            </a:pPr>
            <a:r>
              <a:rPr sz="1200" b="1" i="0">
                <a:solidFill>
                  <a:srgbClr val="6B5B95"/>
                </a:solidFill>
                <a:latin typeface="Inter"/>
              </a:rPr>
              <a:t>•  </a:t>
            </a:r>
            <a:r>
              <a:rPr sz="1200" b="0" i="0">
                <a:solidFill>
                  <a:srgbClr val="14213D"/>
                </a:solidFill>
                <a:latin typeface="Inter"/>
              </a:rPr>
              <a:t>Phenotype B can lack ultrasound findings — screening tier catches it without follicle counts.</a:t>
            </a:r>
          </a:p>
          <a:p>
            <a:pPr algn="l">
              <a:spcAft>
                <a:spcPts val="800"/>
              </a:spcAft>
            </a:pPr>
            <a:r>
              <a:rPr sz="1200" b="1" i="0">
                <a:solidFill>
                  <a:srgbClr val="6B5B95"/>
                </a:solidFill>
                <a:latin typeface="Inter"/>
              </a:rPr>
              <a:t>•  </a:t>
            </a:r>
            <a:r>
              <a:rPr sz="1200" b="0" i="0">
                <a:solidFill>
                  <a:srgbClr val="14213D"/>
                </a:solidFill>
                <a:latin typeface="Inter"/>
              </a:rPr>
              <a:t>Lean PCOS overlaps multiple phenotypes; the app's lean-PCOS warning addresses the screening recall gap we measured.</a:t>
            </a:r>
          </a:p>
        </p:txBody>
      </p:sp>
      <p:sp>
        <p:nvSpPr>
          <p:cNvPr id="13" name="TextBox 12"/>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6B5B95"/>
                </a:solidFill>
                <a:latin typeface="Inter"/>
              </a:rPr>
              <a:t>MOLECULAR RATIONALE  ·  SINGLE-CELL OVERLAP</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600" b="1" i="0">
                <a:solidFill>
                  <a:srgbClr val="1F3A5F"/>
                </a:solidFill>
                <a:latin typeface="Inter"/>
              </a:rPr>
              <a:t>Single-cell gene programs ground the diagnostic feature set in biology.</a:t>
            </a:r>
          </a:p>
        </p:txBody>
      </p:sp>
      <p:pic>
        <p:nvPicPr>
          <p:cNvPr id="9" name="Picture 8" descr="single_cell_genes.png"/>
          <p:cNvPicPr>
            <a:picLocks noChangeAspect="1"/>
          </p:cNvPicPr>
          <p:nvPr/>
        </p:nvPicPr>
        <p:blipFill>
          <a:blip r:embed="rId2"/>
          <a:stretch>
            <a:fillRect/>
          </a:stretch>
        </p:blipFill>
        <p:spPr>
          <a:xfrm>
            <a:off x="601584" y="1920240"/>
            <a:ext cx="7300750" cy="4434840"/>
          </a:xfrm>
          <a:prstGeom prst="rect">
            <a:avLst/>
          </a:prstGeom>
        </p:spPr>
      </p:pic>
      <p:sp>
        <p:nvSpPr>
          <p:cNvPr id="10" name="Rounded Rectangle 9"/>
          <p:cNvSpPr/>
          <p:nvPr/>
        </p:nvSpPr>
        <p:spPr>
          <a:xfrm>
            <a:off x="8229600" y="1920240"/>
            <a:ext cx="3520440" cy="44348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920240"/>
            <a:ext cx="91440" cy="44348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103120"/>
            <a:ext cx="3246120" cy="4160520"/>
          </a:xfrm>
          <a:prstGeom prst="rect">
            <a:avLst/>
          </a:prstGeom>
          <a:noFill/>
        </p:spPr>
        <p:txBody>
          <a:bodyPr wrap="square" lIns="73152" rIns="73152" tIns="36576" bIns="36576" anchor="t">
            <a:spAutoFit/>
          </a:bodyPr>
          <a:lstStyle/>
          <a:p>
            <a:pPr algn="l">
              <a:spcAft>
                <a:spcPts val="800"/>
              </a:spcAft>
            </a:pPr>
            <a:r>
              <a:rPr sz="1400" b="1" i="0">
                <a:solidFill>
                  <a:srgbClr val="6B5B95"/>
                </a:solidFill>
                <a:latin typeface="Inter"/>
              </a:rPr>
              <a:t>Why this matters for the model</a:t>
            </a:r>
          </a:p>
          <a:p>
            <a:pPr algn="l">
              <a:spcAft>
                <a:spcPts val="800"/>
              </a:spcAft>
            </a:pPr>
            <a:r>
              <a:rPr sz="1200" b="1" i="0">
                <a:solidFill>
                  <a:srgbClr val="6B5B95"/>
                </a:solidFill>
                <a:latin typeface="Inter"/>
              </a:rPr>
              <a:t>•  </a:t>
            </a:r>
            <a:r>
              <a:rPr sz="1200" b="0" i="0">
                <a:solidFill>
                  <a:srgbClr val="14213D"/>
                </a:solidFill>
                <a:latin typeface="Inter"/>
              </a:rPr>
              <a:t>Curated PCOS gene programs span steroidogenesis, androgen signalling, insulin axis, follicular development, and GWAS loci.</a:t>
            </a:r>
          </a:p>
          <a:p>
            <a:pPr algn="l">
              <a:spcAft>
                <a:spcPts val="800"/>
              </a:spcAft>
            </a:pPr>
            <a:r>
              <a:rPr sz="1200" b="1" i="0">
                <a:solidFill>
                  <a:srgbClr val="6B5B95"/>
                </a:solidFill>
                <a:latin typeface="Inter"/>
              </a:rPr>
              <a:t>•  </a:t>
            </a:r>
            <a:r>
              <a:rPr sz="1200" b="0" i="0">
                <a:solidFill>
                  <a:srgbClr val="14213D"/>
                </a:solidFill>
                <a:latin typeface="Inter"/>
              </a:rPr>
              <a:t>20 genes recovered from a sampled single-cell ovary feature list — biological rationale, not an expression analysis.</a:t>
            </a:r>
          </a:p>
          <a:p>
            <a:pPr algn="l">
              <a:spcAft>
                <a:spcPts val="800"/>
              </a:spcAft>
            </a:pPr>
            <a:r>
              <a:rPr sz="1200" b="1" i="0">
                <a:solidFill>
                  <a:srgbClr val="6B5B95"/>
                </a:solidFill>
                <a:latin typeface="Inter"/>
              </a:rPr>
              <a:t>•  </a:t>
            </a:r>
            <a:r>
              <a:rPr sz="1200" b="0" i="0">
                <a:solidFill>
                  <a:srgbClr val="14213D"/>
                </a:solidFill>
                <a:latin typeface="Inter"/>
              </a:rPr>
              <a:t>Same axes (androgens, insulin, follicular development) that the tabular features capture downstream.</a:t>
            </a:r>
          </a:p>
          <a:p>
            <a:pPr algn="l">
              <a:spcAft>
                <a:spcPts val="800"/>
              </a:spcAft>
            </a:pPr>
            <a:r>
              <a:rPr sz="1200" b="1" i="0">
                <a:solidFill>
                  <a:srgbClr val="6B5B95"/>
                </a:solidFill>
                <a:latin typeface="Inter"/>
              </a:rPr>
              <a:t>•  </a:t>
            </a:r>
            <a:r>
              <a:rPr sz="1200" b="0" i="0">
                <a:solidFill>
                  <a:srgbClr val="14213D"/>
                </a:solidFill>
                <a:latin typeface="Inter"/>
              </a:rPr>
              <a:t>Limitation: the diagnostic model uses tabular clinical features only — this slide grounds those features in the underlying biology.</a:t>
            </a:r>
          </a:p>
        </p:txBody>
      </p:sp>
      <p:sp>
        <p:nvSpPr>
          <p:cNvPr id="13" name="TextBox 12"/>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TIERED WORKFLOW</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A tiered pathway that matches real clinical escalation.</a:t>
            </a:r>
          </a:p>
        </p:txBody>
      </p:sp>
      <p:sp>
        <p:nvSpPr>
          <p:cNvPr id="9" name="Rounded Rectangle 8"/>
          <p:cNvSpPr/>
          <p:nvPr/>
        </p:nvSpPr>
        <p:spPr>
          <a:xfrm>
            <a:off x="502920" y="2194560"/>
            <a:ext cx="2697480" cy="2834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94560"/>
            <a:ext cx="2697480" cy="64008"/>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2423160"/>
            <a:ext cx="685800" cy="685800"/>
          </a:xfrm>
          <a:prstGeom prst="ellipse">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23160"/>
            <a:ext cx="685800" cy="685800"/>
          </a:xfrm>
          <a:prstGeom prst="rect">
            <a:avLst/>
          </a:prstGeom>
          <a:noFill/>
        </p:spPr>
        <p:txBody>
          <a:bodyPr wrap="square" lIns="0" rIns="0" tIns="36576" bIns="36576" anchor="ctr">
            <a:spAutoFit/>
          </a:bodyPr>
          <a:lstStyle/>
          <a:p>
            <a:pPr algn="ctr">
              <a:spcAft>
                <a:spcPts val="400"/>
              </a:spcAft>
            </a:pPr>
            <a:r>
              <a:rPr sz="2200" b="1" i="0">
                <a:solidFill>
                  <a:srgbClr val="FFFFFF"/>
                </a:solidFill>
                <a:latin typeface="Inter"/>
              </a:rPr>
              <a:t>1</a:t>
            </a:r>
          </a:p>
        </p:txBody>
      </p:sp>
      <p:sp>
        <p:nvSpPr>
          <p:cNvPr id="13" name="TextBox 12"/>
          <p:cNvSpPr txBox="1"/>
          <p:nvPr/>
        </p:nvSpPr>
        <p:spPr>
          <a:xfrm>
            <a:off x="731520" y="3246120"/>
            <a:ext cx="2240280" cy="1645920"/>
          </a:xfrm>
          <a:prstGeom prst="rect">
            <a:avLst/>
          </a:prstGeom>
          <a:noFill/>
        </p:spPr>
        <p:txBody>
          <a:bodyPr wrap="square" lIns="73152" rIns="73152" tIns="36576" bIns="36576" anchor="t">
            <a:spAutoFit/>
          </a:bodyPr>
          <a:lstStyle/>
          <a:p>
            <a:pPr algn="l">
              <a:spcAft>
                <a:spcPts val="800"/>
              </a:spcAft>
            </a:pPr>
            <a:r>
              <a:rPr sz="1700" b="1" i="0">
                <a:solidFill>
                  <a:srgbClr val="1F3A5F"/>
                </a:solidFill>
                <a:latin typeface="Inter"/>
              </a:rPr>
              <a:t>Frontline screening</a:t>
            </a:r>
          </a:p>
          <a:p>
            <a:pPr algn="l">
              <a:spcAft>
                <a:spcPts val="400"/>
              </a:spcAft>
            </a:pPr>
            <a:r>
              <a:rPr sz="1250" b="0" i="0">
                <a:solidFill>
                  <a:srgbClr val="5F6C7B"/>
                </a:solidFill>
                <a:latin typeface="Inter"/>
              </a:rPr>
              <a:t>Symptoms and basic vitals for primary care, telehealth, or outreach.</a:t>
            </a:r>
          </a:p>
        </p:txBody>
      </p:sp>
      <p:sp>
        <p:nvSpPr>
          <p:cNvPr id="14" name="Rounded Rectangle 13"/>
          <p:cNvSpPr/>
          <p:nvPr/>
        </p:nvSpPr>
        <p:spPr>
          <a:xfrm>
            <a:off x="3337560" y="2194560"/>
            <a:ext cx="2697480" cy="2834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2194560"/>
            <a:ext cx="2697480" cy="6400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66160" y="2423160"/>
            <a:ext cx="685800" cy="685800"/>
          </a:xfrm>
          <a:prstGeom prst="ellipse">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2423160"/>
            <a:ext cx="685800" cy="685800"/>
          </a:xfrm>
          <a:prstGeom prst="rect">
            <a:avLst/>
          </a:prstGeom>
          <a:noFill/>
        </p:spPr>
        <p:txBody>
          <a:bodyPr wrap="square" lIns="0" rIns="0" tIns="36576" bIns="36576" anchor="ctr">
            <a:spAutoFit/>
          </a:bodyPr>
          <a:lstStyle/>
          <a:p>
            <a:pPr algn="ctr">
              <a:spcAft>
                <a:spcPts val="400"/>
              </a:spcAft>
            </a:pPr>
            <a:r>
              <a:rPr sz="2200" b="1" i="0">
                <a:solidFill>
                  <a:srgbClr val="FFFFFF"/>
                </a:solidFill>
                <a:latin typeface="Inter"/>
              </a:rPr>
              <a:t>2</a:t>
            </a:r>
          </a:p>
        </p:txBody>
      </p:sp>
      <p:sp>
        <p:nvSpPr>
          <p:cNvPr id="18" name="TextBox 17"/>
          <p:cNvSpPr txBox="1"/>
          <p:nvPr/>
        </p:nvSpPr>
        <p:spPr>
          <a:xfrm>
            <a:off x="3566160" y="3246120"/>
            <a:ext cx="2240280" cy="1645920"/>
          </a:xfrm>
          <a:prstGeom prst="rect">
            <a:avLst/>
          </a:prstGeom>
          <a:noFill/>
        </p:spPr>
        <p:txBody>
          <a:bodyPr wrap="square" lIns="73152" rIns="73152" tIns="36576" bIns="36576" anchor="t">
            <a:spAutoFit/>
          </a:bodyPr>
          <a:lstStyle/>
          <a:p>
            <a:pPr algn="l">
              <a:spcAft>
                <a:spcPts val="800"/>
              </a:spcAft>
            </a:pPr>
            <a:r>
              <a:rPr sz="1700" b="1" i="0">
                <a:solidFill>
                  <a:srgbClr val="1F3A5F"/>
                </a:solidFill>
                <a:latin typeface="Inter"/>
              </a:rPr>
              <a:t>Enhanced support</a:t>
            </a:r>
          </a:p>
          <a:p>
            <a:pPr algn="l">
              <a:spcAft>
                <a:spcPts val="400"/>
              </a:spcAft>
            </a:pPr>
            <a:r>
              <a:rPr sz="1250" b="0" i="0">
                <a:solidFill>
                  <a:srgbClr val="5F6C7B"/>
                </a:solidFill>
                <a:latin typeface="Inter"/>
              </a:rPr>
              <a:t>Add labs and ultrasound when the clinician has more evidence.</a:t>
            </a:r>
          </a:p>
        </p:txBody>
      </p:sp>
      <p:sp>
        <p:nvSpPr>
          <p:cNvPr id="19" name="Rounded Rectangle 18"/>
          <p:cNvSpPr/>
          <p:nvPr/>
        </p:nvSpPr>
        <p:spPr>
          <a:xfrm>
            <a:off x="6172200" y="2194560"/>
            <a:ext cx="2697480" cy="2834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2194560"/>
            <a:ext cx="2697480" cy="64008"/>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2423160"/>
            <a:ext cx="685800" cy="685800"/>
          </a:xfrm>
          <a:prstGeom prst="ellipse">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423160"/>
            <a:ext cx="685800" cy="685800"/>
          </a:xfrm>
          <a:prstGeom prst="rect">
            <a:avLst/>
          </a:prstGeom>
          <a:noFill/>
        </p:spPr>
        <p:txBody>
          <a:bodyPr wrap="square" lIns="0" rIns="0" tIns="36576" bIns="36576" anchor="ctr">
            <a:spAutoFit/>
          </a:bodyPr>
          <a:lstStyle/>
          <a:p>
            <a:pPr algn="ctr">
              <a:spcAft>
                <a:spcPts val="400"/>
              </a:spcAft>
            </a:pPr>
            <a:r>
              <a:rPr sz="2200" b="1" i="0">
                <a:solidFill>
                  <a:srgbClr val="FFFFFF"/>
                </a:solidFill>
                <a:latin typeface="Inter"/>
              </a:rPr>
              <a:t>3</a:t>
            </a:r>
          </a:p>
        </p:txBody>
      </p:sp>
      <p:sp>
        <p:nvSpPr>
          <p:cNvPr id="23" name="TextBox 22"/>
          <p:cNvSpPr txBox="1"/>
          <p:nvPr/>
        </p:nvSpPr>
        <p:spPr>
          <a:xfrm>
            <a:off x="6400800" y="3246120"/>
            <a:ext cx="2240280" cy="1645920"/>
          </a:xfrm>
          <a:prstGeom prst="rect">
            <a:avLst/>
          </a:prstGeom>
          <a:noFill/>
        </p:spPr>
        <p:txBody>
          <a:bodyPr wrap="square" lIns="73152" rIns="73152" tIns="36576" bIns="36576" anchor="t">
            <a:spAutoFit/>
          </a:bodyPr>
          <a:lstStyle/>
          <a:p>
            <a:pPr algn="l">
              <a:spcAft>
                <a:spcPts val="800"/>
              </a:spcAft>
            </a:pPr>
            <a:r>
              <a:rPr sz="1700" b="1" i="0">
                <a:solidFill>
                  <a:srgbClr val="1F3A5F"/>
                </a:solidFill>
                <a:latin typeface="Inter"/>
              </a:rPr>
              <a:t>Checklist</a:t>
            </a:r>
          </a:p>
          <a:p>
            <a:pPr algn="l">
              <a:spcAft>
                <a:spcPts val="400"/>
              </a:spcAft>
            </a:pPr>
            <a:r>
              <a:rPr sz="1250" b="0" i="0">
                <a:solidFill>
                  <a:srgbClr val="5F6C7B"/>
                </a:solidFill>
                <a:latin typeface="Inter"/>
              </a:rPr>
              <a:t>Rotterdam-style completeness, missing-testosterone caveat, metabolic prompt, lean-PCOS warning.</a:t>
            </a:r>
          </a:p>
        </p:txBody>
      </p:sp>
      <p:sp>
        <p:nvSpPr>
          <p:cNvPr id="24" name="Rounded Rectangle 23"/>
          <p:cNvSpPr/>
          <p:nvPr/>
        </p:nvSpPr>
        <p:spPr>
          <a:xfrm>
            <a:off x="9006840" y="2194560"/>
            <a:ext cx="2697480" cy="2834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840" y="2194560"/>
            <a:ext cx="2697480" cy="64008"/>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35440" y="2423160"/>
            <a:ext cx="685800" cy="685800"/>
          </a:xfrm>
          <a:prstGeom prst="ellipse">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2423160"/>
            <a:ext cx="685800" cy="685800"/>
          </a:xfrm>
          <a:prstGeom prst="rect">
            <a:avLst/>
          </a:prstGeom>
          <a:noFill/>
        </p:spPr>
        <p:txBody>
          <a:bodyPr wrap="square" lIns="0" rIns="0" tIns="36576" bIns="36576" anchor="ctr">
            <a:spAutoFit/>
          </a:bodyPr>
          <a:lstStyle/>
          <a:p>
            <a:pPr algn="ctr">
              <a:spcAft>
                <a:spcPts val="400"/>
              </a:spcAft>
            </a:pPr>
            <a:r>
              <a:rPr sz="2200" b="1" i="0">
                <a:solidFill>
                  <a:srgbClr val="FFFFFF"/>
                </a:solidFill>
                <a:latin typeface="Inter"/>
              </a:rPr>
              <a:t>4</a:t>
            </a:r>
          </a:p>
        </p:txBody>
      </p:sp>
      <p:sp>
        <p:nvSpPr>
          <p:cNvPr id="28" name="TextBox 27"/>
          <p:cNvSpPr txBox="1"/>
          <p:nvPr/>
        </p:nvSpPr>
        <p:spPr>
          <a:xfrm>
            <a:off x="9235440" y="3246120"/>
            <a:ext cx="2240280" cy="1645920"/>
          </a:xfrm>
          <a:prstGeom prst="rect">
            <a:avLst/>
          </a:prstGeom>
          <a:noFill/>
        </p:spPr>
        <p:txBody>
          <a:bodyPr wrap="square" lIns="73152" rIns="73152" tIns="36576" bIns="36576" anchor="t">
            <a:spAutoFit/>
          </a:bodyPr>
          <a:lstStyle/>
          <a:p>
            <a:pPr algn="l">
              <a:spcAft>
                <a:spcPts val="800"/>
              </a:spcAft>
            </a:pPr>
            <a:r>
              <a:rPr sz="1700" b="1" i="0">
                <a:solidFill>
                  <a:srgbClr val="1F3A5F"/>
                </a:solidFill>
                <a:latin typeface="Inter"/>
              </a:rPr>
              <a:t>Differential prompt</a:t>
            </a:r>
          </a:p>
          <a:p>
            <a:pPr algn="l">
              <a:spcAft>
                <a:spcPts val="400"/>
              </a:spcAft>
            </a:pPr>
            <a:r>
              <a:rPr sz="1250" b="0" i="0">
                <a:solidFill>
                  <a:srgbClr val="5F6C7B"/>
                </a:solidFill>
                <a:latin typeface="Inter"/>
              </a:rPr>
              <a:t>Endometriosis-overlap nudge using synthetic data, framed only as workflow support.</a:t>
            </a:r>
          </a:p>
        </p:txBody>
      </p:sp>
      <p:sp>
        <p:nvSpPr>
          <p:cNvPr id="29" name="Rounded Rectangle 28"/>
          <p:cNvSpPr/>
          <p:nvPr/>
        </p:nvSpPr>
        <p:spPr>
          <a:xfrm>
            <a:off x="502920" y="5349240"/>
            <a:ext cx="11185855" cy="777240"/>
          </a:xfrm>
          <a:prstGeom prst="roundRect">
            <a:avLst>
              <a:gd name="adj" fmla="val 5000"/>
            </a:avLst>
          </a:prstGeom>
          <a:solidFill>
            <a:srgbClr val="E7F4F5"/>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349240"/>
            <a:ext cx="91440" cy="7772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349240"/>
            <a:ext cx="10820095" cy="777240"/>
          </a:xfrm>
          <a:prstGeom prst="rect">
            <a:avLst/>
          </a:prstGeom>
          <a:noFill/>
        </p:spPr>
        <p:txBody>
          <a:bodyPr wrap="square" lIns="0" rIns="0" tIns="36576" bIns="36576" anchor="ctr">
            <a:spAutoFit/>
          </a:bodyPr>
          <a:lstStyle/>
          <a:p>
            <a:pPr algn="l">
              <a:spcAft>
                <a:spcPts val="400"/>
              </a:spcAft>
            </a:pPr>
            <a:r>
              <a:rPr sz="1300" b="1" i="0">
                <a:solidFill>
                  <a:srgbClr val="007C89"/>
                </a:solidFill>
                <a:latin typeface="Inter"/>
              </a:rPr>
              <a:t>Core idea  </a:t>
            </a:r>
            <a:r>
              <a:rPr sz="1400" b="0" i="0">
                <a:solidFill>
                  <a:srgbClr val="14213D"/>
                </a:solidFill>
                <a:latin typeface="Inter"/>
              </a:rPr>
              <a:t>Give clinicians a sequence of next-best actions, not an opaque yes/no diagnosis.</a:t>
            </a:r>
          </a:p>
        </p:txBody>
      </p:sp>
      <p:sp>
        <p:nvSpPr>
          <p:cNvPr id="32" name="TextBox 31"/>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DATA FOUNDATION</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Data choices were conservative by design.</a:t>
            </a:r>
          </a:p>
        </p:txBody>
      </p:sp>
      <p:graphicFrame>
        <p:nvGraphicFramePr>
          <p:cNvPr id="9" name="Table 8"/>
          <p:cNvGraphicFramePr>
            <a:graphicFrameLocks noGrp="1"/>
          </p:cNvGraphicFramePr>
          <p:nvPr/>
        </p:nvGraphicFramePr>
        <p:xfrm>
          <a:off x="502920" y="2011680"/>
          <a:ext cx="6583680" cy="1618488"/>
        </p:xfrm>
        <a:graphic>
          <a:graphicData uri="http://schemas.openxmlformats.org/drawingml/2006/table">
            <a:tbl>
              <a:tblPr firstRow="1" bandRow="1">
                <a:tableStyleId>{5C22544A-7EE6-4342-B048-85BDC9FD1C3A}</a:tableStyleId>
              </a:tblPr>
              <a:tblGrid>
                <a:gridCol w="2103120"/>
                <a:gridCol w="2103120"/>
                <a:gridCol w="2377440"/>
              </a:tblGrid>
              <a:tr h="384048">
                <a:tc>
                  <a:txBody>
                    <a:bodyPr tIns="36576" bIns="36576" anchor="ctr"/>
                    <a:lstStyle/>
                    <a:p>
                      <a:r>
                        <a:rPr sz="1200" b="1">
                          <a:solidFill>
                            <a:srgbClr val="FFFFFF"/>
                          </a:solidFill>
                          <a:latin typeface="Inter"/>
                        </a:rPr>
                        <a:t>Dataset</a:t>
                      </a:r>
                    </a:p>
                  </a:txBody>
                  <a:tcPr>
                    <a:solidFill>
                      <a:srgbClr val="1F3A5F"/>
                    </a:solidFill>
                  </a:tcPr>
                </a:tc>
                <a:tc>
                  <a:txBody>
                    <a:bodyPr tIns="36576" bIns="36576" anchor="ctr"/>
                    <a:lstStyle/>
                    <a:p>
                      <a:r>
                        <a:rPr sz="1200" b="1">
                          <a:solidFill>
                            <a:srgbClr val="FFFFFF"/>
                          </a:solidFill>
                          <a:latin typeface="Inter"/>
                        </a:rPr>
                        <a:t>Use</a:t>
                      </a:r>
                    </a:p>
                  </a:txBody>
                  <a:tcPr>
                    <a:solidFill>
                      <a:srgbClr val="1F3A5F"/>
                    </a:solidFill>
                  </a:tcPr>
                </a:tc>
                <a:tc>
                  <a:txBody>
                    <a:bodyPr tIns="36576" bIns="36576" anchor="ctr"/>
                    <a:lstStyle/>
                    <a:p>
                      <a:r>
                        <a:rPr sz="1200" b="1">
                          <a:solidFill>
                            <a:srgbClr val="FFFFFF"/>
                          </a:solidFill>
                          <a:latin typeface="Inter"/>
                        </a:rPr>
                        <a:t>Claim boundary</a:t>
                      </a:r>
                    </a:p>
                  </a:txBody>
                  <a:tcPr>
                    <a:solidFill>
                      <a:srgbClr val="1F3A5F"/>
                    </a:solidFill>
                  </a:tcPr>
                </a:tc>
              </a:tr>
              <a:tr h="411480">
                <a:tc>
                  <a:txBody>
                    <a:bodyPr tIns="36576" bIns="36576" anchor="ctr"/>
                    <a:lstStyle/>
                    <a:p>
                      <a:r>
                        <a:rPr sz="1150">
                          <a:solidFill>
                            <a:srgbClr val="14213D"/>
                          </a:solidFill>
                          <a:latin typeface="Inter"/>
                        </a:rPr>
                        <a:t>PCOS clinical, n=541</a:t>
                      </a:r>
                    </a:p>
                  </a:txBody>
                  <a:tcPr>
                    <a:solidFill>
                      <a:srgbClr val="FFFFFF"/>
                    </a:solidFill>
                  </a:tcPr>
                </a:tc>
                <a:tc>
                  <a:txBody>
                    <a:bodyPr tIns="36576" bIns="36576" anchor="ctr"/>
                    <a:lstStyle/>
                    <a:p>
                      <a:r>
                        <a:rPr sz="1150">
                          <a:solidFill>
                            <a:srgbClr val="14213D"/>
                          </a:solidFill>
                          <a:latin typeface="Inter"/>
                        </a:rPr>
                        <a:t>Main modelling foundation</a:t>
                      </a:r>
                    </a:p>
                  </a:txBody>
                  <a:tcPr>
                    <a:solidFill>
                      <a:srgbClr val="FFFFFF"/>
                    </a:solidFill>
                  </a:tcPr>
                </a:tc>
                <a:tc>
                  <a:txBody>
                    <a:bodyPr tIns="36576" bIns="36576" anchor="ctr"/>
                    <a:lstStyle/>
                    <a:p>
                      <a:r>
                        <a:rPr sz="1150">
                          <a:solidFill>
                            <a:srgbClr val="14213D"/>
                          </a:solidFill>
                          <a:latin typeface="Inter"/>
                        </a:rPr>
                        <a:t>10 hospitals, Kerala, India · external validation required</a:t>
                      </a:r>
                    </a:p>
                  </a:txBody>
                  <a:tcPr>
                    <a:solidFill>
                      <a:srgbClr val="FFFFFF"/>
                    </a:solidFill>
                  </a:tcPr>
                </a:tc>
              </a:tr>
              <a:tr h="411480">
                <a:tc>
                  <a:txBody>
                    <a:bodyPr tIns="36576" bIns="36576" anchor="ctr"/>
                    <a:lstStyle/>
                    <a:p>
                      <a:r>
                        <a:rPr sz="1150">
                          <a:solidFill>
                            <a:srgbClr val="14213D"/>
                          </a:solidFill>
                          <a:latin typeface="Inter"/>
                        </a:rPr>
                        <a:t>Endometriosis, n=10,000</a:t>
                      </a:r>
                    </a:p>
                  </a:txBody>
                  <a:tcPr>
                    <a:solidFill>
                      <a:srgbClr val="F8FAFC"/>
                    </a:solidFill>
                  </a:tcPr>
                </a:tc>
                <a:tc>
                  <a:txBody>
                    <a:bodyPr tIns="36576" bIns="36576" anchor="ctr"/>
                    <a:lstStyle/>
                    <a:p>
                      <a:r>
                        <a:rPr sz="1150">
                          <a:solidFill>
                            <a:srgbClr val="14213D"/>
                          </a:solidFill>
                          <a:latin typeface="Inter"/>
                        </a:rPr>
                        <a:t>Symptom-overlap prompt</a:t>
                      </a:r>
                    </a:p>
                  </a:txBody>
                  <a:tcPr>
                    <a:solidFill>
                      <a:srgbClr val="F8FAFC"/>
                    </a:solidFill>
                  </a:tcPr>
                </a:tc>
                <a:tc>
                  <a:txBody>
                    <a:bodyPr tIns="36576" bIns="36576" anchor="ctr"/>
                    <a:lstStyle/>
                    <a:p>
                      <a:r>
                        <a:rPr sz="1150">
                          <a:solidFill>
                            <a:srgbClr val="14213D"/>
                          </a:solidFill>
                          <a:latin typeface="Inter"/>
                        </a:rPr>
                        <a:t>Synthetic; not diagnostic validation</a:t>
                      </a:r>
                    </a:p>
                  </a:txBody>
                  <a:tcPr>
                    <a:solidFill>
                      <a:srgbClr val="F8FAFC"/>
                    </a:solidFill>
                  </a:tcPr>
                </a:tc>
              </a:tr>
              <a:tr h="411480">
                <a:tc>
                  <a:txBody>
                    <a:bodyPr tIns="36576" bIns="36576" anchor="ctr"/>
                    <a:lstStyle/>
                    <a:p>
                      <a:r>
                        <a:rPr sz="1150">
                          <a:solidFill>
                            <a:srgbClr val="14213D"/>
                          </a:solidFill>
                          <a:latin typeface="Inter"/>
                        </a:rPr>
                        <a:t>Single-cell archives</a:t>
                      </a:r>
                    </a:p>
                  </a:txBody>
                  <a:tcPr>
                    <a:solidFill>
                      <a:srgbClr val="FFFFFF"/>
                    </a:solidFill>
                  </a:tcPr>
                </a:tc>
                <a:tc>
                  <a:txBody>
                    <a:bodyPr tIns="36576" bIns="36576" anchor="ctr"/>
                    <a:lstStyle/>
                    <a:p>
                      <a:r>
                        <a:rPr sz="1150">
                          <a:solidFill>
                            <a:srgbClr val="14213D"/>
                          </a:solidFill>
                          <a:latin typeface="Inter"/>
                        </a:rPr>
                        <a:t>Gene-list rationale</a:t>
                      </a:r>
                    </a:p>
                  </a:txBody>
                  <a:tcPr>
                    <a:solidFill>
                      <a:srgbClr val="FFFFFF"/>
                    </a:solidFill>
                  </a:tcPr>
                </a:tc>
                <a:tc>
                  <a:txBody>
                    <a:bodyPr tIns="36576" bIns="36576" anchor="ctr"/>
                    <a:lstStyle/>
                    <a:p>
                      <a:r>
                        <a:rPr sz="1150">
                          <a:solidFill>
                            <a:srgbClr val="14213D"/>
                          </a:solidFill>
                          <a:latin typeface="Inter"/>
                        </a:rPr>
                        <a:t>Feature-list peek only; no expression analysis</a:t>
                      </a:r>
                    </a:p>
                  </a:txBody>
                  <a:tcPr>
                    <a:solidFill>
                      <a:srgbClr val="FFFFFF"/>
                    </a:solidFill>
                  </a:tcPr>
                </a:tc>
              </a:tr>
            </a:tbl>
          </a:graphicData>
        </a:graphic>
      </p:graphicFrame>
      <p:sp>
        <p:nvSpPr>
          <p:cNvPr id="10" name="Rounded Rectangle 9"/>
          <p:cNvSpPr/>
          <p:nvPr/>
        </p:nvSpPr>
        <p:spPr>
          <a:xfrm>
            <a:off x="7269480" y="2011680"/>
            <a:ext cx="4434840" cy="1042415"/>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69480" y="2011680"/>
            <a:ext cx="91440" cy="1042415"/>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2" y="2194560"/>
            <a:ext cx="4105656" cy="768095"/>
          </a:xfrm>
          <a:prstGeom prst="rect">
            <a:avLst/>
          </a:prstGeom>
          <a:noFill/>
        </p:spPr>
        <p:txBody>
          <a:bodyPr wrap="square" lIns="73152" rIns="73152" tIns="36576" bIns="36576" anchor="t">
            <a:spAutoFit/>
          </a:bodyPr>
          <a:lstStyle/>
          <a:p>
            <a:pPr algn="l">
              <a:spcAft>
                <a:spcPts val="400"/>
              </a:spcAft>
            </a:pPr>
            <a:r>
              <a:rPr sz="1350" b="1" i="0">
                <a:solidFill>
                  <a:srgbClr val="1F3A5F"/>
                </a:solidFill>
                <a:latin typeface="Inter"/>
              </a:rPr>
              <a:t>Cycle-length data-quality fix</a:t>
            </a:r>
          </a:p>
          <a:p>
            <a:pPr algn="l"/>
            <a:r>
              <a:rPr sz="1150" b="0" i="0">
                <a:solidFill>
                  <a:srgbClr val="5F6C7B"/>
                </a:solidFill>
                <a:latin typeface="Inter"/>
              </a:rPr>
              <a:t>Source column labelled "cycle length" actually ranges 0–12 days — this is bleeding duration, not cycle interval. App relabels it to avoid out-of-distribution inputs.</a:t>
            </a:r>
          </a:p>
        </p:txBody>
      </p:sp>
      <p:sp>
        <p:nvSpPr>
          <p:cNvPr id="13" name="Rounded Rectangle 12"/>
          <p:cNvSpPr/>
          <p:nvPr/>
        </p:nvSpPr>
        <p:spPr>
          <a:xfrm>
            <a:off x="7269480" y="3163823"/>
            <a:ext cx="4434840" cy="1042415"/>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69480" y="3163823"/>
            <a:ext cx="91440" cy="1042415"/>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72" y="3346703"/>
            <a:ext cx="4105656" cy="768095"/>
          </a:xfrm>
          <a:prstGeom prst="rect">
            <a:avLst/>
          </a:prstGeom>
          <a:noFill/>
        </p:spPr>
        <p:txBody>
          <a:bodyPr wrap="square" lIns="73152" rIns="73152" tIns="36576" bIns="36576" anchor="t">
            <a:spAutoFit/>
          </a:bodyPr>
          <a:lstStyle/>
          <a:p>
            <a:pPr algn="l">
              <a:spcAft>
                <a:spcPts val="400"/>
              </a:spcAft>
            </a:pPr>
            <a:r>
              <a:rPr sz="1350" b="1" i="0">
                <a:solidFill>
                  <a:srgbClr val="1F3A5F"/>
                </a:solidFill>
                <a:latin typeface="Inter"/>
              </a:rPr>
              <a:t>Blood-group caveat</a:t>
            </a:r>
          </a:p>
          <a:p>
            <a:pPr algn="l"/>
            <a:r>
              <a:rPr sz="1150" b="0" i="0">
                <a:solidFill>
                  <a:srgbClr val="5F6C7B"/>
                </a:solidFill>
                <a:latin typeface="Inter"/>
              </a:rPr>
              <a:t>Yang et al. 2025 supports phenotype/severity context, not ordinal model input or standalone diagnosis.</a:t>
            </a:r>
          </a:p>
        </p:txBody>
      </p:sp>
      <p:sp>
        <p:nvSpPr>
          <p:cNvPr id="16" name="Rounded Rectangle 15"/>
          <p:cNvSpPr/>
          <p:nvPr/>
        </p:nvSpPr>
        <p:spPr>
          <a:xfrm>
            <a:off x="7269480" y="4315966"/>
            <a:ext cx="4434840" cy="1042415"/>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69480" y="4315966"/>
            <a:ext cx="91440" cy="1042415"/>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34072" y="4498846"/>
            <a:ext cx="4105656" cy="768095"/>
          </a:xfrm>
          <a:prstGeom prst="rect">
            <a:avLst/>
          </a:prstGeom>
          <a:noFill/>
        </p:spPr>
        <p:txBody>
          <a:bodyPr wrap="square" lIns="73152" rIns="73152" tIns="36576" bIns="36576" anchor="t">
            <a:spAutoFit/>
          </a:bodyPr>
          <a:lstStyle/>
          <a:p>
            <a:pPr algn="l">
              <a:spcAft>
                <a:spcPts val="400"/>
              </a:spcAft>
            </a:pPr>
            <a:r>
              <a:rPr sz="1350" b="1" i="0">
                <a:solidFill>
                  <a:srgbClr val="1F3A5F"/>
                </a:solidFill>
                <a:latin typeface="Inter"/>
              </a:rPr>
              <a:t>Excluded from screening</a:t>
            </a:r>
          </a:p>
          <a:p>
            <a:pPr algn="l"/>
            <a:r>
              <a:rPr sz="1150" b="0" i="0">
                <a:solidFill>
                  <a:srgbClr val="5F6C7B"/>
                </a:solidFill>
                <a:latin typeface="Inter"/>
              </a:rPr>
              <a:t>Fast food and exercise proxies, to avoid stigma and weak generalization.</a:t>
            </a:r>
          </a:p>
        </p:txBody>
      </p:sp>
      <p:sp>
        <p:nvSpPr>
          <p:cNvPr id="19" name="Rounded Rectangle 18"/>
          <p:cNvSpPr/>
          <p:nvPr/>
        </p:nvSpPr>
        <p:spPr>
          <a:xfrm>
            <a:off x="7269480" y="5468109"/>
            <a:ext cx="4434840" cy="1042415"/>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9480" y="5468109"/>
            <a:ext cx="91440" cy="1042415"/>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34072" y="5650989"/>
            <a:ext cx="4105656" cy="768095"/>
          </a:xfrm>
          <a:prstGeom prst="rect">
            <a:avLst/>
          </a:prstGeom>
          <a:noFill/>
        </p:spPr>
        <p:txBody>
          <a:bodyPr wrap="square" lIns="73152" rIns="73152" tIns="36576" bIns="36576" anchor="t">
            <a:spAutoFit/>
          </a:bodyPr>
          <a:lstStyle/>
          <a:p>
            <a:pPr algn="l">
              <a:spcAft>
                <a:spcPts val="400"/>
              </a:spcAft>
            </a:pPr>
            <a:r>
              <a:rPr sz="1350" b="1" i="0">
                <a:solidFill>
                  <a:srgbClr val="1F3A5F"/>
                </a:solidFill>
                <a:latin typeface="Inter"/>
              </a:rPr>
              <a:t>Coercions logged</a:t>
            </a:r>
          </a:p>
          <a:p>
            <a:pPr algn="l"/>
            <a:r>
              <a:rPr sz="1150" b="0" i="0">
                <a:solidFill>
                  <a:srgbClr val="5F6C7B"/>
                </a:solidFill>
                <a:latin typeface="Inter"/>
              </a:rPr>
              <a:t>Every non-numeric conversion is exported to the audit files.</a:t>
            </a:r>
          </a:p>
        </p:txBody>
      </p:sp>
      <p:sp>
        <p:nvSpPr>
          <p:cNvPr id="22" name="TextBox 21"/>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MODEL DESIGN</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Validation avoids the common traps.</a:t>
            </a:r>
          </a:p>
        </p:txBody>
      </p:sp>
      <p:sp>
        <p:nvSpPr>
          <p:cNvPr id="9" name="Rounded Rectangle 8"/>
          <p:cNvSpPr/>
          <p:nvPr/>
        </p:nvSpPr>
        <p:spPr>
          <a:xfrm>
            <a:off x="502920" y="2057400"/>
            <a:ext cx="5120640" cy="114300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057400"/>
            <a:ext cx="91440" cy="114300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240280"/>
            <a:ext cx="4791456" cy="86868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No test leakage</a:t>
            </a:r>
          </a:p>
          <a:p>
            <a:pPr algn="l"/>
            <a:r>
              <a:rPr sz="1200" b="0" i="0">
                <a:solidFill>
                  <a:srgbClr val="5F6C7B"/>
                </a:solidFill>
                <a:latin typeface="Inter"/>
              </a:rPr>
              <a:t>Model selection uses 5-fold CV on training data. Action thresholds come from out-of-fold training probabilities.</a:t>
            </a:r>
          </a:p>
        </p:txBody>
      </p:sp>
      <p:sp>
        <p:nvSpPr>
          <p:cNvPr id="12" name="Rounded Rectangle 11"/>
          <p:cNvSpPr/>
          <p:nvPr/>
        </p:nvSpPr>
        <p:spPr>
          <a:xfrm>
            <a:off x="502920" y="3364992"/>
            <a:ext cx="5120640" cy="114300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364992"/>
            <a:ext cx="91440" cy="114300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547872"/>
            <a:ext cx="4791456" cy="86868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One final holdout</a:t>
            </a:r>
          </a:p>
          <a:p>
            <a:pPr algn="l"/>
            <a:r>
              <a:rPr sz="1200" b="0" i="0">
                <a:solidFill>
                  <a:srgbClr val="5F6C7B"/>
                </a:solidFill>
                <a:latin typeface="Inter"/>
              </a:rPr>
              <a:t>The held-out test split is touched once for final reporting.</a:t>
            </a:r>
          </a:p>
        </p:txBody>
      </p:sp>
      <p:sp>
        <p:nvSpPr>
          <p:cNvPr id="15" name="Rounded Rectangle 14"/>
          <p:cNvSpPr/>
          <p:nvPr/>
        </p:nvSpPr>
        <p:spPr>
          <a:xfrm>
            <a:off x="502920" y="4672584"/>
            <a:ext cx="5120640" cy="114300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672584"/>
            <a:ext cx="91440" cy="114300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4855464"/>
            <a:ext cx="4791456" cy="86868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Recall-first thresholding</a:t>
            </a:r>
          </a:p>
          <a:p>
            <a:pPr algn="l"/>
            <a:r>
              <a:rPr sz="1200" b="0" i="0">
                <a:solidFill>
                  <a:srgbClr val="5F6C7B"/>
                </a:solidFill>
                <a:latin typeface="Inter"/>
              </a:rPr>
              <a:t>Threshold sweep targets training-CV recall ≥ 0.90, then maximizes specificity, precision, and F1.</a:t>
            </a:r>
          </a:p>
        </p:txBody>
      </p:sp>
      <p:graphicFrame>
        <p:nvGraphicFramePr>
          <p:cNvPr id="18" name="Table 17"/>
          <p:cNvGraphicFramePr>
            <a:graphicFrameLocks noGrp="1"/>
          </p:cNvGraphicFramePr>
          <p:nvPr/>
        </p:nvGraphicFramePr>
        <p:xfrm>
          <a:off x="6446520" y="2057400"/>
          <a:ext cx="5303520" cy="1618488"/>
        </p:xfrm>
        <a:graphic>
          <a:graphicData uri="http://schemas.openxmlformats.org/drawingml/2006/table">
            <a:tbl>
              <a:tblPr firstRow="1" bandRow="1">
                <a:tableStyleId>{5C22544A-7EE6-4342-B048-85BDC9FD1C3A}</a:tableStyleId>
              </a:tblPr>
              <a:tblGrid>
                <a:gridCol w="1737360"/>
                <a:gridCol w="1828800"/>
                <a:gridCol w="1737360"/>
              </a:tblGrid>
              <a:tr h="384048">
                <a:tc>
                  <a:txBody>
                    <a:bodyPr tIns="36576" bIns="36576" anchor="ctr"/>
                    <a:lstStyle/>
                    <a:p>
                      <a:r>
                        <a:rPr sz="1200" b="1">
                          <a:solidFill>
                            <a:srgbClr val="FFFFFF"/>
                          </a:solidFill>
                          <a:latin typeface="Inter"/>
                        </a:rPr>
                        <a:t>Model</a:t>
                      </a:r>
                    </a:p>
                  </a:txBody>
                  <a:tcPr>
                    <a:solidFill>
                      <a:srgbClr val="1F3A5F"/>
                    </a:solidFill>
                  </a:tcPr>
                </a:tc>
                <a:tc>
                  <a:txBody>
                    <a:bodyPr tIns="36576" bIns="36576" anchor="ctr"/>
                    <a:lstStyle/>
                    <a:p>
                      <a:r>
                        <a:rPr sz="1200" b="1">
                          <a:solidFill>
                            <a:srgbClr val="FFFFFF"/>
                          </a:solidFill>
                          <a:latin typeface="Inter"/>
                        </a:rPr>
                        <a:t>Feature set</a:t>
                      </a:r>
                    </a:p>
                  </a:txBody>
                  <a:tcPr>
                    <a:solidFill>
                      <a:srgbClr val="1F3A5F"/>
                    </a:solidFill>
                  </a:tcPr>
                </a:tc>
                <a:tc>
                  <a:txBody>
                    <a:bodyPr tIns="36576" bIns="36576" anchor="ctr"/>
                    <a:lstStyle/>
                    <a:p>
                      <a:r>
                        <a:rPr sz="1200" b="1">
                          <a:solidFill>
                            <a:srgbClr val="FFFFFF"/>
                          </a:solidFill>
                          <a:latin typeface="Inter"/>
                        </a:rPr>
                        <a:t>Clinical role</a:t>
                      </a:r>
                    </a:p>
                  </a:txBody>
                  <a:tcPr>
                    <a:solidFill>
                      <a:srgbClr val="1F3A5F"/>
                    </a:solidFill>
                  </a:tcPr>
                </a:tc>
              </a:tr>
              <a:tr h="411480">
                <a:tc>
                  <a:txBody>
                    <a:bodyPr tIns="36576" bIns="36576" anchor="ctr"/>
                    <a:lstStyle/>
                    <a:p>
                      <a:r>
                        <a:rPr sz="1150">
                          <a:solidFill>
                            <a:srgbClr val="14213D"/>
                          </a:solidFill>
                          <a:latin typeface="Inter"/>
                        </a:rPr>
                        <a:t>Screening RF</a:t>
                      </a:r>
                    </a:p>
                  </a:txBody>
                  <a:tcPr>
                    <a:solidFill>
                      <a:srgbClr val="FFFFFF"/>
                    </a:solidFill>
                  </a:tcPr>
                </a:tc>
                <a:tc>
                  <a:txBody>
                    <a:bodyPr tIns="36576" bIns="36576" anchor="ctr"/>
                    <a:lstStyle/>
                    <a:p>
                      <a:r>
                        <a:rPr sz="1150">
                          <a:solidFill>
                            <a:srgbClr val="14213D"/>
                          </a:solidFill>
                          <a:latin typeface="Inter"/>
                        </a:rPr>
                        <a:t>13 basic features</a:t>
                      </a:r>
                    </a:p>
                  </a:txBody>
                  <a:tcPr>
                    <a:solidFill>
                      <a:srgbClr val="FFFFFF"/>
                    </a:solidFill>
                  </a:tcPr>
                </a:tc>
                <a:tc>
                  <a:txBody>
                    <a:bodyPr tIns="36576" bIns="36576" anchor="ctr"/>
                    <a:lstStyle/>
                    <a:p>
                      <a:r>
                        <a:rPr sz="1150">
                          <a:solidFill>
                            <a:srgbClr val="14213D"/>
                          </a:solidFill>
                          <a:latin typeface="Inter"/>
                        </a:rPr>
                        <a:t>Rule-out triage</a:t>
                      </a:r>
                    </a:p>
                  </a:txBody>
                  <a:tcPr>
                    <a:solidFill>
                      <a:srgbClr val="FFFFFF"/>
                    </a:solidFill>
                  </a:tcPr>
                </a:tc>
              </a:tr>
              <a:tr h="411480">
                <a:tc>
                  <a:txBody>
                    <a:bodyPr tIns="36576" bIns="36576" anchor="ctr"/>
                    <a:lstStyle/>
                    <a:p>
                      <a:r>
                        <a:rPr sz="1150">
                          <a:solidFill>
                            <a:srgbClr val="14213D"/>
                          </a:solidFill>
                          <a:latin typeface="Inter"/>
                        </a:rPr>
                        <a:t>Enhanced RF</a:t>
                      </a:r>
                    </a:p>
                  </a:txBody>
                  <a:tcPr>
                    <a:solidFill>
                      <a:srgbClr val="F8FAFC"/>
                    </a:solidFill>
                  </a:tcPr>
                </a:tc>
                <a:tc>
                  <a:txBody>
                    <a:bodyPr tIns="36576" bIns="36576" anchor="ctr"/>
                    <a:lstStyle/>
                    <a:p>
                      <a:r>
                        <a:rPr sz="1150">
                          <a:solidFill>
                            <a:srgbClr val="14213D"/>
                          </a:solidFill>
                          <a:latin typeface="Inter"/>
                        </a:rPr>
                        <a:t>27 clinical features</a:t>
                      </a:r>
                    </a:p>
                  </a:txBody>
                  <a:tcPr>
                    <a:solidFill>
                      <a:srgbClr val="F8FAFC"/>
                    </a:solidFill>
                  </a:tcPr>
                </a:tc>
                <a:tc>
                  <a:txBody>
                    <a:bodyPr tIns="36576" bIns="36576" anchor="ctr"/>
                    <a:lstStyle/>
                    <a:p>
                      <a:r>
                        <a:rPr sz="1150">
                          <a:solidFill>
                            <a:srgbClr val="14213D"/>
                          </a:solidFill>
                          <a:latin typeface="Inter"/>
                        </a:rPr>
                        <a:t>Diagnostic support</a:t>
                      </a:r>
                    </a:p>
                  </a:txBody>
                  <a:tcPr>
                    <a:solidFill>
                      <a:srgbClr val="F8FAFC"/>
                    </a:solidFill>
                  </a:tcPr>
                </a:tc>
              </a:tr>
              <a:tr h="411480">
                <a:tc>
                  <a:txBody>
                    <a:bodyPr tIns="36576" bIns="36576" anchor="ctr"/>
                    <a:lstStyle/>
                    <a:p>
                      <a:r>
                        <a:rPr sz="1150">
                          <a:solidFill>
                            <a:srgbClr val="14213D"/>
                          </a:solidFill>
                          <a:latin typeface="Inter"/>
                        </a:rPr>
                        <a:t>Endometriosis LR</a:t>
                      </a:r>
                    </a:p>
                  </a:txBody>
                  <a:tcPr>
                    <a:solidFill>
                      <a:srgbClr val="FFFFFF"/>
                    </a:solidFill>
                  </a:tcPr>
                </a:tc>
                <a:tc>
                  <a:txBody>
                    <a:bodyPr tIns="36576" bIns="36576" anchor="ctr"/>
                    <a:lstStyle/>
                    <a:p>
                      <a:r>
                        <a:rPr sz="1150">
                          <a:solidFill>
                            <a:srgbClr val="14213D"/>
                          </a:solidFill>
                          <a:latin typeface="Inter"/>
                        </a:rPr>
                        <a:t>6 overlap features</a:t>
                      </a:r>
                    </a:p>
                  </a:txBody>
                  <a:tcPr>
                    <a:solidFill>
                      <a:srgbClr val="FFFFFF"/>
                    </a:solidFill>
                  </a:tcPr>
                </a:tc>
                <a:tc>
                  <a:txBody>
                    <a:bodyPr tIns="36576" bIns="36576" anchor="ctr"/>
                    <a:lstStyle/>
                    <a:p>
                      <a:r>
                        <a:rPr sz="1150">
                          <a:solidFill>
                            <a:srgbClr val="14213D"/>
                          </a:solidFill>
                          <a:latin typeface="Inter"/>
                        </a:rPr>
                        <a:t>Differential prompt only</a:t>
                      </a:r>
                    </a:p>
                  </a:txBody>
                  <a:tcPr>
                    <a:solidFill>
                      <a:srgbClr val="FFFFFF"/>
                    </a:solidFill>
                  </a:tcPr>
                </a:tc>
              </a:tr>
            </a:tbl>
          </a:graphicData>
        </a:graphic>
      </p:graphicFrame>
      <p:pic>
        <p:nvPicPr>
          <p:cNvPr id="19" name="Picture 18" descr="screening_precision_recall_curve.png"/>
          <p:cNvPicPr>
            <a:picLocks noChangeAspect="1"/>
          </p:cNvPicPr>
          <p:nvPr/>
        </p:nvPicPr>
        <p:blipFill>
          <a:blip r:embed="rId2"/>
          <a:stretch>
            <a:fillRect/>
          </a:stretch>
        </p:blipFill>
        <p:spPr>
          <a:xfrm>
            <a:off x="7640955" y="4023360"/>
            <a:ext cx="2914650" cy="2331720"/>
          </a:xfrm>
          <a:prstGeom prst="rect">
            <a:avLst/>
          </a:prstGeom>
        </p:spPr>
      </p:pic>
      <p:sp>
        <p:nvSpPr>
          <p:cNvPr id="20" name="TextBox 19"/>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HELD-OUT PERFORMANCE</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700" b="1" i="0">
                <a:solidFill>
                  <a:srgbClr val="1F3A5F"/>
                </a:solidFill>
                <a:latin typeface="Inter"/>
              </a:rPr>
              <a:t>Enhanced support preserves sensitivity and greatly improves precision.</a:t>
            </a:r>
          </a:p>
        </p:txBody>
      </p:sp>
      <p:graphicFrame>
        <p:nvGraphicFramePr>
          <p:cNvPr id="9" name="Table 8"/>
          <p:cNvGraphicFramePr>
            <a:graphicFrameLocks noGrp="1"/>
          </p:cNvGraphicFramePr>
          <p:nvPr/>
        </p:nvGraphicFramePr>
        <p:xfrm>
          <a:off x="502920" y="2011680"/>
          <a:ext cx="11155680" cy="1965960"/>
        </p:xfrm>
        <a:graphic>
          <a:graphicData uri="http://schemas.openxmlformats.org/drawingml/2006/table">
            <a:tbl>
              <a:tblPr firstRow="1" bandRow="1">
                <a:tableStyleId>{5C22544A-7EE6-4342-B048-85BDC9FD1C3A}</a:tableStyleId>
              </a:tblPr>
              <a:tblGrid>
                <a:gridCol w="2377440"/>
                <a:gridCol w="1188720"/>
                <a:gridCol w="1188720"/>
                <a:gridCol w="1188720"/>
                <a:gridCol w="1417320"/>
                <a:gridCol w="1188720"/>
                <a:gridCol w="1188720"/>
                <a:gridCol w="1417320"/>
              </a:tblGrid>
              <a:tr h="457200">
                <a:tc>
                  <a:txBody>
                    <a:bodyPr tIns="36576" bIns="36576" anchor="ctr"/>
                    <a:lstStyle/>
                    <a:p>
                      <a:r>
                        <a:rPr sz="1200" b="1">
                          <a:solidFill>
                            <a:srgbClr val="FFFFFF"/>
                          </a:solidFill>
                          <a:latin typeface="Inter"/>
                        </a:rPr>
                        <a:t>Model</a:t>
                      </a:r>
                    </a:p>
                  </a:txBody>
                  <a:tcPr>
                    <a:solidFill>
                      <a:srgbClr val="1F3A5F"/>
                    </a:solidFill>
                  </a:tcPr>
                </a:tc>
                <a:tc>
                  <a:txBody>
                    <a:bodyPr tIns="36576" bIns="36576" anchor="ctr"/>
                    <a:lstStyle/>
                    <a:p>
                      <a:r>
                        <a:rPr sz="1200" b="1">
                          <a:solidFill>
                            <a:srgbClr val="FFFFFF"/>
                          </a:solidFill>
                          <a:latin typeface="Inter"/>
                        </a:rPr>
                        <a:t>Threshold</a:t>
                      </a:r>
                    </a:p>
                  </a:txBody>
                  <a:tcPr>
                    <a:solidFill>
                      <a:srgbClr val="1F3A5F"/>
                    </a:solidFill>
                  </a:tcPr>
                </a:tc>
                <a:tc>
                  <a:txBody>
                    <a:bodyPr tIns="36576" bIns="36576" anchor="ctr"/>
                    <a:lstStyle/>
                    <a:p>
                      <a:r>
                        <a:rPr sz="1200" b="1">
                          <a:solidFill>
                            <a:srgbClr val="FFFFFF"/>
                          </a:solidFill>
                          <a:latin typeface="Inter"/>
                        </a:rPr>
                        <a:t>AUC</a:t>
                      </a:r>
                    </a:p>
                  </a:txBody>
                  <a:tcPr>
                    <a:solidFill>
                      <a:srgbClr val="1F3A5F"/>
                    </a:solidFill>
                  </a:tcPr>
                </a:tc>
                <a:tc>
                  <a:txBody>
                    <a:bodyPr tIns="36576" bIns="36576" anchor="ctr"/>
                    <a:lstStyle/>
                    <a:p>
                      <a:r>
                        <a:rPr sz="1200" b="1">
                          <a:solidFill>
                            <a:srgbClr val="FFFFFF"/>
                          </a:solidFill>
                          <a:latin typeface="Inter"/>
                        </a:rPr>
                        <a:t>Recall</a:t>
                      </a:r>
                    </a:p>
                  </a:txBody>
                  <a:tcPr>
                    <a:solidFill>
                      <a:srgbClr val="1F3A5F"/>
                    </a:solidFill>
                  </a:tcPr>
                </a:tc>
                <a:tc>
                  <a:txBody>
                    <a:bodyPr tIns="36576" bIns="36576" anchor="ctr"/>
                    <a:lstStyle/>
                    <a:p>
                      <a:r>
                        <a:rPr sz="1200" b="1">
                          <a:solidFill>
                            <a:srgbClr val="FFFFFF"/>
                          </a:solidFill>
                          <a:latin typeface="Inter"/>
                        </a:rPr>
                        <a:t>Specificity</a:t>
                      </a:r>
                    </a:p>
                  </a:txBody>
                  <a:tcPr>
                    <a:solidFill>
                      <a:srgbClr val="1F3A5F"/>
                    </a:solidFill>
                  </a:tcPr>
                </a:tc>
                <a:tc>
                  <a:txBody>
                    <a:bodyPr tIns="36576" bIns="36576" anchor="ctr"/>
                    <a:lstStyle/>
                    <a:p>
                      <a:r>
                        <a:rPr sz="1200" b="1">
                          <a:solidFill>
                            <a:srgbClr val="FFFFFF"/>
                          </a:solidFill>
                          <a:latin typeface="Inter"/>
                        </a:rPr>
                        <a:t>PPV</a:t>
                      </a:r>
                    </a:p>
                  </a:txBody>
                  <a:tcPr>
                    <a:solidFill>
                      <a:srgbClr val="1F3A5F"/>
                    </a:solidFill>
                  </a:tcPr>
                </a:tc>
                <a:tc>
                  <a:txBody>
                    <a:bodyPr tIns="36576" bIns="36576" anchor="ctr"/>
                    <a:lstStyle/>
                    <a:p>
                      <a:r>
                        <a:rPr sz="1200" b="1">
                          <a:solidFill>
                            <a:srgbClr val="FFFFFF"/>
                          </a:solidFill>
                          <a:latin typeface="Inter"/>
                        </a:rPr>
                        <a:t>NPV</a:t>
                      </a:r>
                    </a:p>
                  </a:txBody>
                  <a:tcPr>
                    <a:solidFill>
                      <a:srgbClr val="1F3A5F"/>
                    </a:solidFill>
                  </a:tcPr>
                </a:tc>
                <a:tc>
                  <a:txBody>
                    <a:bodyPr tIns="36576" bIns="36576" anchor="ctr"/>
                    <a:lstStyle/>
                    <a:p>
                      <a:r>
                        <a:rPr sz="1200" b="1">
                          <a:solidFill>
                            <a:srgbClr val="FFFFFF"/>
                          </a:solidFill>
                          <a:latin typeface="Inter"/>
                        </a:rPr>
                        <a:t>F2</a:t>
                      </a:r>
                    </a:p>
                  </a:txBody>
                  <a:tcPr>
                    <a:solidFill>
                      <a:srgbClr val="1F3A5F"/>
                    </a:solidFill>
                  </a:tcPr>
                </a:tc>
              </a:tr>
              <a:tr h="502920">
                <a:tc>
                  <a:txBody>
                    <a:bodyPr tIns="36576" bIns="36576" anchor="ctr"/>
                    <a:lstStyle/>
                    <a:p>
                      <a:r>
                        <a:rPr sz="1150">
                          <a:solidFill>
                            <a:srgbClr val="14213D"/>
                          </a:solidFill>
                          <a:latin typeface="Inter"/>
                        </a:rPr>
                        <a:t>Screening</a:t>
                      </a:r>
                    </a:p>
                  </a:txBody>
                  <a:tcPr>
                    <a:solidFill>
                      <a:srgbClr val="FFFFFF"/>
                    </a:solidFill>
                  </a:tcPr>
                </a:tc>
                <a:tc>
                  <a:txBody>
                    <a:bodyPr tIns="36576" bIns="36576" anchor="ctr"/>
                    <a:lstStyle/>
                    <a:p>
                      <a:r>
                        <a:rPr sz="1150">
                          <a:solidFill>
                            <a:srgbClr val="14213D"/>
                          </a:solidFill>
                          <a:latin typeface="Inter"/>
                        </a:rPr>
                        <a:t>0.285</a:t>
                      </a:r>
                    </a:p>
                  </a:txBody>
                  <a:tcPr>
                    <a:solidFill>
                      <a:srgbClr val="FFFFFF"/>
                    </a:solidFill>
                  </a:tcPr>
                </a:tc>
                <a:tc>
                  <a:txBody>
                    <a:bodyPr tIns="36576" bIns="36576" anchor="ctr"/>
                    <a:lstStyle/>
                    <a:p>
                      <a:r>
                        <a:rPr sz="1150">
                          <a:solidFill>
                            <a:srgbClr val="14213D"/>
                          </a:solidFill>
                          <a:latin typeface="Inter"/>
                        </a:rPr>
                        <a:t>0.896</a:t>
                      </a:r>
                    </a:p>
                  </a:txBody>
                  <a:tcPr>
                    <a:solidFill>
                      <a:srgbClr val="FFFFFF"/>
                    </a:solidFill>
                  </a:tcPr>
                </a:tc>
                <a:tc>
                  <a:txBody>
                    <a:bodyPr tIns="36576" bIns="36576" anchor="ctr"/>
                    <a:lstStyle/>
                    <a:p>
                      <a:r>
                        <a:rPr sz="1150" b="1">
                          <a:solidFill>
                            <a:srgbClr val="2F855A"/>
                          </a:solidFill>
                          <a:latin typeface="Inter"/>
                        </a:rPr>
                        <a:t>0.886</a:t>
                      </a:r>
                    </a:p>
                  </a:txBody>
                  <a:tcPr>
                    <a:solidFill>
                      <a:srgbClr val="FFFFFF"/>
                    </a:solidFill>
                  </a:tcPr>
                </a:tc>
                <a:tc>
                  <a:txBody>
                    <a:bodyPr tIns="36576" bIns="36576" anchor="ctr"/>
                    <a:lstStyle/>
                    <a:p>
                      <a:r>
                        <a:rPr sz="1150">
                          <a:solidFill>
                            <a:srgbClr val="14213D"/>
                          </a:solidFill>
                          <a:latin typeface="Inter"/>
                        </a:rPr>
                        <a:t>0.685</a:t>
                      </a:r>
                    </a:p>
                  </a:txBody>
                  <a:tcPr>
                    <a:solidFill>
                      <a:srgbClr val="FFFFFF"/>
                    </a:solidFill>
                  </a:tcPr>
                </a:tc>
                <a:tc>
                  <a:txBody>
                    <a:bodyPr tIns="36576" bIns="36576" anchor="ctr"/>
                    <a:lstStyle/>
                    <a:p>
                      <a:r>
                        <a:rPr sz="1150">
                          <a:solidFill>
                            <a:srgbClr val="14213D"/>
                          </a:solidFill>
                          <a:latin typeface="Inter"/>
                        </a:rPr>
                        <a:t>0.574</a:t>
                      </a:r>
                    </a:p>
                  </a:txBody>
                  <a:tcPr>
                    <a:solidFill>
                      <a:srgbClr val="FFFFFF"/>
                    </a:solidFill>
                  </a:tcPr>
                </a:tc>
                <a:tc>
                  <a:txBody>
                    <a:bodyPr tIns="36576" bIns="36576" anchor="ctr"/>
                    <a:lstStyle/>
                    <a:p>
                      <a:r>
                        <a:rPr sz="1150">
                          <a:solidFill>
                            <a:srgbClr val="14213D"/>
                          </a:solidFill>
                          <a:latin typeface="Inter"/>
                        </a:rPr>
                        <a:t>0.926</a:t>
                      </a:r>
                    </a:p>
                  </a:txBody>
                  <a:tcPr>
                    <a:solidFill>
                      <a:srgbClr val="FFFFFF"/>
                    </a:solidFill>
                  </a:tcPr>
                </a:tc>
                <a:tc>
                  <a:txBody>
                    <a:bodyPr tIns="36576" bIns="36576" anchor="ctr"/>
                    <a:lstStyle/>
                    <a:p>
                      <a:r>
                        <a:rPr sz="1150">
                          <a:solidFill>
                            <a:srgbClr val="14213D"/>
                          </a:solidFill>
                          <a:latin typeface="Inter"/>
                        </a:rPr>
                        <a:t>0.799</a:t>
                      </a:r>
                    </a:p>
                  </a:txBody>
                  <a:tcPr>
                    <a:solidFill>
                      <a:srgbClr val="FFFFFF"/>
                    </a:solidFill>
                  </a:tcPr>
                </a:tc>
              </a:tr>
              <a:tr h="502920">
                <a:tc>
                  <a:txBody>
                    <a:bodyPr tIns="36576" bIns="36576" anchor="ctr"/>
                    <a:lstStyle/>
                    <a:p>
                      <a:r>
                        <a:rPr sz="1150">
                          <a:solidFill>
                            <a:srgbClr val="14213D"/>
                          </a:solidFill>
                          <a:latin typeface="Inter"/>
                        </a:rPr>
                        <a:t>Enhanced</a:t>
                      </a:r>
                    </a:p>
                  </a:txBody>
                  <a:tcPr>
                    <a:solidFill>
                      <a:srgbClr val="F8FAFC"/>
                    </a:solidFill>
                  </a:tcPr>
                </a:tc>
                <a:tc>
                  <a:txBody>
                    <a:bodyPr tIns="36576" bIns="36576" anchor="ctr"/>
                    <a:lstStyle/>
                    <a:p>
                      <a:r>
                        <a:rPr sz="1150">
                          <a:solidFill>
                            <a:srgbClr val="14213D"/>
                          </a:solidFill>
                          <a:latin typeface="Inter"/>
                        </a:rPr>
                        <a:t>0.380</a:t>
                      </a:r>
                    </a:p>
                  </a:txBody>
                  <a:tcPr>
                    <a:solidFill>
                      <a:srgbClr val="F8FAFC"/>
                    </a:solidFill>
                  </a:tcPr>
                </a:tc>
                <a:tc>
                  <a:txBody>
                    <a:bodyPr tIns="36576" bIns="36576" anchor="ctr"/>
                    <a:lstStyle/>
                    <a:p>
                      <a:r>
                        <a:rPr sz="1150" b="1">
                          <a:solidFill>
                            <a:srgbClr val="2F855A"/>
                          </a:solidFill>
                          <a:latin typeface="Inter"/>
                        </a:rPr>
                        <a:t>0.953</a:t>
                      </a:r>
                    </a:p>
                  </a:txBody>
                  <a:tcPr>
                    <a:solidFill>
                      <a:srgbClr val="F8FAFC"/>
                    </a:solidFill>
                  </a:tcPr>
                </a:tc>
                <a:tc>
                  <a:txBody>
                    <a:bodyPr tIns="36576" bIns="36576" anchor="ctr"/>
                    <a:lstStyle/>
                    <a:p>
                      <a:r>
                        <a:rPr sz="1150" b="1">
                          <a:solidFill>
                            <a:srgbClr val="2F855A"/>
                          </a:solidFill>
                          <a:latin typeface="Inter"/>
                        </a:rPr>
                        <a:t>0.886</a:t>
                      </a:r>
                    </a:p>
                  </a:txBody>
                  <a:tcPr>
                    <a:solidFill>
                      <a:srgbClr val="F8FAFC"/>
                    </a:solidFill>
                  </a:tcPr>
                </a:tc>
                <a:tc>
                  <a:txBody>
                    <a:bodyPr tIns="36576" bIns="36576" anchor="ctr"/>
                    <a:lstStyle/>
                    <a:p>
                      <a:r>
                        <a:rPr sz="1150" b="1">
                          <a:solidFill>
                            <a:srgbClr val="2F855A"/>
                          </a:solidFill>
                          <a:latin typeface="Inter"/>
                        </a:rPr>
                        <a:t>0.902</a:t>
                      </a:r>
                    </a:p>
                  </a:txBody>
                  <a:tcPr>
                    <a:solidFill>
                      <a:srgbClr val="F8FAFC"/>
                    </a:solidFill>
                  </a:tcPr>
                </a:tc>
                <a:tc>
                  <a:txBody>
                    <a:bodyPr tIns="36576" bIns="36576" anchor="ctr"/>
                    <a:lstStyle/>
                    <a:p>
                      <a:r>
                        <a:rPr sz="1150" b="1">
                          <a:solidFill>
                            <a:srgbClr val="2F855A"/>
                          </a:solidFill>
                          <a:latin typeface="Inter"/>
                        </a:rPr>
                        <a:t>0.812</a:t>
                      </a:r>
                    </a:p>
                  </a:txBody>
                  <a:tcPr>
                    <a:solidFill>
                      <a:srgbClr val="F8FAFC"/>
                    </a:solidFill>
                  </a:tcPr>
                </a:tc>
                <a:tc>
                  <a:txBody>
                    <a:bodyPr tIns="36576" bIns="36576" anchor="ctr"/>
                    <a:lstStyle/>
                    <a:p>
                      <a:r>
                        <a:rPr sz="1150" b="1">
                          <a:solidFill>
                            <a:srgbClr val="2F855A"/>
                          </a:solidFill>
                          <a:latin typeface="Inter"/>
                        </a:rPr>
                        <a:t>0.943</a:t>
                      </a:r>
                    </a:p>
                  </a:txBody>
                  <a:tcPr>
                    <a:solidFill>
                      <a:srgbClr val="F8FAFC"/>
                    </a:solidFill>
                  </a:tcPr>
                </a:tc>
                <a:tc>
                  <a:txBody>
                    <a:bodyPr tIns="36576" bIns="36576" anchor="ctr"/>
                    <a:lstStyle/>
                    <a:p>
                      <a:r>
                        <a:rPr sz="1150" b="1">
                          <a:solidFill>
                            <a:srgbClr val="2F855A"/>
                          </a:solidFill>
                          <a:latin typeface="Inter"/>
                        </a:rPr>
                        <a:t>0.871</a:t>
                      </a:r>
                    </a:p>
                  </a:txBody>
                  <a:tcPr>
                    <a:solidFill>
                      <a:srgbClr val="F8FAFC"/>
                    </a:solidFill>
                  </a:tcPr>
                </a:tc>
              </a:tr>
              <a:tr h="502920">
                <a:tc>
                  <a:txBody>
                    <a:bodyPr tIns="36576" bIns="36576" anchor="ctr"/>
                    <a:lstStyle/>
                    <a:p>
                      <a:r>
                        <a:rPr sz="1150">
                          <a:solidFill>
                            <a:srgbClr val="14213D"/>
                          </a:solidFill>
                          <a:latin typeface="Inter"/>
                        </a:rPr>
                        <a:t>Endometriosis prompt</a:t>
                      </a:r>
                    </a:p>
                  </a:txBody>
                  <a:tcPr>
                    <a:solidFill>
                      <a:srgbClr val="FFFFFF"/>
                    </a:solidFill>
                  </a:tcPr>
                </a:tc>
                <a:tc>
                  <a:txBody>
                    <a:bodyPr tIns="36576" bIns="36576" anchor="ctr"/>
                    <a:lstStyle/>
                    <a:p>
                      <a:r>
                        <a:rPr sz="1150">
                          <a:solidFill>
                            <a:srgbClr val="14213D"/>
                          </a:solidFill>
                          <a:latin typeface="Inter"/>
                        </a:rPr>
                        <a:t>0.510</a:t>
                      </a:r>
                    </a:p>
                  </a:txBody>
                  <a:tcPr>
                    <a:solidFill>
                      <a:srgbClr val="FFFFFF"/>
                    </a:solidFill>
                  </a:tcPr>
                </a:tc>
                <a:tc>
                  <a:txBody>
                    <a:bodyPr tIns="36576" bIns="36576" anchor="ctr"/>
                    <a:lstStyle/>
                    <a:p>
                      <a:r>
                        <a:rPr sz="1150">
                          <a:solidFill>
                            <a:srgbClr val="14213D"/>
                          </a:solidFill>
                          <a:latin typeface="Inter"/>
                        </a:rPr>
                        <a:t>0.660</a:t>
                      </a:r>
                    </a:p>
                  </a:txBody>
                  <a:tcPr>
                    <a:solidFill>
                      <a:srgbClr val="FFFFFF"/>
                    </a:solidFill>
                  </a:tcPr>
                </a:tc>
                <a:tc>
                  <a:txBody>
                    <a:bodyPr tIns="36576" bIns="36576" anchor="ctr"/>
                    <a:lstStyle/>
                    <a:p>
                      <a:r>
                        <a:rPr sz="1150">
                          <a:solidFill>
                            <a:srgbClr val="14213D"/>
                          </a:solidFill>
                          <a:latin typeface="Inter"/>
                        </a:rPr>
                        <a:t>0.628</a:t>
                      </a:r>
                    </a:p>
                  </a:txBody>
                  <a:tcPr>
                    <a:solidFill>
                      <a:srgbClr val="FFFFFF"/>
                    </a:solidFill>
                  </a:tcPr>
                </a:tc>
                <a:tc>
                  <a:txBody>
                    <a:bodyPr tIns="36576" bIns="36576" anchor="ctr"/>
                    <a:lstStyle/>
                    <a:p>
                      <a:r>
                        <a:rPr sz="1150">
                          <a:solidFill>
                            <a:srgbClr val="14213D"/>
                          </a:solidFill>
                          <a:latin typeface="Inter"/>
                        </a:rPr>
                        <a:t>0.618</a:t>
                      </a:r>
                    </a:p>
                  </a:txBody>
                  <a:tcPr>
                    <a:solidFill>
                      <a:srgbClr val="FFFFFF"/>
                    </a:solidFill>
                  </a:tcPr>
                </a:tc>
                <a:tc>
                  <a:txBody>
                    <a:bodyPr tIns="36576" bIns="36576" anchor="ctr"/>
                    <a:lstStyle/>
                    <a:p>
                      <a:r>
                        <a:rPr sz="1150">
                          <a:solidFill>
                            <a:srgbClr val="14213D"/>
                          </a:solidFill>
                          <a:latin typeface="Inter"/>
                        </a:rPr>
                        <a:t>0.532</a:t>
                      </a:r>
                    </a:p>
                  </a:txBody>
                  <a:tcPr>
                    <a:solidFill>
                      <a:srgbClr val="FFFFFF"/>
                    </a:solidFill>
                  </a:tcPr>
                </a:tc>
                <a:tc>
                  <a:txBody>
                    <a:bodyPr tIns="36576" bIns="36576" anchor="ctr"/>
                    <a:lstStyle/>
                    <a:p>
                      <a:r>
                        <a:rPr sz="1150">
                          <a:solidFill>
                            <a:srgbClr val="14213D"/>
                          </a:solidFill>
                          <a:latin typeface="Inter"/>
                        </a:rPr>
                        <a:t>—</a:t>
                      </a:r>
                    </a:p>
                  </a:txBody>
                  <a:tcPr>
                    <a:solidFill>
                      <a:srgbClr val="FFFFFF"/>
                    </a:solidFill>
                  </a:tcPr>
                </a:tc>
                <a:tc>
                  <a:txBody>
                    <a:bodyPr tIns="36576" bIns="36576" anchor="ctr"/>
                    <a:lstStyle/>
                    <a:p>
                      <a:r>
                        <a:rPr sz="1150">
                          <a:solidFill>
                            <a:srgbClr val="14213D"/>
                          </a:solidFill>
                          <a:latin typeface="Inter"/>
                        </a:rPr>
                        <a:t>0.609</a:t>
                      </a:r>
                    </a:p>
                  </a:txBody>
                  <a:tcPr>
                    <a:solidFill>
                      <a:srgbClr val="FFFFFF"/>
                    </a:solidFill>
                  </a:tcPr>
                </a:tc>
              </a:tr>
            </a:tbl>
          </a:graphicData>
        </a:graphic>
      </p:graphicFrame>
      <p:sp>
        <p:nvSpPr>
          <p:cNvPr id="10" name="Rounded Rectangle 9"/>
          <p:cNvSpPr/>
          <p:nvPr/>
        </p:nvSpPr>
        <p:spPr>
          <a:xfrm>
            <a:off x="502920" y="4434840"/>
            <a:ext cx="2590723" cy="16459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4434840"/>
            <a:ext cx="2590723" cy="64008"/>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663440"/>
            <a:ext cx="2590723" cy="1280160"/>
          </a:xfrm>
          <a:prstGeom prst="rect">
            <a:avLst/>
          </a:prstGeom>
          <a:noFill/>
        </p:spPr>
        <p:txBody>
          <a:bodyPr wrap="square" tIns="36576" bIns="36576" anchor="t">
            <a:spAutoFit/>
          </a:bodyPr>
          <a:lstStyle/>
          <a:p>
            <a:pPr algn="ctr">
              <a:spcAft>
                <a:spcPts val="800"/>
              </a:spcAft>
            </a:pPr>
            <a:r>
              <a:rPr sz="3400" b="1" i="0">
                <a:solidFill>
                  <a:srgbClr val="007C89"/>
                </a:solidFill>
                <a:latin typeface="Inter"/>
              </a:rPr>
              <a:t>39/44</a:t>
            </a:r>
          </a:p>
          <a:p>
            <a:pPr algn="ctr">
              <a:spcAft>
                <a:spcPts val="400"/>
              </a:spcAft>
            </a:pPr>
            <a:r>
              <a:rPr sz="1050" b="0" i="0">
                <a:solidFill>
                  <a:srgbClr val="5F6C7B"/>
                </a:solidFill>
                <a:latin typeface="Inter"/>
              </a:rPr>
              <a:t>PCOS positives caught</a:t>
            </a:r>
          </a:p>
        </p:txBody>
      </p:sp>
      <p:sp>
        <p:nvSpPr>
          <p:cNvPr id="13" name="Rounded Rectangle 12"/>
          <p:cNvSpPr/>
          <p:nvPr/>
        </p:nvSpPr>
        <p:spPr>
          <a:xfrm>
            <a:off x="3367963" y="4434840"/>
            <a:ext cx="2590723" cy="16459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7963" y="4434840"/>
            <a:ext cx="2590723" cy="6400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67963" y="4663440"/>
            <a:ext cx="2590723" cy="1280160"/>
          </a:xfrm>
          <a:prstGeom prst="rect">
            <a:avLst/>
          </a:prstGeom>
          <a:noFill/>
        </p:spPr>
        <p:txBody>
          <a:bodyPr wrap="square" tIns="36576" bIns="36576" anchor="t">
            <a:spAutoFit/>
          </a:bodyPr>
          <a:lstStyle/>
          <a:p>
            <a:pPr algn="ctr">
              <a:spcAft>
                <a:spcPts val="800"/>
              </a:spcAft>
            </a:pPr>
            <a:r>
              <a:rPr sz="3400" b="1" i="0">
                <a:solidFill>
                  <a:srgbClr val="D95D39"/>
                </a:solidFill>
                <a:latin typeface="Inter"/>
              </a:rPr>
              <a:t>+21.7</a:t>
            </a:r>
          </a:p>
          <a:p>
            <a:pPr algn="ctr">
              <a:spcAft>
                <a:spcPts val="400"/>
              </a:spcAft>
            </a:pPr>
            <a:r>
              <a:rPr sz="1050" b="0" i="0">
                <a:solidFill>
                  <a:srgbClr val="5F6C7B"/>
                </a:solidFill>
                <a:latin typeface="Inter"/>
              </a:rPr>
              <a:t>Specificity points vs screening</a:t>
            </a:r>
          </a:p>
        </p:txBody>
      </p:sp>
      <p:sp>
        <p:nvSpPr>
          <p:cNvPr id="16" name="Rounded Rectangle 15"/>
          <p:cNvSpPr/>
          <p:nvPr/>
        </p:nvSpPr>
        <p:spPr>
          <a:xfrm>
            <a:off x="6233007" y="4434840"/>
            <a:ext cx="2590723" cy="16459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4434840"/>
            <a:ext cx="2590723" cy="64008"/>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3007" y="4663440"/>
            <a:ext cx="2590723" cy="1280160"/>
          </a:xfrm>
          <a:prstGeom prst="rect">
            <a:avLst/>
          </a:prstGeom>
          <a:noFill/>
        </p:spPr>
        <p:txBody>
          <a:bodyPr wrap="square" tIns="36576" bIns="36576" anchor="t">
            <a:spAutoFit/>
          </a:bodyPr>
          <a:lstStyle/>
          <a:p>
            <a:pPr algn="ctr">
              <a:spcAft>
                <a:spcPts val="800"/>
              </a:spcAft>
            </a:pPr>
            <a:r>
              <a:rPr sz="3400" b="1" i="0">
                <a:solidFill>
                  <a:srgbClr val="C98910"/>
                </a:solidFill>
                <a:latin typeface="Inter"/>
              </a:rPr>
              <a:t>0.943</a:t>
            </a:r>
          </a:p>
          <a:p>
            <a:pPr algn="ctr">
              <a:spcAft>
                <a:spcPts val="400"/>
              </a:spcAft>
            </a:pPr>
            <a:r>
              <a:rPr sz="1050" b="0" i="0">
                <a:solidFill>
                  <a:srgbClr val="5F6C7B"/>
                </a:solidFill>
                <a:latin typeface="Inter"/>
              </a:rPr>
              <a:t>Enhanced NPV</a:t>
            </a:r>
          </a:p>
        </p:txBody>
      </p:sp>
      <p:sp>
        <p:nvSpPr>
          <p:cNvPr id="19" name="Rounded Rectangle 18"/>
          <p:cNvSpPr/>
          <p:nvPr/>
        </p:nvSpPr>
        <p:spPr>
          <a:xfrm>
            <a:off x="9098051" y="4434840"/>
            <a:ext cx="2590723" cy="16459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8051" y="4434840"/>
            <a:ext cx="2590723" cy="64008"/>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051" y="4663440"/>
            <a:ext cx="2590723" cy="1280160"/>
          </a:xfrm>
          <a:prstGeom prst="rect">
            <a:avLst/>
          </a:prstGeom>
          <a:noFill/>
        </p:spPr>
        <p:txBody>
          <a:bodyPr wrap="square" tIns="36576" bIns="36576" anchor="t">
            <a:spAutoFit/>
          </a:bodyPr>
          <a:lstStyle/>
          <a:p>
            <a:pPr algn="ctr">
              <a:spcAft>
                <a:spcPts val="800"/>
              </a:spcAft>
            </a:pPr>
            <a:r>
              <a:rPr sz="3400" b="1" i="0">
                <a:solidFill>
                  <a:srgbClr val="6B5B95"/>
                </a:solidFill>
                <a:latin typeface="Inter"/>
              </a:rPr>
              <a:t>+0.057</a:t>
            </a:r>
          </a:p>
          <a:p>
            <a:pPr algn="ctr">
              <a:spcAft>
                <a:spcPts val="400"/>
              </a:spcAft>
            </a:pPr>
            <a:r>
              <a:rPr sz="1050" b="0" i="0">
                <a:solidFill>
                  <a:srgbClr val="5F6C7B"/>
                </a:solidFill>
                <a:latin typeface="Inter"/>
              </a:rPr>
              <a:t>ΔAUC vs screening, 95% CI [+0.013, +0.105], p≈0.015</a:t>
            </a:r>
          </a:p>
        </p:txBody>
      </p:sp>
      <p:sp>
        <p:nvSpPr>
          <p:cNvPr id="22" name="TextBox 21"/>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UNCERTAINTY, CALIBRATION &amp; CONFORMAL  ·  TRIPOD+AI ALIGNED</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The rigor layer makes the model harder to dismiss.</a:t>
            </a:r>
          </a:p>
        </p:txBody>
      </p:sp>
      <p:sp>
        <p:nvSpPr>
          <p:cNvPr id="9" name="Rounded Rectangle 8"/>
          <p:cNvSpPr/>
          <p:nvPr/>
        </p:nvSpPr>
        <p:spPr>
          <a:xfrm>
            <a:off x="502920" y="2103120"/>
            <a:ext cx="5120640" cy="11887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03120"/>
            <a:ext cx="91440" cy="118872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286000"/>
            <a:ext cx="4791456" cy="91440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Uncertainty</a:t>
            </a:r>
          </a:p>
          <a:p>
            <a:pPr algn="l"/>
            <a:r>
              <a:rPr sz="1200" b="0" i="0">
                <a:solidFill>
                  <a:srgbClr val="5F6C7B"/>
                </a:solidFill>
                <a:latin typeface="Inter"/>
              </a:rPr>
              <a:t>2000-resample bootstrap CIs; enhanced AUC advantage: +0.057, 95% CI [+0.013, +0.105].</a:t>
            </a:r>
          </a:p>
        </p:txBody>
      </p:sp>
      <p:sp>
        <p:nvSpPr>
          <p:cNvPr id="12" name="Rounded Rectangle 11"/>
          <p:cNvSpPr/>
          <p:nvPr/>
        </p:nvSpPr>
        <p:spPr>
          <a:xfrm>
            <a:off x="502920" y="3474720"/>
            <a:ext cx="5120640" cy="11887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474720"/>
            <a:ext cx="91440" cy="118872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657600"/>
            <a:ext cx="4791456" cy="91440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Calibration</a:t>
            </a:r>
          </a:p>
          <a:p>
            <a:pPr algn="l"/>
            <a:r>
              <a:rPr sz="1200" b="0" i="0">
                <a:solidFill>
                  <a:srgbClr val="5F6C7B"/>
                </a:solidFill>
                <a:latin typeface="Inter"/>
              </a:rPr>
              <a:t>Enhanced Platt scaling improves Brier 0.093 → 0.072 and ECE 0.143 → 0.045.</a:t>
            </a:r>
          </a:p>
        </p:txBody>
      </p:sp>
      <p:sp>
        <p:nvSpPr>
          <p:cNvPr id="15" name="Rounded Rectangle 14"/>
          <p:cNvSpPr/>
          <p:nvPr/>
        </p:nvSpPr>
        <p:spPr>
          <a:xfrm>
            <a:off x="502920" y="4846320"/>
            <a:ext cx="5120640" cy="11887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46320"/>
            <a:ext cx="91440" cy="118872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5029200"/>
            <a:ext cx="4791456" cy="91440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Conformal coverage</a:t>
            </a:r>
          </a:p>
          <a:p>
            <a:pPr algn="l"/>
            <a:r>
              <a:rPr sz="1200" b="0" i="0">
                <a:solidFill>
                  <a:srgbClr val="5F6C7B"/>
                </a:solidFill>
                <a:latin typeface="Inter"/>
              </a:rPr>
              <a:t>Target 0.90; empirical holdout coverage 0.912. Empty sets are abstentions.</a:t>
            </a:r>
          </a:p>
        </p:txBody>
      </p:sp>
      <p:sp>
        <p:nvSpPr>
          <p:cNvPr id="18" name="TextBox 17"/>
          <p:cNvSpPr txBox="1"/>
          <p:nvPr/>
        </p:nvSpPr>
        <p:spPr>
          <a:xfrm>
            <a:off x="502920" y="5852160"/>
            <a:ext cx="5120640" cy="502920"/>
          </a:xfrm>
          <a:prstGeom prst="rect">
            <a:avLst/>
          </a:prstGeom>
          <a:noFill/>
        </p:spPr>
        <p:txBody>
          <a:bodyPr wrap="square" lIns="0" rIns="0" tIns="36576" bIns="36576" anchor="t">
            <a:spAutoFit/>
          </a:bodyPr>
          <a:lstStyle/>
          <a:p>
            <a:pPr algn="l">
              <a:spcAft>
                <a:spcPts val="400"/>
              </a:spcAft>
            </a:pPr>
            <a:r>
              <a:rPr sz="1100" b="1" i="0">
                <a:solidFill>
                  <a:srgbClr val="1F3A5F"/>
                </a:solidFill>
                <a:latin typeface="Inter"/>
              </a:rPr>
              <a:t>Reporting standard  </a:t>
            </a:r>
            <a:r>
              <a:rPr sz="1050" b="0" i="1">
                <a:solidFill>
                  <a:srgbClr val="5F6C7B"/>
                </a:solidFill>
                <a:latin typeface="Inter"/>
              </a:rPr>
              <a:t>Collins et al., BMJ 2024 (TRIPOD+AI); Van Calster et al., BMC Med 2019; Angelopoulos &amp; Bates 2023.</a:t>
            </a:r>
          </a:p>
        </p:txBody>
      </p:sp>
      <p:pic>
        <p:nvPicPr>
          <p:cNvPr id="19" name="Picture 18" descr="calibration_combined.png"/>
          <p:cNvPicPr>
            <a:picLocks noChangeAspect="1"/>
          </p:cNvPicPr>
          <p:nvPr/>
        </p:nvPicPr>
        <p:blipFill>
          <a:blip r:embed="rId2"/>
          <a:stretch>
            <a:fillRect/>
          </a:stretch>
        </p:blipFill>
        <p:spPr>
          <a:xfrm>
            <a:off x="6446520" y="2902306"/>
            <a:ext cx="5303520" cy="2333548"/>
          </a:xfrm>
          <a:prstGeom prst="rect">
            <a:avLst/>
          </a:prstGeom>
        </p:spPr>
      </p:pic>
      <p:sp>
        <p:nvSpPr>
          <p:cNvPr id="20" name="TextBox 19"/>
          <p:cNvSpPr txBox="1"/>
          <p:nvPr/>
        </p:nvSpPr>
        <p:spPr>
          <a:xfrm>
            <a:off x="6446520" y="6080760"/>
            <a:ext cx="5303520" cy="274320"/>
          </a:xfrm>
          <a:prstGeom prst="rect">
            <a:avLst/>
          </a:prstGeom>
          <a:noFill/>
        </p:spPr>
        <p:txBody>
          <a:bodyPr wrap="square" lIns="0" rIns="0" tIns="36576" bIns="36576" anchor="t">
            <a:spAutoFit/>
          </a:bodyPr>
          <a:lstStyle/>
          <a:p>
            <a:pPr algn="ctr">
              <a:spcAft>
                <a:spcPts val="400"/>
              </a:spcAft>
            </a:pPr>
            <a:r>
              <a:rPr sz="1000" b="0" i="1">
                <a:solidFill>
                  <a:srgbClr val="5F6C7B"/>
                </a:solidFill>
                <a:latin typeface="Inter"/>
              </a:rPr>
              <a:t>Notebook 08: probability quality before and after recalibration.</a:t>
            </a:r>
          </a:p>
        </p:txBody>
      </p:sp>
      <p:sp>
        <p:nvSpPr>
          <p:cNvPr id="21" name="TextBox 20"/>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CLINICAL UTILITY AND SAFETY</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Actionability matters more than a prettier metric.</a:t>
            </a:r>
          </a:p>
        </p:txBody>
      </p:sp>
      <p:pic>
        <p:nvPicPr>
          <p:cNvPr id="9" name="Picture 8" descr="dca_combined.png"/>
          <p:cNvPicPr>
            <a:picLocks noChangeAspect="1"/>
          </p:cNvPicPr>
          <p:nvPr/>
        </p:nvPicPr>
        <p:blipFill>
          <a:blip r:embed="rId2"/>
          <a:stretch>
            <a:fillRect/>
          </a:stretch>
        </p:blipFill>
        <p:spPr>
          <a:xfrm>
            <a:off x="562931" y="2011680"/>
            <a:ext cx="5732137" cy="3931920"/>
          </a:xfrm>
          <a:prstGeom prst="rect">
            <a:avLst/>
          </a:prstGeom>
        </p:spPr>
      </p:pic>
      <p:sp>
        <p:nvSpPr>
          <p:cNvPr id="10" name="TextBox 9"/>
          <p:cNvSpPr txBox="1"/>
          <p:nvPr/>
        </p:nvSpPr>
        <p:spPr>
          <a:xfrm>
            <a:off x="502920" y="5943600"/>
            <a:ext cx="5852160" cy="274320"/>
          </a:xfrm>
          <a:prstGeom prst="rect">
            <a:avLst/>
          </a:prstGeom>
          <a:noFill/>
        </p:spPr>
        <p:txBody>
          <a:bodyPr wrap="square" lIns="0" rIns="0" tIns="36576" bIns="36576" anchor="t">
            <a:spAutoFit/>
          </a:bodyPr>
          <a:lstStyle/>
          <a:p>
            <a:pPr algn="ctr">
              <a:spcAft>
                <a:spcPts val="400"/>
              </a:spcAft>
            </a:pPr>
            <a:r>
              <a:rPr sz="1000" b="0" i="1">
                <a:solidFill>
                  <a:srgbClr val="5F6C7B"/>
                </a:solidFill>
                <a:latin typeface="Inter"/>
              </a:rPr>
              <a:t>Decision-curve analysis: both selected thresholds sit inside useful net-benefit ranges.</a:t>
            </a:r>
          </a:p>
        </p:txBody>
      </p:sp>
      <p:sp>
        <p:nvSpPr>
          <p:cNvPr id="11" name="Rounded Rectangle 10"/>
          <p:cNvSpPr/>
          <p:nvPr/>
        </p:nvSpPr>
        <p:spPr>
          <a:xfrm>
            <a:off x="6492240" y="2011680"/>
            <a:ext cx="5303520" cy="109728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92240" y="2011680"/>
            <a:ext cx="91440" cy="109728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2" y="2194560"/>
            <a:ext cx="4974336" cy="82296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Decision curve analysis</a:t>
            </a:r>
          </a:p>
          <a:p>
            <a:pPr algn="l"/>
            <a:r>
              <a:rPr sz="1200" b="0" i="0">
                <a:solidFill>
                  <a:srgbClr val="5F6C7B"/>
                </a:solidFill>
                <a:latin typeface="Inter"/>
              </a:rPr>
              <a:t>Both selected thresholds sit inside useful net-benefit ranges against treat-all and treat-none baselines.</a:t>
            </a:r>
          </a:p>
        </p:txBody>
      </p:sp>
      <p:sp>
        <p:nvSpPr>
          <p:cNvPr id="14" name="Rounded Rectangle 13"/>
          <p:cNvSpPr/>
          <p:nvPr/>
        </p:nvSpPr>
        <p:spPr>
          <a:xfrm>
            <a:off x="6492240" y="3246120"/>
            <a:ext cx="5303520" cy="109728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3246120"/>
            <a:ext cx="91440" cy="109728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3429000"/>
            <a:ext cx="4974336" cy="82296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Subgroup honesty</a:t>
            </a:r>
          </a:p>
          <a:p>
            <a:pPr algn="l"/>
            <a:r>
              <a:rPr sz="1200" b="0" i="0">
                <a:solidFill>
                  <a:srgbClr val="5F6C7B"/>
                </a:solidFill>
                <a:latin typeface="Inter"/>
              </a:rPr>
              <a:t>Screening has a 25-point BMI recall gap, lowest in normal-BMI patients. The app warns not to rule out lean PCOS solely from low probability.</a:t>
            </a:r>
          </a:p>
        </p:txBody>
      </p:sp>
      <p:pic>
        <p:nvPicPr>
          <p:cNvPr id="17" name="Picture 16" descr="subgroup_recall_by_bmi.png"/>
          <p:cNvPicPr>
            <a:picLocks noChangeAspect="1"/>
          </p:cNvPicPr>
          <p:nvPr/>
        </p:nvPicPr>
        <p:blipFill>
          <a:blip r:embed="rId3"/>
          <a:stretch>
            <a:fillRect/>
          </a:stretch>
        </p:blipFill>
        <p:spPr>
          <a:xfrm>
            <a:off x="7658100" y="4434840"/>
            <a:ext cx="2971800" cy="1783080"/>
          </a:xfrm>
          <a:prstGeom prst="rect">
            <a:avLst/>
          </a:prstGeom>
        </p:spPr>
      </p:pic>
      <p:sp>
        <p:nvSpPr>
          <p:cNvPr id="18" name="TextBox 17"/>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EXPLAINABILITY AT THE PATIENT LEVEL</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Every prediction needs a reason clinicians can inspect.</a:t>
            </a:r>
          </a:p>
        </p:txBody>
      </p:sp>
      <p:sp>
        <p:nvSpPr>
          <p:cNvPr id="9" name="Rounded Rectangle 8"/>
          <p:cNvSpPr/>
          <p:nvPr/>
        </p:nvSpPr>
        <p:spPr>
          <a:xfrm>
            <a:off x="502920" y="2103120"/>
            <a:ext cx="5120640" cy="1691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03120"/>
            <a:ext cx="91440" cy="16916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286000"/>
            <a:ext cx="4791456" cy="1417320"/>
          </a:xfrm>
          <a:prstGeom prst="rect">
            <a:avLst/>
          </a:prstGeom>
          <a:noFill/>
        </p:spPr>
        <p:txBody>
          <a:bodyPr wrap="square" lIns="73152" rIns="73152" tIns="36576" bIns="36576" anchor="t">
            <a:spAutoFit/>
          </a:bodyPr>
          <a:lstStyle/>
          <a:p>
            <a:pPr algn="l">
              <a:spcAft>
                <a:spcPts val="400"/>
              </a:spcAft>
            </a:pPr>
            <a:r>
              <a:rPr sz="1550" b="1" i="0">
                <a:solidFill>
                  <a:srgbClr val="1F3A5F"/>
                </a:solidFill>
                <a:latin typeface="Inter"/>
              </a:rPr>
              <a:t>Patient-level SHAP</a:t>
            </a:r>
          </a:p>
          <a:p>
            <a:pPr algn="l"/>
            <a:r>
              <a:rPr sz="1300" b="0" i="0">
                <a:solidFill>
                  <a:srgbClr val="5F6C7B"/>
                </a:solidFill>
                <a:latin typeface="Inter"/>
              </a:rPr>
              <a:t>The demo surfaces top log-odds contributors for the individual patient, not just global feature rankings.</a:t>
            </a:r>
          </a:p>
        </p:txBody>
      </p:sp>
      <p:sp>
        <p:nvSpPr>
          <p:cNvPr id="12" name="Rounded Rectangle 11"/>
          <p:cNvSpPr/>
          <p:nvPr/>
        </p:nvSpPr>
        <p:spPr>
          <a:xfrm>
            <a:off x="502920" y="3977640"/>
            <a:ext cx="5120640" cy="1691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977640"/>
            <a:ext cx="91440" cy="16916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60520"/>
            <a:ext cx="4791456" cy="1417320"/>
          </a:xfrm>
          <a:prstGeom prst="rect">
            <a:avLst/>
          </a:prstGeom>
          <a:noFill/>
        </p:spPr>
        <p:txBody>
          <a:bodyPr wrap="square" lIns="73152" rIns="73152" tIns="36576" bIns="36576" anchor="t">
            <a:spAutoFit/>
          </a:bodyPr>
          <a:lstStyle/>
          <a:p>
            <a:pPr algn="l">
              <a:spcAft>
                <a:spcPts val="400"/>
              </a:spcAft>
            </a:pPr>
            <a:r>
              <a:rPr sz="1550" b="1" i="0">
                <a:solidFill>
                  <a:srgbClr val="1F3A5F"/>
                </a:solidFill>
                <a:latin typeface="Inter"/>
              </a:rPr>
              <a:t>Checklist safety net</a:t>
            </a:r>
          </a:p>
          <a:p>
            <a:pPr algn="l"/>
            <a:r>
              <a:rPr sz="1300" b="0" i="0">
                <a:solidFill>
                  <a:srgbClr val="5F6C7B"/>
                </a:solidFill>
                <a:latin typeface="Inter"/>
              </a:rPr>
              <a:t>The app shows which clinical evidence is present, which tests are missing, and when metabolic or lean-PCOS follow-up is needed.</a:t>
            </a:r>
          </a:p>
        </p:txBody>
      </p:sp>
      <p:pic>
        <p:nvPicPr>
          <p:cNvPr id="15" name="Picture 14" descr="enhanced_shap_positive_case.png"/>
          <p:cNvPicPr>
            <a:picLocks noChangeAspect="1"/>
          </p:cNvPicPr>
          <p:nvPr/>
        </p:nvPicPr>
        <p:blipFill>
          <a:blip r:embed="rId2"/>
          <a:stretch>
            <a:fillRect/>
          </a:stretch>
        </p:blipFill>
        <p:spPr>
          <a:xfrm>
            <a:off x="6477000" y="2103120"/>
            <a:ext cx="5242560" cy="3931920"/>
          </a:xfrm>
          <a:prstGeom prst="rect">
            <a:avLst/>
          </a:prstGeom>
        </p:spPr>
      </p:pic>
      <p:sp>
        <p:nvSpPr>
          <p:cNvPr id="16" name="TextBox 15"/>
          <p:cNvSpPr txBox="1"/>
          <p:nvPr/>
        </p:nvSpPr>
        <p:spPr>
          <a:xfrm>
            <a:off x="6446520" y="6080760"/>
            <a:ext cx="5303520" cy="274320"/>
          </a:xfrm>
          <a:prstGeom prst="rect">
            <a:avLst/>
          </a:prstGeom>
          <a:noFill/>
        </p:spPr>
        <p:txBody>
          <a:bodyPr wrap="square" lIns="0" rIns="0" tIns="36576" bIns="36576" anchor="t">
            <a:spAutoFit/>
          </a:bodyPr>
          <a:lstStyle/>
          <a:p>
            <a:pPr algn="ctr">
              <a:spcAft>
                <a:spcPts val="400"/>
              </a:spcAft>
            </a:pPr>
            <a:r>
              <a:rPr sz="1000" b="0" i="1">
                <a:solidFill>
                  <a:srgbClr val="5F6C7B"/>
                </a:solidFill>
                <a:latin typeface="Inter"/>
              </a:rPr>
              <a:t>Held-out positive case: follicle counts dominate the enhanced-model explanation.</a:t>
            </a:r>
          </a:p>
        </p:txBody>
      </p:sp>
      <p:sp>
        <p:nvSpPr>
          <p:cNvPr id="17" name="TextBox 16"/>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EXTERNAL BENCHMARKS</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We benchmarked against both modern ML and clinical rules.</a:t>
            </a:r>
          </a:p>
        </p:txBody>
      </p:sp>
      <p:pic>
        <p:nvPicPr>
          <p:cNvPr id="9" name="Picture 8" descr="tabpfn_vs_rf_auc.png"/>
          <p:cNvPicPr>
            <a:picLocks noChangeAspect="1"/>
          </p:cNvPicPr>
          <p:nvPr/>
        </p:nvPicPr>
        <p:blipFill>
          <a:blip r:embed="rId2"/>
          <a:stretch>
            <a:fillRect/>
          </a:stretch>
        </p:blipFill>
        <p:spPr>
          <a:xfrm>
            <a:off x="502920" y="2026920"/>
            <a:ext cx="5852160" cy="3901440"/>
          </a:xfrm>
          <a:prstGeom prst="rect">
            <a:avLst/>
          </a:prstGeom>
        </p:spPr>
      </p:pic>
      <p:sp>
        <p:nvSpPr>
          <p:cNvPr id="10" name="TextBox 9"/>
          <p:cNvSpPr txBox="1"/>
          <p:nvPr/>
        </p:nvSpPr>
        <p:spPr>
          <a:xfrm>
            <a:off x="502920" y="5943600"/>
            <a:ext cx="5852160" cy="274320"/>
          </a:xfrm>
          <a:prstGeom prst="rect">
            <a:avLst/>
          </a:prstGeom>
          <a:noFill/>
        </p:spPr>
        <p:txBody>
          <a:bodyPr wrap="square" lIns="0" rIns="0" tIns="36576" bIns="36576" anchor="t">
            <a:spAutoFit/>
          </a:bodyPr>
          <a:lstStyle/>
          <a:p>
            <a:pPr algn="ctr">
              <a:spcAft>
                <a:spcPts val="400"/>
              </a:spcAft>
            </a:pPr>
            <a:r>
              <a:rPr sz="1000" b="0" i="1">
                <a:solidFill>
                  <a:srgbClr val="5F6C7B"/>
                </a:solidFill>
                <a:latin typeface="Inter"/>
              </a:rPr>
              <a:t>TabPFN-v2 (foundation model) vs the random-forest pipelines.</a:t>
            </a:r>
          </a:p>
        </p:txBody>
      </p:sp>
      <p:sp>
        <p:nvSpPr>
          <p:cNvPr id="11" name="Rounded Rectangle 10"/>
          <p:cNvSpPr/>
          <p:nvPr/>
        </p:nvSpPr>
        <p:spPr>
          <a:xfrm>
            <a:off x="6492240" y="2011680"/>
            <a:ext cx="5303520" cy="118872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92240" y="2011680"/>
            <a:ext cx="91440" cy="118872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2" y="2194560"/>
            <a:ext cx="4974336" cy="91440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TabPFN-v2 benchmark</a:t>
            </a:r>
          </a:p>
          <a:p>
            <a:pPr algn="l"/>
            <a:r>
              <a:rPr sz="1200" b="0" i="0">
                <a:solidFill>
                  <a:srgbClr val="5F6C7B"/>
                </a:solidFill>
                <a:latin typeface="Inter"/>
              </a:rPr>
              <a:t>AUC 0.905 screening / 0.962 enhanced; trades away recall at our clinical threshold and is slower on CPU.</a:t>
            </a:r>
          </a:p>
        </p:txBody>
      </p:sp>
      <p:sp>
        <p:nvSpPr>
          <p:cNvPr id="14" name="Rounded Rectangle 13"/>
          <p:cNvSpPr/>
          <p:nvPr/>
        </p:nvSpPr>
        <p:spPr>
          <a:xfrm>
            <a:off x="6492240" y="3337560"/>
            <a:ext cx="5303520" cy="109728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3337560"/>
            <a:ext cx="91440" cy="109728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3520440"/>
            <a:ext cx="4974336" cy="822960"/>
          </a:xfrm>
          <a:prstGeom prst="rect">
            <a:avLst/>
          </a:prstGeom>
          <a:noFill/>
        </p:spPr>
        <p:txBody>
          <a:bodyPr wrap="square" lIns="73152" rIns="73152" tIns="36576" bIns="36576" anchor="t">
            <a:spAutoFit/>
          </a:bodyPr>
          <a:lstStyle/>
          <a:p>
            <a:pPr algn="l">
              <a:spcAft>
                <a:spcPts val="400"/>
              </a:spcAft>
            </a:pPr>
            <a:r>
              <a:rPr sz="1450" b="1" i="0">
                <a:solidFill>
                  <a:srgbClr val="1F3A5F"/>
                </a:solidFill>
                <a:latin typeface="Inter"/>
              </a:rPr>
              <a:t>Rotterdam comparison</a:t>
            </a:r>
          </a:p>
          <a:p>
            <a:pPr algn="l"/>
            <a:r>
              <a:rPr sz="1200" b="0" i="0">
                <a:solidFill>
                  <a:srgbClr val="5F6C7B"/>
                </a:solidFill>
                <a:latin typeface="Inter"/>
              </a:rPr>
              <a:t>Enhanced ML adds 9.1 sensitivity points with a 1.1 specificity-point cost versus a hand-coded 2-of-3 rule.</a:t>
            </a:r>
          </a:p>
        </p:txBody>
      </p:sp>
      <p:pic>
        <p:nvPicPr>
          <p:cNvPr id="17" name="Picture 16" descr="rotterdam_vs_ml.png"/>
          <p:cNvPicPr>
            <a:picLocks noChangeAspect="1"/>
          </p:cNvPicPr>
          <p:nvPr/>
        </p:nvPicPr>
        <p:blipFill>
          <a:blip r:embed="rId3"/>
          <a:stretch>
            <a:fillRect/>
          </a:stretch>
        </p:blipFill>
        <p:spPr>
          <a:xfrm>
            <a:off x="7719223" y="4526280"/>
            <a:ext cx="2849554" cy="1691640"/>
          </a:xfrm>
          <a:prstGeom prst="rect">
            <a:avLst/>
          </a:prstGeom>
        </p:spPr>
      </p:pic>
      <p:sp>
        <p:nvSpPr>
          <p:cNvPr id="18" name="TextBox 17"/>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DIFFERENTIAL DIAGNOSIS PROMPT</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3000" b="1" i="0">
                <a:solidFill>
                  <a:srgbClr val="1F3A5F"/>
                </a:solidFill>
                <a:latin typeface="Inter"/>
              </a:rPr>
              <a:t>PCOS Pathfinder avoids tunnel vision.</a:t>
            </a:r>
          </a:p>
        </p:txBody>
      </p:sp>
      <p:sp>
        <p:nvSpPr>
          <p:cNvPr id="9" name="TextBox 8"/>
          <p:cNvSpPr txBox="1"/>
          <p:nvPr/>
        </p:nvSpPr>
        <p:spPr>
          <a:xfrm>
            <a:off x="502920" y="1920240"/>
            <a:ext cx="6766560" cy="914400"/>
          </a:xfrm>
          <a:prstGeom prst="rect">
            <a:avLst/>
          </a:prstGeom>
          <a:noFill/>
        </p:spPr>
        <p:txBody>
          <a:bodyPr wrap="square" lIns="0" rIns="0" tIns="36576" bIns="36576" anchor="t">
            <a:spAutoFit/>
          </a:bodyPr>
          <a:lstStyle/>
          <a:p>
            <a:pPr algn="l">
              <a:spcAft>
                <a:spcPts val="400"/>
              </a:spcAft>
            </a:pPr>
            <a:r>
              <a:rPr sz="1400" b="0" i="0">
                <a:solidFill>
                  <a:srgbClr val="5F6C7B"/>
                </a:solidFill>
                <a:latin typeface="Inter"/>
              </a:rPr>
              <a:t>The endometriosis module is intentionally modest: a synthetic-data prompt that says "consider broader workup," not "diagnose endometriosis."</a:t>
            </a:r>
          </a:p>
        </p:txBody>
      </p:sp>
      <p:sp>
        <p:nvSpPr>
          <p:cNvPr id="10" name="Rounded Rectangle 9"/>
          <p:cNvSpPr/>
          <p:nvPr/>
        </p:nvSpPr>
        <p:spPr>
          <a:xfrm>
            <a:off x="502920" y="3200400"/>
            <a:ext cx="2103120" cy="14630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200400"/>
            <a:ext cx="2103120" cy="64008"/>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383280"/>
            <a:ext cx="2103120" cy="1188720"/>
          </a:xfrm>
          <a:prstGeom prst="rect">
            <a:avLst/>
          </a:prstGeom>
          <a:noFill/>
        </p:spPr>
        <p:txBody>
          <a:bodyPr wrap="square" lIns="0" rIns="0" tIns="36576" bIns="36576" anchor="t">
            <a:spAutoFit/>
          </a:bodyPr>
          <a:lstStyle/>
          <a:p>
            <a:pPr algn="ctr">
              <a:spcAft>
                <a:spcPts val="400"/>
              </a:spcAft>
            </a:pPr>
            <a:r>
              <a:rPr sz="3600" b="1" i="0">
                <a:solidFill>
                  <a:srgbClr val="007C89"/>
                </a:solidFill>
                <a:latin typeface="Inter"/>
              </a:rPr>
              <a:t>0.660</a:t>
            </a:r>
          </a:p>
          <a:p>
            <a:pPr algn="ctr"/>
            <a:r>
              <a:rPr sz="1100" b="0" i="0">
                <a:solidFill>
                  <a:srgbClr val="5F6C7B"/>
                </a:solidFill>
                <a:latin typeface="Inter"/>
              </a:rPr>
              <a:t>Overlap AUC</a:t>
            </a:r>
          </a:p>
        </p:txBody>
      </p:sp>
      <p:sp>
        <p:nvSpPr>
          <p:cNvPr id="13" name="Rounded Rectangle 12"/>
          <p:cNvSpPr/>
          <p:nvPr/>
        </p:nvSpPr>
        <p:spPr>
          <a:xfrm>
            <a:off x="2788920" y="3200400"/>
            <a:ext cx="2103120" cy="14630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88920" y="3200400"/>
            <a:ext cx="2103120" cy="6400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3383280"/>
            <a:ext cx="2103120" cy="1188720"/>
          </a:xfrm>
          <a:prstGeom prst="rect">
            <a:avLst/>
          </a:prstGeom>
          <a:noFill/>
        </p:spPr>
        <p:txBody>
          <a:bodyPr wrap="square" lIns="0" rIns="0" tIns="36576" bIns="36576" anchor="t">
            <a:spAutoFit/>
          </a:bodyPr>
          <a:lstStyle/>
          <a:p>
            <a:pPr algn="ctr">
              <a:spcAft>
                <a:spcPts val="400"/>
              </a:spcAft>
            </a:pPr>
            <a:r>
              <a:rPr sz="3600" b="1" i="0">
                <a:solidFill>
                  <a:srgbClr val="D95D39"/>
                </a:solidFill>
                <a:latin typeface="Inter"/>
              </a:rPr>
              <a:t>6</a:t>
            </a:r>
          </a:p>
          <a:p>
            <a:pPr algn="ctr"/>
            <a:r>
              <a:rPr sz="1100" b="0" i="0">
                <a:solidFill>
                  <a:srgbClr val="5F6C7B"/>
                </a:solidFill>
                <a:latin typeface="Inter"/>
              </a:rPr>
              <a:t>Prompt features</a:t>
            </a:r>
          </a:p>
        </p:txBody>
      </p:sp>
      <p:sp>
        <p:nvSpPr>
          <p:cNvPr id="16" name="Rounded Rectangle 15"/>
          <p:cNvSpPr/>
          <p:nvPr/>
        </p:nvSpPr>
        <p:spPr>
          <a:xfrm>
            <a:off x="5074920" y="3200400"/>
            <a:ext cx="2103120" cy="14630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74920" y="3200400"/>
            <a:ext cx="2103120" cy="64008"/>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3383280"/>
            <a:ext cx="2103120" cy="1188720"/>
          </a:xfrm>
          <a:prstGeom prst="rect">
            <a:avLst/>
          </a:prstGeom>
          <a:noFill/>
        </p:spPr>
        <p:txBody>
          <a:bodyPr wrap="square" lIns="0" rIns="0" tIns="36576" bIns="36576" anchor="t">
            <a:spAutoFit/>
          </a:bodyPr>
          <a:lstStyle/>
          <a:p>
            <a:pPr algn="ctr">
              <a:spcAft>
                <a:spcPts val="400"/>
              </a:spcAft>
            </a:pPr>
            <a:r>
              <a:rPr sz="3600" b="1" i="0">
                <a:solidFill>
                  <a:srgbClr val="C98910"/>
                </a:solidFill>
                <a:latin typeface="Inter"/>
              </a:rPr>
              <a:t>0</a:t>
            </a:r>
          </a:p>
          <a:p>
            <a:pPr algn="ctr"/>
            <a:r>
              <a:rPr sz="1100" b="0" i="0">
                <a:solidFill>
                  <a:srgbClr val="5F6C7B"/>
                </a:solidFill>
                <a:latin typeface="Inter"/>
              </a:rPr>
              <a:t>Diagnostic overclaim</a:t>
            </a:r>
          </a:p>
        </p:txBody>
      </p:sp>
      <p:pic>
        <p:nvPicPr>
          <p:cNvPr id="19" name="Picture 18" descr="endometriosis_confusion_matrix.png"/>
          <p:cNvPicPr>
            <a:picLocks noChangeAspect="1"/>
          </p:cNvPicPr>
          <p:nvPr/>
        </p:nvPicPr>
        <p:blipFill>
          <a:blip r:embed="rId2"/>
          <a:stretch>
            <a:fillRect/>
          </a:stretch>
        </p:blipFill>
        <p:spPr>
          <a:xfrm>
            <a:off x="7269480" y="2231136"/>
            <a:ext cx="4480560" cy="3584448"/>
          </a:xfrm>
          <a:prstGeom prst="rect">
            <a:avLst/>
          </a:prstGeom>
        </p:spPr>
      </p:pic>
      <p:sp>
        <p:nvSpPr>
          <p:cNvPr id="20" name="TextBox 19"/>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APP WALKTHROUGH  ·  TWO HELD-OUT CASES</a:t>
            </a:r>
          </a:p>
        </p:txBody>
      </p:sp>
      <p:sp>
        <p:nvSpPr>
          <p:cNvPr id="8" name="TextBox 7"/>
          <p:cNvSpPr txBox="1"/>
          <p:nvPr/>
        </p:nvSpPr>
        <p:spPr>
          <a:xfrm>
            <a:off x="502920" y="713232"/>
            <a:ext cx="11185855" cy="868680"/>
          </a:xfrm>
          <a:prstGeom prst="rect">
            <a:avLst/>
          </a:prstGeom>
          <a:noFill/>
        </p:spPr>
        <p:txBody>
          <a:bodyPr wrap="square" lIns="0" rIns="0" tIns="36576" bIns="36576" anchor="t">
            <a:spAutoFit/>
          </a:bodyPr>
          <a:lstStyle/>
          <a:p>
            <a:pPr algn="l"/>
            <a:r>
              <a:rPr sz="2400" b="1" i="0">
                <a:solidFill>
                  <a:srgbClr val="1F3A5F"/>
                </a:solidFill>
                <a:latin typeface="Inter"/>
              </a:rPr>
              <a:t>What the clinician sees — high-risk vs. low-risk patient.</a:t>
            </a:r>
          </a:p>
        </p:txBody>
      </p:sp>
      <p:sp>
        <p:nvSpPr>
          <p:cNvPr id="9" name="Rounded Rectangle 8"/>
          <p:cNvSpPr/>
          <p:nvPr/>
        </p:nvSpPr>
        <p:spPr>
          <a:xfrm>
            <a:off x="502920" y="1691640"/>
            <a:ext cx="5455767" cy="493776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91440" cy="493776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837944"/>
            <a:ext cx="5053431" cy="329184"/>
          </a:xfrm>
          <a:prstGeom prst="rect">
            <a:avLst/>
          </a:prstGeom>
          <a:noFill/>
        </p:spPr>
        <p:txBody>
          <a:bodyPr wrap="square" lIns="73152" rIns="73152" tIns="36576" bIns="36576" anchor="t">
            <a:spAutoFit/>
          </a:bodyPr>
          <a:lstStyle/>
          <a:p>
            <a:pPr algn="l">
              <a:spcAft>
                <a:spcPts val="400"/>
              </a:spcAft>
            </a:pPr>
            <a:r>
              <a:rPr sz="1300" b="1" i="0">
                <a:solidFill>
                  <a:srgbClr val="D95D39"/>
                </a:solidFill>
                <a:latin typeface="Inter"/>
              </a:rPr>
              <a:t>High-risk  ·  test-set row 395  ·  PCOS-positive (true)</a:t>
            </a:r>
          </a:p>
        </p:txBody>
      </p:sp>
      <p:sp>
        <p:nvSpPr>
          <p:cNvPr id="12" name="TextBox 11"/>
          <p:cNvSpPr txBox="1"/>
          <p:nvPr/>
        </p:nvSpPr>
        <p:spPr>
          <a:xfrm>
            <a:off x="704088" y="2221992"/>
            <a:ext cx="5053431" cy="1371600"/>
          </a:xfrm>
          <a:prstGeom prst="rect">
            <a:avLst/>
          </a:prstGeom>
          <a:noFill/>
        </p:spPr>
        <p:txBody>
          <a:bodyPr wrap="square" lIns="73152" rIns="73152" tIns="36576" bIns="36576" anchor="t">
            <a:spAutoFit/>
          </a:bodyPr>
          <a:lstStyle/>
          <a:p>
            <a:pPr algn="l">
              <a:spcAft>
                <a:spcPts val="400"/>
              </a:spcAft>
            </a:pPr>
            <a:r>
              <a:rPr sz="1100" b="1" i="0">
                <a:solidFill>
                  <a:srgbClr val="007C89"/>
                </a:solidFill>
                <a:latin typeface="Inter"/>
              </a:rPr>
              <a:t>Patient intake (key features)</a:t>
            </a:r>
          </a:p>
          <a:p>
            <a:pPr algn="l">
              <a:spcAft>
                <a:spcPts val="200"/>
              </a:spcAft>
            </a:pPr>
            <a:r>
              <a:rPr sz="1050" b="0" i="0">
                <a:solidFill>
                  <a:srgbClr val="5F6C7B"/>
                </a:solidFill>
                <a:latin typeface="Inter"/>
              </a:rPr>
              <a:t>BMI              </a:t>
            </a:r>
            <a:r>
              <a:rPr sz="1050" b="1" i="0">
                <a:solidFill>
                  <a:srgbClr val="D95D39"/>
                </a:solidFill>
                <a:latin typeface="Inter"/>
              </a:rPr>
              <a:t>29.3</a:t>
            </a:r>
          </a:p>
          <a:p>
            <a:pPr algn="l">
              <a:spcAft>
                <a:spcPts val="200"/>
              </a:spcAft>
            </a:pPr>
            <a:r>
              <a:rPr sz="1050" b="0" i="0">
                <a:solidFill>
                  <a:srgbClr val="5F6C7B"/>
                </a:solidFill>
                <a:latin typeface="Inter"/>
              </a:rPr>
              <a:t>Cycle            </a:t>
            </a:r>
            <a:r>
              <a:rPr sz="1050" b="1" i="0">
                <a:solidFill>
                  <a:srgbClr val="D95D39"/>
                </a:solidFill>
                <a:latin typeface="Inter"/>
              </a:rPr>
              <a:t>Irregular</a:t>
            </a:r>
          </a:p>
          <a:p>
            <a:pPr algn="l">
              <a:spcAft>
                <a:spcPts val="200"/>
              </a:spcAft>
            </a:pPr>
            <a:r>
              <a:rPr sz="1050" b="0" i="0">
                <a:solidFill>
                  <a:srgbClr val="5F6C7B"/>
                </a:solidFill>
                <a:latin typeface="Inter"/>
              </a:rPr>
              <a:t>Skin darkening   </a:t>
            </a:r>
            <a:r>
              <a:rPr sz="1050" b="1" i="0">
                <a:solidFill>
                  <a:srgbClr val="D95D39"/>
                </a:solidFill>
                <a:latin typeface="Inter"/>
              </a:rPr>
              <a:t>Yes</a:t>
            </a:r>
          </a:p>
          <a:p>
            <a:pPr algn="l">
              <a:spcAft>
                <a:spcPts val="200"/>
              </a:spcAft>
            </a:pPr>
            <a:r>
              <a:rPr sz="1050" b="0" i="0">
                <a:solidFill>
                  <a:srgbClr val="5F6C7B"/>
                </a:solidFill>
                <a:latin typeface="Inter"/>
              </a:rPr>
              <a:t>AMH              </a:t>
            </a:r>
            <a:r>
              <a:rPr sz="1050" b="1" i="0">
                <a:solidFill>
                  <a:srgbClr val="D95D39"/>
                </a:solidFill>
                <a:latin typeface="Inter"/>
              </a:rPr>
              <a:t>6.0 ng/mL</a:t>
            </a:r>
          </a:p>
          <a:p>
            <a:pPr algn="l">
              <a:spcAft>
                <a:spcPts val="200"/>
              </a:spcAft>
            </a:pPr>
            <a:r>
              <a:rPr sz="1050" b="0" i="0">
                <a:solidFill>
                  <a:srgbClr val="5F6C7B"/>
                </a:solidFill>
                <a:latin typeface="Inter"/>
              </a:rPr>
              <a:t>Follicles L/R    </a:t>
            </a:r>
            <a:r>
              <a:rPr sz="1050" b="1" i="0">
                <a:solidFill>
                  <a:srgbClr val="D95D39"/>
                </a:solidFill>
                <a:latin typeface="Inter"/>
              </a:rPr>
              <a:t>10 / 9</a:t>
            </a:r>
          </a:p>
        </p:txBody>
      </p:sp>
      <p:sp>
        <p:nvSpPr>
          <p:cNvPr id="13" name="TextBox 12"/>
          <p:cNvSpPr txBox="1"/>
          <p:nvPr/>
        </p:nvSpPr>
        <p:spPr>
          <a:xfrm>
            <a:off x="704088" y="3913632"/>
            <a:ext cx="5053431" cy="274320"/>
          </a:xfrm>
          <a:prstGeom prst="rect">
            <a:avLst/>
          </a:prstGeom>
          <a:noFill/>
        </p:spPr>
        <p:txBody>
          <a:bodyPr wrap="square" lIns="73152" rIns="73152" tIns="36576" bIns="36576" anchor="t">
            <a:spAutoFit/>
          </a:bodyPr>
          <a:lstStyle/>
          <a:p>
            <a:pPr algn="l">
              <a:spcAft>
                <a:spcPts val="400"/>
              </a:spcAft>
            </a:pPr>
            <a:r>
              <a:rPr sz="1100" b="1" i="0">
                <a:solidFill>
                  <a:srgbClr val="007C89"/>
                </a:solidFill>
                <a:latin typeface="Inter"/>
              </a:rPr>
              <a:t>Tiered assessment</a:t>
            </a:r>
          </a:p>
        </p:txBody>
      </p:sp>
      <p:sp>
        <p:nvSpPr>
          <p:cNvPr id="14" name="Rounded Rectangle 13"/>
          <p:cNvSpPr/>
          <p:nvPr/>
        </p:nvSpPr>
        <p:spPr>
          <a:xfrm>
            <a:off x="704088" y="4206240"/>
            <a:ext cx="5053431" cy="384048"/>
          </a:xfrm>
          <a:prstGeom prst="roundRect">
            <a:avLst>
              <a:gd name="adj" fmla="val 5000"/>
            </a:avLst>
          </a:prstGeom>
          <a:solidFill>
            <a:srgbClr val="F8FAFC"/>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4088" y="4206240"/>
            <a:ext cx="91440" cy="38404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06240"/>
            <a:ext cx="4824831" cy="384048"/>
          </a:xfrm>
          <a:prstGeom prst="rect">
            <a:avLst/>
          </a:prstGeom>
          <a:noFill/>
        </p:spPr>
        <p:txBody>
          <a:bodyPr wrap="square" lIns="0" rIns="0" tIns="36576" bIns="36576" anchor="ctr">
            <a:spAutoFit/>
          </a:bodyPr>
          <a:lstStyle/>
          <a:p>
            <a:pPr algn="l">
              <a:spcAft>
                <a:spcPts val="400"/>
              </a:spcAft>
            </a:pPr>
            <a:r>
              <a:rPr sz="1050" b="1" i="0">
                <a:solidFill>
                  <a:srgbClr val="1F3A5F"/>
                </a:solidFill>
                <a:latin typeface="Inter"/>
              </a:rPr>
              <a:t>Frontline screening</a:t>
            </a:r>
            <a:r>
              <a:rPr sz="1000" b="0" i="0">
                <a:solidFill>
                  <a:srgbClr val="5F6C7B"/>
                </a:solidFill>
                <a:latin typeface="Inter"/>
              </a:rPr>
              <a:t>   p=</a:t>
            </a:r>
            <a:r>
              <a:rPr sz="1150" b="1" i="0">
                <a:solidFill>
                  <a:srgbClr val="D95D39"/>
                </a:solidFill>
                <a:latin typeface="Inter"/>
              </a:rPr>
              <a:t>88.6%</a:t>
            </a:r>
            <a:r>
              <a:rPr sz="1000" b="0" i="0">
                <a:solidFill>
                  <a:srgbClr val="5F6C7B"/>
                </a:solidFill>
                <a:latin typeface="Inter"/>
              </a:rPr>
              <a:t>  thr 0.29   </a:t>
            </a:r>
            <a:r>
              <a:rPr sz="1050" b="1" i="0">
                <a:solidFill>
                  <a:srgbClr val="D95D39"/>
                </a:solidFill>
                <a:latin typeface="Inter"/>
              </a:rPr>
              <a:t>HIGH</a:t>
            </a:r>
          </a:p>
        </p:txBody>
      </p:sp>
      <p:sp>
        <p:nvSpPr>
          <p:cNvPr id="17" name="Rounded Rectangle 16"/>
          <p:cNvSpPr/>
          <p:nvPr/>
        </p:nvSpPr>
        <p:spPr>
          <a:xfrm>
            <a:off x="704088" y="4645152"/>
            <a:ext cx="5053431" cy="384048"/>
          </a:xfrm>
          <a:prstGeom prst="roundRect">
            <a:avLst>
              <a:gd name="adj" fmla="val 5000"/>
            </a:avLst>
          </a:prstGeom>
          <a:solidFill>
            <a:srgbClr val="F8FAFC"/>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4088" y="4645152"/>
            <a:ext cx="91440" cy="38404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645152"/>
            <a:ext cx="4824831" cy="384048"/>
          </a:xfrm>
          <a:prstGeom prst="rect">
            <a:avLst/>
          </a:prstGeom>
          <a:noFill/>
        </p:spPr>
        <p:txBody>
          <a:bodyPr wrap="square" lIns="0" rIns="0" tIns="36576" bIns="36576" anchor="ctr">
            <a:spAutoFit/>
          </a:bodyPr>
          <a:lstStyle/>
          <a:p>
            <a:pPr algn="l">
              <a:spcAft>
                <a:spcPts val="400"/>
              </a:spcAft>
            </a:pPr>
            <a:r>
              <a:rPr sz="1050" b="1" i="0">
                <a:solidFill>
                  <a:srgbClr val="1F3A5F"/>
                </a:solidFill>
                <a:latin typeface="Inter"/>
              </a:rPr>
              <a:t>Enhanced (labs + ultrasound)</a:t>
            </a:r>
            <a:r>
              <a:rPr sz="1000" b="0" i="0">
                <a:solidFill>
                  <a:srgbClr val="5F6C7B"/>
                </a:solidFill>
                <a:latin typeface="Inter"/>
              </a:rPr>
              <a:t>   p=</a:t>
            </a:r>
            <a:r>
              <a:rPr sz="1150" b="1" i="0">
                <a:solidFill>
                  <a:srgbClr val="D95D39"/>
                </a:solidFill>
                <a:latin typeface="Inter"/>
              </a:rPr>
              <a:t>90.7%</a:t>
            </a:r>
            <a:r>
              <a:rPr sz="1000" b="0" i="0">
                <a:solidFill>
                  <a:srgbClr val="5F6C7B"/>
                </a:solidFill>
                <a:latin typeface="Inter"/>
              </a:rPr>
              <a:t>  thr 0.38   </a:t>
            </a:r>
            <a:r>
              <a:rPr sz="1050" b="1" i="0">
                <a:solidFill>
                  <a:srgbClr val="D95D39"/>
                </a:solidFill>
                <a:latin typeface="Inter"/>
              </a:rPr>
              <a:t>HIGH</a:t>
            </a:r>
          </a:p>
        </p:txBody>
      </p:sp>
      <p:sp>
        <p:nvSpPr>
          <p:cNvPr id="20" name="TextBox 19"/>
          <p:cNvSpPr txBox="1"/>
          <p:nvPr/>
        </p:nvSpPr>
        <p:spPr>
          <a:xfrm>
            <a:off x="704088" y="5221224"/>
            <a:ext cx="5053431" cy="1280160"/>
          </a:xfrm>
          <a:prstGeom prst="rect">
            <a:avLst/>
          </a:prstGeom>
          <a:noFill/>
        </p:spPr>
        <p:txBody>
          <a:bodyPr wrap="square" lIns="73152" rIns="73152" tIns="36576" bIns="36576" anchor="t">
            <a:spAutoFit/>
          </a:bodyPr>
          <a:lstStyle/>
          <a:p>
            <a:pPr algn="l">
              <a:spcAft>
                <a:spcPts val="400"/>
              </a:spcAft>
            </a:pPr>
            <a:r>
              <a:rPr sz="1100" b="1" i="0">
                <a:solidFill>
                  <a:srgbClr val="007C89"/>
                </a:solidFill>
                <a:latin typeface="Inter"/>
              </a:rPr>
              <a:t>Top SHAP drivers (enhanced)</a:t>
            </a:r>
          </a:p>
          <a:p>
            <a:pPr algn="l">
              <a:spcAft>
                <a:spcPts val="200"/>
              </a:spcAft>
            </a:pPr>
            <a:r>
              <a:rPr sz="1050" b="0" i="0">
                <a:solidFill>
                  <a:srgbClr val="14213D"/>
                </a:solidFill>
                <a:latin typeface="Consolas"/>
              </a:rPr>
              <a:t>follicle_no_r     </a:t>
            </a:r>
            <a:r>
              <a:rPr sz="1050" b="0" i="0">
                <a:solidFill>
                  <a:srgbClr val="5F6C7B"/>
                </a:solidFill>
                <a:latin typeface="Consolas"/>
              </a:rPr>
              <a:t>     9   </a:t>
            </a:r>
            <a:r>
              <a:rPr sz="1050" b="1" i="0">
                <a:solidFill>
                  <a:srgbClr val="D95D39"/>
                </a:solidFill>
                <a:latin typeface="Consolas"/>
              </a:rPr>
              <a:t> +0.092  </a:t>
            </a:r>
            <a:r>
              <a:rPr sz="1100" b="1" i="0">
                <a:solidFill>
                  <a:srgbClr val="D95D39"/>
                </a:solidFill>
                <a:latin typeface="Consolas"/>
              </a:rPr>
              <a:t>↑</a:t>
            </a:r>
          </a:p>
          <a:p>
            <a:pPr algn="l">
              <a:spcAft>
                <a:spcPts val="200"/>
              </a:spcAft>
            </a:pPr>
            <a:r>
              <a:rPr sz="1050" b="0" i="0">
                <a:solidFill>
                  <a:srgbClr val="14213D"/>
                </a:solidFill>
                <a:latin typeface="Consolas"/>
              </a:rPr>
              <a:t>follicle_no_l     </a:t>
            </a:r>
            <a:r>
              <a:rPr sz="1050" b="0" i="0">
                <a:solidFill>
                  <a:srgbClr val="5F6C7B"/>
                </a:solidFill>
                <a:latin typeface="Consolas"/>
              </a:rPr>
              <a:t>    10   </a:t>
            </a:r>
            <a:r>
              <a:rPr sz="1050" b="1" i="0">
                <a:solidFill>
                  <a:srgbClr val="D95D39"/>
                </a:solidFill>
                <a:latin typeface="Consolas"/>
              </a:rPr>
              <a:t> +0.090  </a:t>
            </a:r>
            <a:r>
              <a:rPr sz="1100" b="1" i="0">
                <a:solidFill>
                  <a:srgbClr val="D95D39"/>
                </a:solidFill>
                <a:latin typeface="Consolas"/>
              </a:rPr>
              <a:t>↑</a:t>
            </a:r>
          </a:p>
          <a:p>
            <a:pPr algn="l">
              <a:spcAft>
                <a:spcPts val="200"/>
              </a:spcAft>
            </a:pPr>
            <a:r>
              <a:rPr sz="1050" b="0" i="0">
                <a:solidFill>
                  <a:srgbClr val="14213D"/>
                </a:solidFill>
                <a:latin typeface="Consolas"/>
              </a:rPr>
              <a:t>skin_darkening    </a:t>
            </a:r>
            <a:r>
              <a:rPr sz="1050" b="0" i="0">
                <a:solidFill>
                  <a:srgbClr val="5F6C7B"/>
                </a:solidFill>
                <a:latin typeface="Consolas"/>
              </a:rPr>
              <a:t>     1   </a:t>
            </a:r>
            <a:r>
              <a:rPr sz="1050" b="1" i="0">
                <a:solidFill>
                  <a:srgbClr val="D95D39"/>
                </a:solidFill>
                <a:latin typeface="Consolas"/>
              </a:rPr>
              <a:t> +0.069  </a:t>
            </a:r>
            <a:r>
              <a:rPr sz="1100" b="1" i="0">
                <a:solidFill>
                  <a:srgbClr val="D95D39"/>
                </a:solidFill>
                <a:latin typeface="Consolas"/>
              </a:rPr>
              <a:t>↑</a:t>
            </a:r>
          </a:p>
        </p:txBody>
      </p:sp>
      <p:sp>
        <p:nvSpPr>
          <p:cNvPr id="21" name="TextBox 20"/>
          <p:cNvSpPr txBox="1"/>
          <p:nvPr/>
        </p:nvSpPr>
        <p:spPr>
          <a:xfrm>
            <a:off x="704088" y="6245352"/>
            <a:ext cx="5053431" cy="320040"/>
          </a:xfrm>
          <a:prstGeom prst="rect">
            <a:avLst/>
          </a:prstGeom>
          <a:noFill/>
        </p:spPr>
        <p:txBody>
          <a:bodyPr wrap="square" lIns="73152" rIns="73152" tIns="36576" bIns="36576" anchor="t">
            <a:spAutoFit/>
          </a:bodyPr>
          <a:lstStyle/>
          <a:p>
            <a:pPr algn="l">
              <a:spcAft>
                <a:spcPts val="400"/>
              </a:spcAft>
            </a:pPr>
            <a:r>
              <a:rPr sz="950" b="0" i="1">
                <a:solidFill>
                  <a:srgbClr val="5F6C7B"/>
                </a:solidFill>
                <a:latin typeface="Inter"/>
              </a:rPr>
              <a:t>All four Rotterdam-style checklist boxes tick. SHAP led by ovarian morphology.</a:t>
            </a:r>
          </a:p>
        </p:txBody>
      </p:sp>
      <p:sp>
        <p:nvSpPr>
          <p:cNvPr id="22" name="Rounded Rectangle 21"/>
          <p:cNvSpPr/>
          <p:nvPr/>
        </p:nvSpPr>
        <p:spPr>
          <a:xfrm>
            <a:off x="6233007" y="1691640"/>
            <a:ext cx="5455767" cy="493776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3007" y="1691640"/>
            <a:ext cx="91440" cy="4937760"/>
          </a:xfrm>
          <a:prstGeom prst="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4175" y="1837944"/>
            <a:ext cx="5053431" cy="329184"/>
          </a:xfrm>
          <a:prstGeom prst="rect">
            <a:avLst/>
          </a:prstGeom>
          <a:noFill/>
        </p:spPr>
        <p:txBody>
          <a:bodyPr wrap="square" lIns="73152" rIns="73152" tIns="36576" bIns="36576" anchor="t">
            <a:spAutoFit/>
          </a:bodyPr>
          <a:lstStyle/>
          <a:p>
            <a:pPr algn="l">
              <a:spcAft>
                <a:spcPts val="400"/>
              </a:spcAft>
            </a:pPr>
            <a:r>
              <a:rPr sz="1300" b="1" i="0">
                <a:solidFill>
                  <a:srgbClr val="2F855A"/>
                </a:solidFill>
                <a:latin typeface="Inter"/>
              </a:rPr>
              <a:t>Low-risk  ·  test-set row 383  ·  non-PCOS (true)</a:t>
            </a:r>
          </a:p>
        </p:txBody>
      </p:sp>
      <p:sp>
        <p:nvSpPr>
          <p:cNvPr id="25" name="TextBox 24"/>
          <p:cNvSpPr txBox="1"/>
          <p:nvPr/>
        </p:nvSpPr>
        <p:spPr>
          <a:xfrm>
            <a:off x="6434175" y="2221992"/>
            <a:ext cx="5053431" cy="1371600"/>
          </a:xfrm>
          <a:prstGeom prst="rect">
            <a:avLst/>
          </a:prstGeom>
          <a:noFill/>
        </p:spPr>
        <p:txBody>
          <a:bodyPr wrap="square" lIns="73152" rIns="73152" tIns="36576" bIns="36576" anchor="t">
            <a:spAutoFit/>
          </a:bodyPr>
          <a:lstStyle/>
          <a:p>
            <a:pPr algn="l">
              <a:spcAft>
                <a:spcPts val="400"/>
              </a:spcAft>
            </a:pPr>
            <a:r>
              <a:rPr sz="1100" b="1" i="0">
                <a:solidFill>
                  <a:srgbClr val="007C89"/>
                </a:solidFill>
                <a:latin typeface="Inter"/>
              </a:rPr>
              <a:t>Patient intake (key features)</a:t>
            </a:r>
          </a:p>
          <a:p>
            <a:pPr algn="l">
              <a:spcAft>
                <a:spcPts val="200"/>
              </a:spcAft>
            </a:pPr>
            <a:r>
              <a:rPr sz="1050" b="0" i="0">
                <a:solidFill>
                  <a:srgbClr val="5F6C7B"/>
                </a:solidFill>
                <a:latin typeface="Inter"/>
              </a:rPr>
              <a:t>BMI              </a:t>
            </a:r>
            <a:r>
              <a:rPr sz="1050" b="1" i="0">
                <a:solidFill>
                  <a:srgbClr val="14213D"/>
                </a:solidFill>
                <a:latin typeface="Inter"/>
              </a:rPr>
              <a:t>24.2</a:t>
            </a:r>
          </a:p>
          <a:p>
            <a:pPr algn="l">
              <a:spcAft>
                <a:spcPts val="200"/>
              </a:spcAft>
            </a:pPr>
            <a:r>
              <a:rPr sz="1050" b="0" i="0">
                <a:solidFill>
                  <a:srgbClr val="5F6C7B"/>
                </a:solidFill>
                <a:latin typeface="Inter"/>
              </a:rPr>
              <a:t>Cycle            </a:t>
            </a:r>
            <a:r>
              <a:rPr sz="1050" b="1" i="0">
                <a:solidFill>
                  <a:srgbClr val="14213D"/>
                </a:solidFill>
                <a:latin typeface="Inter"/>
              </a:rPr>
              <a:t>Regular</a:t>
            </a:r>
          </a:p>
          <a:p>
            <a:pPr algn="l">
              <a:spcAft>
                <a:spcPts val="200"/>
              </a:spcAft>
            </a:pPr>
            <a:r>
              <a:rPr sz="1050" b="0" i="0">
                <a:solidFill>
                  <a:srgbClr val="5F6C7B"/>
                </a:solidFill>
                <a:latin typeface="Inter"/>
              </a:rPr>
              <a:t>Skin darkening   </a:t>
            </a:r>
            <a:r>
              <a:rPr sz="1050" b="1" i="0">
                <a:solidFill>
                  <a:srgbClr val="2F855A"/>
                </a:solidFill>
                <a:latin typeface="Inter"/>
              </a:rPr>
              <a:t>No</a:t>
            </a:r>
          </a:p>
          <a:p>
            <a:pPr algn="l">
              <a:spcAft>
                <a:spcPts val="200"/>
              </a:spcAft>
            </a:pPr>
            <a:r>
              <a:rPr sz="1050" b="0" i="0">
                <a:solidFill>
                  <a:srgbClr val="5F6C7B"/>
                </a:solidFill>
                <a:latin typeface="Inter"/>
              </a:rPr>
              <a:t>AMH              </a:t>
            </a:r>
            <a:r>
              <a:rPr sz="1050" b="1" i="0">
                <a:solidFill>
                  <a:srgbClr val="D95D39"/>
                </a:solidFill>
                <a:latin typeface="Inter"/>
              </a:rPr>
              <a:t>11.4 ng/mL</a:t>
            </a:r>
          </a:p>
          <a:p>
            <a:pPr algn="l">
              <a:spcAft>
                <a:spcPts val="200"/>
              </a:spcAft>
            </a:pPr>
            <a:r>
              <a:rPr sz="1050" b="0" i="0">
                <a:solidFill>
                  <a:srgbClr val="5F6C7B"/>
                </a:solidFill>
                <a:latin typeface="Inter"/>
              </a:rPr>
              <a:t>Follicles L/R    </a:t>
            </a:r>
            <a:r>
              <a:rPr sz="1050" b="1" i="0">
                <a:solidFill>
                  <a:srgbClr val="14213D"/>
                </a:solidFill>
                <a:latin typeface="Inter"/>
              </a:rPr>
              <a:t>2 / 3</a:t>
            </a:r>
          </a:p>
        </p:txBody>
      </p:sp>
      <p:sp>
        <p:nvSpPr>
          <p:cNvPr id="26" name="TextBox 25"/>
          <p:cNvSpPr txBox="1"/>
          <p:nvPr/>
        </p:nvSpPr>
        <p:spPr>
          <a:xfrm>
            <a:off x="6434175" y="3913632"/>
            <a:ext cx="5053431" cy="274320"/>
          </a:xfrm>
          <a:prstGeom prst="rect">
            <a:avLst/>
          </a:prstGeom>
          <a:noFill/>
        </p:spPr>
        <p:txBody>
          <a:bodyPr wrap="square" lIns="73152" rIns="73152" tIns="36576" bIns="36576" anchor="t">
            <a:spAutoFit/>
          </a:bodyPr>
          <a:lstStyle/>
          <a:p>
            <a:pPr algn="l">
              <a:spcAft>
                <a:spcPts val="400"/>
              </a:spcAft>
            </a:pPr>
            <a:r>
              <a:rPr sz="1100" b="1" i="0">
                <a:solidFill>
                  <a:srgbClr val="007C89"/>
                </a:solidFill>
                <a:latin typeface="Inter"/>
              </a:rPr>
              <a:t>Tiered assessment</a:t>
            </a:r>
          </a:p>
        </p:txBody>
      </p:sp>
      <p:sp>
        <p:nvSpPr>
          <p:cNvPr id="27" name="Rounded Rectangle 26"/>
          <p:cNvSpPr/>
          <p:nvPr/>
        </p:nvSpPr>
        <p:spPr>
          <a:xfrm>
            <a:off x="6434175" y="4206240"/>
            <a:ext cx="5053431" cy="384048"/>
          </a:xfrm>
          <a:prstGeom prst="roundRect">
            <a:avLst>
              <a:gd name="adj" fmla="val 5000"/>
            </a:avLst>
          </a:prstGeom>
          <a:solidFill>
            <a:srgbClr val="F8FAFC"/>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34175" y="4206240"/>
            <a:ext cx="91440" cy="384048"/>
          </a:xfrm>
          <a:prstGeom prst="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8767" y="4206240"/>
            <a:ext cx="4824831" cy="384048"/>
          </a:xfrm>
          <a:prstGeom prst="rect">
            <a:avLst/>
          </a:prstGeom>
          <a:noFill/>
        </p:spPr>
        <p:txBody>
          <a:bodyPr wrap="square" lIns="0" rIns="0" tIns="36576" bIns="36576" anchor="ctr">
            <a:spAutoFit/>
          </a:bodyPr>
          <a:lstStyle/>
          <a:p>
            <a:pPr algn="l">
              <a:spcAft>
                <a:spcPts val="400"/>
              </a:spcAft>
            </a:pPr>
            <a:r>
              <a:rPr sz="1050" b="1" i="0">
                <a:solidFill>
                  <a:srgbClr val="1F3A5F"/>
                </a:solidFill>
                <a:latin typeface="Inter"/>
              </a:rPr>
              <a:t>Frontline screening</a:t>
            </a:r>
            <a:r>
              <a:rPr sz="1000" b="0" i="0">
                <a:solidFill>
                  <a:srgbClr val="5F6C7B"/>
                </a:solidFill>
                <a:latin typeface="Inter"/>
              </a:rPr>
              <a:t>   p=</a:t>
            </a:r>
            <a:r>
              <a:rPr sz="1150" b="1" i="0">
                <a:solidFill>
                  <a:srgbClr val="2F855A"/>
                </a:solidFill>
                <a:latin typeface="Inter"/>
              </a:rPr>
              <a:t>20.8%</a:t>
            </a:r>
            <a:r>
              <a:rPr sz="1000" b="0" i="0">
                <a:solidFill>
                  <a:srgbClr val="5F6C7B"/>
                </a:solidFill>
                <a:latin typeface="Inter"/>
              </a:rPr>
              <a:t>  thr 0.29   </a:t>
            </a:r>
            <a:r>
              <a:rPr sz="1050" b="1" i="0">
                <a:solidFill>
                  <a:srgbClr val="2F855A"/>
                </a:solidFill>
                <a:latin typeface="Inter"/>
              </a:rPr>
              <a:t>LOW</a:t>
            </a:r>
          </a:p>
        </p:txBody>
      </p:sp>
      <p:sp>
        <p:nvSpPr>
          <p:cNvPr id="30" name="Rounded Rectangle 29"/>
          <p:cNvSpPr/>
          <p:nvPr/>
        </p:nvSpPr>
        <p:spPr>
          <a:xfrm>
            <a:off x="6434175" y="4645152"/>
            <a:ext cx="5053431" cy="384048"/>
          </a:xfrm>
          <a:prstGeom prst="roundRect">
            <a:avLst>
              <a:gd name="adj" fmla="val 5000"/>
            </a:avLst>
          </a:prstGeom>
          <a:solidFill>
            <a:srgbClr val="F8FAFC"/>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34175" y="4645152"/>
            <a:ext cx="91440" cy="384048"/>
          </a:xfrm>
          <a:prstGeom prst="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8767" y="4645152"/>
            <a:ext cx="4824831" cy="384048"/>
          </a:xfrm>
          <a:prstGeom prst="rect">
            <a:avLst/>
          </a:prstGeom>
          <a:noFill/>
        </p:spPr>
        <p:txBody>
          <a:bodyPr wrap="square" lIns="0" rIns="0" tIns="36576" bIns="36576" anchor="ctr">
            <a:spAutoFit/>
          </a:bodyPr>
          <a:lstStyle/>
          <a:p>
            <a:pPr algn="l">
              <a:spcAft>
                <a:spcPts val="400"/>
              </a:spcAft>
            </a:pPr>
            <a:r>
              <a:rPr sz="1050" b="1" i="0">
                <a:solidFill>
                  <a:srgbClr val="1F3A5F"/>
                </a:solidFill>
                <a:latin typeface="Inter"/>
              </a:rPr>
              <a:t>Enhanced (labs + ultrasound)</a:t>
            </a:r>
            <a:r>
              <a:rPr sz="1000" b="0" i="0">
                <a:solidFill>
                  <a:srgbClr val="5F6C7B"/>
                </a:solidFill>
                <a:latin typeface="Inter"/>
              </a:rPr>
              <a:t>   p=</a:t>
            </a:r>
            <a:r>
              <a:rPr sz="1150" b="1" i="0">
                <a:solidFill>
                  <a:srgbClr val="2F855A"/>
                </a:solidFill>
                <a:latin typeface="Inter"/>
              </a:rPr>
              <a:t>21.4%</a:t>
            </a:r>
            <a:r>
              <a:rPr sz="1000" b="0" i="0">
                <a:solidFill>
                  <a:srgbClr val="5F6C7B"/>
                </a:solidFill>
                <a:latin typeface="Inter"/>
              </a:rPr>
              <a:t>  thr 0.38   </a:t>
            </a:r>
            <a:r>
              <a:rPr sz="1050" b="1" i="0">
                <a:solidFill>
                  <a:srgbClr val="2F855A"/>
                </a:solidFill>
                <a:latin typeface="Inter"/>
              </a:rPr>
              <a:t>LOW</a:t>
            </a:r>
          </a:p>
        </p:txBody>
      </p:sp>
      <p:sp>
        <p:nvSpPr>
          <p:cNvPr id="33" name="TextBox 32"/>
          <p:cNvSpPr txBox="1"/>
          <p:nvPr/>
        </p:nvSpPr>
        <p:spPr>
          <a:xfrm>
            <a:off x="6434175" y="5221224"/>
            <a:ext cx="5053431" cy="1280160"/>
          </a:xfrm>
          <a:prstGeom prst="rect">
            <a:avLst/>
          </a:prstGeom>
          <a:noFill/>
        </p:spPr>
        <p:txBody>
          <a:bodyPr wrap="square" lIns="73152" rIns="73152" tIns="36576" bIns="36576" anchor="t">
            <a:spAutoFit/>
          </a:bodyPr>
          <a:lstStyle/>
          <a:p>
            <a:pPr algn="l">
              <a:spcAft>
                <a:spcPts val="400"/>
              </a:spcAft>
            </a:pPr>
            <a:r>
              <a:rPr sz="1100" b="1" i="0">
                <a:solidFill>
                  <a:srgbClr val="007C89"/>
                </a:solidFill>
                <a:latin typeface="Inter"/>
              </a:rPr>
              <a:t>Top SHAP drivers (enhanced)</a:t>
            </a:r>
          </a:p>
          <a:p>
            <a:pPr algn="l">
              <a:spcAft>
                <a:spcPts val="200"/>
              </a:spcAft>
            </a:pPr>
            <a:r>
              <a:rPr sz="1050" b="0" i="0">
                <a:solidFill>
                  <a:srgbClr val="14213D"/>
                </a:solidFill>
                <a:latin typeface="Consolas"/>
              </a:rPr>
              <a:t>follicle_no_r     </a:t>
            </a:r>
            <a:r>
              <a:rPr sz="1050" b="0" i="0">
                <a:solidFill>
                  <a:srgbClr val="5F6C7B"/>
                </a:solidFill>
                <a:latin typeface="Consolas"/>
              </a:rPr>
              <a:t>     3   </a:t>
            </a:r>
            <a:r>
              <a:rPr sz="1050" b="1" i="0">
                <a:solidFill>
                  <a:srgbClr val="2F855A"/>
                </a:solidFill>
                <a:latin typeface="Consolas"/>
              </a:rPr>
              <a:t> −0.157  </a:t>
            </a:r>
            <a:r>
              <a:rPr sz="1100" b="1" i="0">
                <a:solidFill>
                  <a:srgbClr val="2F855A"/>
                </a:solidFill>
                <a:latin typeface="Consolas"/>
              </a:rPr>
              <a:t>↓</a:t>
            </a:r>
          </a:p>
          <a:p>
            <a:pPr algn="l">
              <a:spcAft>
                <a:spcPts val="200"/>
              </a:spcAft>
            </a:pPr>
            <a:r>
              <a:rPr sz="1050" b="0" i="0">
                <a:solidFill>
                  <a:srgbClr val="14213D"/>
                </a:solidFill>
                <a:latin typeface="Consolas"/>
              </a:rPr>
              <a:t>follicle_no_l     </a:t>
            </a:r>
            <a:r>
              <a:rPr sz="1050" b="0" i="0">
                <a:solidFill>
                  <a:srgbClr val="5F6C7B"/>
                </a:solidFill>
                <a:latin typeface="Consolas"/>
              </a:rPr>
              <a:t>     2   </a:t>
            </a:r>
            <a:r>
              <a:rPr sz="1050" b="1" i="0">
                <a:solidFill>
                  <a:srgbClr val="2F855A"/>
                </a:solidFill>
                <a:latin typeface="Consolas"/>
              </a:rPr>
              <a:t> −0.117  </a:t>
            </a:r>
            <a:r>
              <a:rPr sz="1100" b="1" i="0">
                <a:solidFill>
                  <a:srgbClr val="2F855A"/>
                </a:solidFill>
                <a:latin typeface="Consolas"/>
              </a:rPr>
              <a:t>↓</a:t>
            </a:r>
          </a:p>
          <a:p>
            <a:pPr algn="l">
              <a:spcAft>
                <a:spcPts val="200"/>
              </a:spcAft>
            </a:pPr>
            <a:r>
              <a:rPr sz="1050" b="0" i="0">
                <a:solidFill>
                  <a:srgbClr val="14213D"/>
                </a:solidFill>
                <a:latin typeface="Consolas"/>
              </a:rPr>
              <a:t>amh_ng_ml         </a:t>
            </a:r>
            <a:r>
              <a:rPr sz="1050" b="0" i="0">
                <a:solidFill>
                  <a:srgbClr val="5F6C7B"/>
                </a:solidFill>
                <a:latin typeface="Consolas"/>
              </a:rPr>
              <a:t>  11.4   </a:t>
            </a:r>
            <a:r>
              <a:rPr sz="1050" b="1" i="0">
                <a:solidFill>
                  <a:srgbClr val="D95D39"/>
                </a:solidFill>
                <a:latin typeface="Consolas"/>
              </a:rPr>
              <a:t> +0.062  </a:t>
            </a:r>
            <a:r>
              <a:rPr sz="1100" b="1" i="0">
                <a:solidFill>
                  <a:srgbClr val="D95D39"/>
                </a:solidFill>
                <a:latin typeface="Consolas"/>
              </a:rPr>
              <a:t>↑</a:t>
            </a:r>
          </a:p>
        </p:txBody>
      </p:sp>
      <p:sp>
        <p:nvSpPr>
          <p:cNvPr id="34" name="TextBox 33"/>
          <p:cNvSpPr txBox="1"/>
          <p:nvPr/>
        </p:nvSpPr>
        <p:spPr>
          <a:xfrm>
            <a:off x="6434175" y="6245352"/>
            <a:ext cx="5053431" cy="320040"/>
          </a:xfrm>
          <a:prstGeom prst="rect">
            <a:avLst/>
          </a:prstGeom>
          <a:noFill/>
        </p:spPr>
        <p:txBody>
          <a:bodyPr wrap="square" lIns="73152" rIns="73152" tIns="36576" bIns="36576" anchor="t">
            <a:spAutoFit/>
          </a:bodyPr>
          <a:lstStyle/>
          <a:p>
            <a:pPr algn="l">
              <a:spcAft>
                <a:spcPts val="400"/>
              </a:spcAft>
            </a:pPr>
            <a:r>
              <a:rPr sz="950" b="0" i="1">
                <a:solidFill>
                  <a:srgbClr val="5F6C7B"/>
                </a:solidFill>
                <a:latin typeface="Inter"/>
              </a:rPr>
              <a:t>Elevated AMH pushes up, but low follicle counts dominate — correctly Low Risk.</a:t>
            </a:r>
          </a:p>
        </p:txBody>
      </p:sp>
      <p:sp>
        <p:nvSpPr>
          <p:cNvPr id="35" name="TextBox 34"/>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007C89"/>
                </a:solidFill>
                <a:latin typeface="Inter"/>
              </a:rPr>
              <a:t>IMPLEMENTATION PATH  ·  PATIENT &amp; SYSTEM IMPACT</a:t>
            </a:r>
          </a:p>
        </p:txBody>
      </p:sp>
      <p:sp>
        <p:nvSpPr>
          <p:cNvPr id="8" name="TextBox 7"/>
          <p:cNvSpPr txBox="1"/>
          <p:nvPr/>
        </p:nvSpPr>
        <p:spPr>
          <a:xfrm>
            <a:off x="502920" y="777240"/>
            <a:ext cx="11185855" cy="1097280"/>
          </a:xfrm>
          <a:prstGeom prst="rect">
            <a:avLst/>
          </a:prstGeom>
          <a:noFill/>
        </p:spPr>
        <p:txBody>
          <a:bodyPr wrap="square" lIns="0" rIns="0" tIns="36576" bIns="36576" anchor="t">
            <a:spAutoFit/>
          </a:bodyPr>
          <a:lstStyle/>
          <a:p>
            <a:pPr algn="l"/>
            <a:r>
              <a:rPr sz="2800" b="1" i="0">
                <a:solidFill>
                  <a:srgbClr val="1F3A5F"/>
                </a:solidFill>
                <a:latin typeface="Inter"/>
              </a:rPr>
              <a:t>From submission-ready to deployable — honestly.</a:t>
            </a:r>
          </a:p>
        </p:txBody>
      </p:sp>
      <p:sp>
        <p:nvSpPr>
          <p:cNvPr id="9" name="Rounded Rectangle 8"/>
          <p:cNvSpPr/>
          <p:nvPr/>
        </p:nvSpPr>
        <p:spPr>
          <a:xfrm>
            <a:off x="502920" y="1874519"/>
            <a:ext cx="2590723" cy="1691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74519"/>
            <a:ext cx="2590723" cy="64008"/>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057399"/>
            <a:ext cx="2261539" cy="1417320"/>
          </a:xfrm>
          <a:prstGeom prst="rect">
            <a:avLst/>
          </a:prstGeom>
          <a:noFill/>
        </p:spPr>
        <p:txBody>
          <a:bodyPr wrap="square" lIns="73152" rIns="73152" tIns="36576" bIns="36576" anchor="t">
            <a:spAutoFit/>
          </a:bodyPr>
          <a:lstStyle/>
          <a:p>
            <a:pPr algn="l">
              <a:spcAft>
                <a:spcPts val="400"/>
              </a:spcAft>
            </a:pPr>
            <a:r>
              <a:rPr sz="1400" b="1" i="0">
                <a:solidFill>
                  <a:srgbClr val="1F3A5F"/>
                </a:solidFill>
                <a:latin typeface="Inter"/>
              </a:rPr>
              <a:t>Earlier triage</a:t>
            </a:r>
          </a:p>
          <a:p>
            <a:pPr algn="l"/>
            <a:r>
              <a:rPr sz="1150" b="0" i="0">
                <a:solidFill>
                  <a:srgbClr val="5F6C7B"/>
                </a:solidFill>
                <a:latin typeface="Inter"/>
              </a:rPr>
              <a:t>Identify patients who need PCOS assessment before years of delay.</a:t>
            </a:r>
          </a:p>
        </p:txBody>
      </p:sp>
      <p:sp>
        <p:nvSpPr>
          <p:cNvPr id="12" name="Rounded Rectangle 11"/>
          <p:cNvSpPr/>
          <p:nvPr/>
        </p:nvSpPr>
        <p:spPr>
          <a:xfrm>
            <a:off x="3367963" y="1874519"/>
            <a:ext cx="2590723" cy="1691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1874519"/>
            <a:ext cx="2590723" cy="64008"/>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32555" y="2057399"/>
            <a:ext cx="2261539" cy="1417320"/>
          </a:xfrm>
          <a:prstGeom prst="rect">
            <a:avLst/>
          </a:prstGeom>
          <a:noFill/>
        </p:spPr>
        <p:txBody>
          <a:bodyPr wrap="square" lIns="73152" rIns="73152" tIns="36576" bIns="36576" anchor="t">
            <a:spAutoFit/>
          </a:bodyPr>
          <a:lstStyle/>
          <a:p>
            <a:pPr algn="l">
              <a:spcAft>
                <a:spcPts val="400"/>
              </a:spcAft>
            </a:pPr>
            <a:r>
              <a:rPr sz="1400" b="1" i="0">
                <a:solidFill>
                  <a:srgbClr val="1F3A5F"/>
                </a:solidFill>
                <a:latin typeface="Inter"/>
              </a:rPr>
              <a:t>Low-resource fit</a:t>
            </a:r>
          </a:p>
          <a:p>
            <a:pPr algn="l"/>
            <a:r>
              <a:rPr sz="1150" b="0" i="0">
                <a:solidFill>
                  <a:srgbClr val="5F6C7B"/>
                </a:solidFill>
                <a:latin typeface="Inter"/>
              </a:rPr>
              <a:t>Frontline tier uses symptoms and basic vitals — no labs needed.</a:t>
            </a:r>
          </a:p>
        </p:txBody>
      </p:sp>
      <p:sp>
        <p:nvSpPr>
          <p:cNvPr id="15" name="Rounded Rectangle 14"/>
          <p:cNvSpPr/>
          <p:nvPr/>
        </p:nvSpPr>
        <p:spPr>
          <a:xfrm>
            <a:off x="6233007" y="1874519"/>
            <a:ext cx="2590723" cy="1691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874519"/>
            <a:ext cx="2590723" cy="64008"/>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7599" y="2057399"/>
            <a:ext cx="2261539" cy="1417320"/>
          </a:xfrm>
          <a:prstGeom prst="rect">
            <a:avLst/>
          </a:prstGeom>
          <a:noFill/>
        </p:spPr>
        <p:txBody>
          <a:bodyPr wrap="square" lIns="73152" rIns="73152" tIns="36576" bIns="36576" anchor="t">
            <a:spAutoFit/>
          </a:bodyPr>
          <a:lstStyle/>
          <a:p>
            <a:pPr algn="l">
              <a:spcAft>
                <a:spcPts val="400"/>
              </a:spcAft>
            </a:pPr>
            <a:r>
              <a:rPr sz="1400" b="1" i="0">
                <a:solidFill>
                  <a:srgbClr val="1F3A5F"/>
                </a:solidFill>
                <a:latin typeface="Inter"/>
              </a:rPr>
              <a:t>Patient safety</a:t>
            </a:r>
          </a:p>
          <a:p>
            <a:pPr algn="l"/>
            <a:r>
              <a:rPr sz="1150" b="0" i="0">
                <a:solidFill>
                  <a:srgbClr val="5F6C7B"/>
                </a:solidFill>
                <a:latin typeface="Inter"/>
              </a:rPr>
              <a:t>SHAP, calibration, conformal abstention, and explicit caveats.</a:t>
            </a:r>
          </a:p>
        </p:txBody>
      </p:sp>
      <p:sp>
        <p:nvSpPr>
          <p:cNvPr id="18" name="Rounded Rectangle 17"/>
          <p:cNvSpPr/>
          <p:nvPr/>
        </p:nvSpPr>
        <p:spPr>
          <a:xfrm>
            <a:off x="9098051" y="1874519"/>
            <a:ext cx="2590723" cy="1691640"/>
          </a:xfrm>
          <a:prstGeom prst="roundRect">
            <a:avLst>
              <a:gd name="adj" fmla="val 5000"/>
            </a:avLst>
          </a:prstGeom>
          <a:solidFill>
            <a:srgbClr val="FFFFFF"/>
          </a:solidFill>
          <a:ln w="9525">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98051" y="1874519"/>
            <a:ext cx="2590723" cy="64008"/>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2643" y="2057399"/>
            <a:ext cx="2261539" cy="1417320"/>
          </a:xfrm>
          <a:prstGeom prst="rect">
            <a:avLst/>
          </a:prstGeom>
          <a:noFill/>
        </p:spPr>
        <p:txBody>
          <a:bodyPr wrap="square" lIns="73152" rIns="73152" tIns="36576" bIns="36576" anchor="t">
            <a:spAutoFit/>
          </a:bodyPr>
          <a:lstStyle/>
          <a:p>
            <a:pPr algn="l">
              <a:spcAft>
                <a:spcPts val="400"/>
              </a:spcAft>
            </a:pPr>
            <a:r>
              <a:rPr sz="1400" b="1" i="0">
                <a:solidFill>
                  <a:srgbClr val="1F3A5F"/>
                </a:solidFill>
                <a:latin typeface="Inter"/>
              </a:rPr>
              <a:t>Equity honesty</a:t>
            </a:r>
          </a:p>
          <a:p>
            <a:pPr algn="l"/>
            <a:r>
              <a:rPr sz="1150" b="0" i="0">
                <a:solidFill>
                  <a:srgbClr val="5F6C7B"/>
                </a:solidFill>
                <a:latin typeface="Inter"/>
              </a:rPr>
              <a:t>Subgroup gaps are measured, surfaced in the app, and flagged in the model card.</a:t>
            </a:r>
          </a:p>
        </p:txBody>
      </p:sp>
      <p:graphicFrame>
        <p:nvGraphicFramePr>
          <p:cNvPr id="21" name="Table 20"/>
          <p:cNvGraphicFramePr>
            <a:graphicFrameLocks noGrp="1"/>
          </p:cNvGraphicFramePr>
          <p:nvPr/>
        </p:nvGraphicFramePr>
        <p:xfrm>
          <a:off x="502920" y="3977639"/>
          <a:ext cx="11155679" cy="1755648"/>
        </p:xfrm>
        <a:graphic>
          <a:graphicData uri="http://schemas.openxmlformats.org/drawingml/2006/table">
            <a:tbl>
              <a:tblPr firstRow="1" bandRow="1">
                <a:tableStyleId>{5C22544A-7EE6-4342-B048-85BDC9FD1C3A}</a:tableStyleId>
              </a:tblPr>
              <a:tblGrid>
                <a:gridCol w="3017520"/>
                <a:gridCol w="4389120"/>
                <a:gridCol w="3749039"/>
              </a:tblGrid>
              <a:tr h="384048">
                <a:tc>
                  <a:txBody>
                    <a:bodyPr tIns="36576" bIns="36576" anchor="ctr"/>
                    <a:lstStyle/>
                    <a:p>
                      <a:r>
                        <a:rPr sz="1200" b="1">
                          <a:solidFill>
                            <a:srgbClr val="FFFFFF"/>
                          </a:solidFill>
                          <a:latin typeface="Inter"/>
                        </a:rPr>
                        <a:t>Deployment step</a:t>
                      </a:r>
                    </a:p>
                  </a:txBody>
                  <a:tcPr>
                    <a:solidFill>
                      <a:srgbClr val="1F3A5F"/>
                    </a:solidFill>
                  </a:tcPr>
                </a:tc>
                <a:tc>
                  <a:txBody>
                    <a:bodyPr tIns="36576" bIns="36576" anchor="ctr"/>
                    <a:lstStyle/>
                    <a:p>
                      <a:r>
                        <a:rPr sz="1200" b="1">
                          <a:solidFill>
                            <a:srgbClr val="FFFFFF"/>
                          </a:solidFill>
                          <a:latin typeface="Inter"/>
                        </a:rPr>
                        <a:t>What changes before real use</a:t>
                      </a:r>
                    </a:p>
                  </a:txBody>
                  <a:tcPr>
                    <a:solidFill>
                      <a:srgbClr val="1F3A5F"/>
                    </a:solidFill>
                  </a:tcPr>
                </a:tc>
                <a:tc>
                  <a:txBody>
                    <a:bodyPr tIns="36576" bIns="36576" anchor="ctr"/>
                    <a:lstStyle/>
                    <a:p>
                      <a:r>
                        <a:rPr sz="1200" b="1">
                          <a:solidFill>
                            <a:srgbClr val="FFFFFF"/>
                          </a:solidFill>
                          <a:latin typeface="Inter"/>
                        </a:rPr>
                        <a:t>Acceptance gate</a:t>
                      </a:r>
                    </a:p>
                  </a:txBody>
                  <a:tcPr>
                    <a:solidFill>
                      <a:srgbClr val="1F3A5F"/>
                    </a:solidFill>
                  </a:tcPr>
                </a:tc>
              </a:tr>
              <a:tr h="457200">
                <a:tc>
                  <a:txBody>
                    <a:bodyPr tIns="36576" bIns="36576" anchor="ctr"/>
                    <a:lstStyle/>
                    <a:p>
                      <a:r>
                        <a:rPr sz="1150">
                          <a:solidFill>
                            <a:srgbClr val="14213D"/>
                          </a:solidFill>
                          <a:latin typeface="Inter"/>
                        </a:rPr>
                        <a:t>Internal validation</a:t>
                      </a:r>
                    </a:p>
                  </a:txBody>
                  <a:tcPr>
                    <a:solidFill>
                      <a:srgbClr val="FFFFFF"/>
                    </a:solidFill>
                  </a:tcPr>
                </a:tc>
                <a:tc>
                  <a:txBody>
                    <a:bodyPr tIns="36576" bIns="36576" anchor="ctr"/>
                    <a:lstStyle/>
                    <a:p>
                      <a:r>
                        <a:rPr sz="1150">
                          <a:solidFill>
                            <a:srgbClr val="14213D"/>
                          </a:solidFill>
                          <a:latin typeface="Inter"/>
                        </a:rPr>
                        <a:t>Repeat notebook pipeline on partner data</a:t>
                      </a:r>
                    </a:p>
                  </a:txBody>
                  <a:tcPr>
                    <a:solidFill>
                      <a:srgbClr val="FFFFFF"/>
                    </a:solidFill>
                  </a:tcPr>
                </a:tc>
                <a:tc>
                  <a:txBody>
                    <a:bodyPr tIns="36576" bIns="36576" anchor="ctr"/>
                    <a:lstStyle/>
                    <a:p>
                      <a:r>
                        <a:rPr sz="1150">
                          <a:solidFill>
                            <a:srgbClr val="14213D"/>
                          </a:solidFill>
                          <a:latin typeface="Inter"/>
                        </a:rPr>
                        <a:t>Recall and calibration remain stable</a:t>
                      </a:r>
                    </a:p>
                  </a:txBody>
                  <a:tcPr>
                    <a:solidFill>
                      <a:srgbClr val="FFFFFF"/>
                    </a:solidFill>
                  </a:tcPr>
                </a:tc>
              </a:tr>
              <a:tr h="457200">
                <a:tc>
                  <a:txBody>
                    <a:bodyPr tIns="36576" bIns="36576" anchor="ctr"/>
                    <a:lstStyle/>
                    <a:p>
                      <a:r>
                        <a:rPr sz="1150">
                          <a:solidFill>
                            <a:srgbClr val="14213D"/>
                          </a:solidFill>
                          <a:latin typeface="Inter"/>
                        </a:rPr>
                        <a:t>Clinical pilot</a:t>
                      </a:r>
                    </a:p>
                  </a:txBody>
                  <a:tcPr>
                    <a:solidFill>
                      <a:srgbClr val="F8FAFC"/>
                    </a:solidFill>
                  </a:tcPr>
                </a:tc>
                <a:tc>
                  <a:txBody>
                    <a:bodyPr tIns="36576" bIns="36576" anchor="ctr"/>
                    <a:lstStyle/>
                    <a:p>
                      <a:r>
                        <a:rPr sz="1150">
                          <a:solidFill>
                            <a:srgbClr val="14213D"/>
                          </a:solidFill>
                          <a:latin typeface="Inter"/>
                        </a:rPr>
                        <a:t>Run as silent decision support beside usual care</a:t>
                      </a:r>
                    </a:p>
                  </a:txBody>
                  <a:tcPr>
                    <a:solidFill>
                      <a:srgbClr val="F8FAFC"/>
                    </a:solidFill>
                  </a:tcPr>
                </a:tc>
                <a:tc>
                  <a:txBody>
                    <a:bodyPr tIns="36576" bIns="36576" anchor="ctr"/>
                    <a:lstStyle/>
                    <a:p>
                      <a:r>
                        <a:rPr sz="1150">
                          <a:solidFill>
                            <a:srgbClr val="14213D"/>
                          </a:solidFill>
                          <a:latin typeface="Inter"/>
                        </a:rPr>
                        <a:t>Measures earlier referral without excess harm</a:t>
                      </a:r>
                    </a:p>
                  </a:txBody>
                  <a:tcPr>
                    <a:solidFill>
                      <a:srgbClr val="F8FAFC"/>
                    </a:solidFill>
                  </a:tcPr>
                </a:tc>
              </a:tr>
              <a:tr h="457200">
                <a:tc>
                  <a:txBody>
                    <a:bodyPr tIns="36576" bIns="36576" anchor="ctr"/>
                    <a:lstStyle/>
                    <a:p>
                      <a:r>
                        <a:rPr sz="1150">
                          <a:solidFill>
                            <a:srgbClr val="14213D"/>
                          </a:solidFill>
                          <a:latin typeface="Inter"/>
                        </a:rPr>
                        <a:t>Prospective study</a:t>
                      </a:r>
                    </a:p>
                  </a:txBody>
                  <a:tcPr>
                    <a:solidFill>
                      <a:srgbClr val="FFFFFF"/>
                    </a:solidFill>
                  </a:tcPr>
                </a:tc>
                <a:tc>
                  <a:txBody>
                    <a:bodyPr tIns="36576" bIns="36576" anchor="ctr"/>
                    <a:lstStyle/>
                    <a:p>
                      <a:r>
                        <a:rPr sz="1150">
                          <a:solidFill>
                            <a:srgbClr val="14213D"/>
                          </a:solidFill>
                          <a:latin typeface="Inter"/>
                        </a:rPr>
                        <a:t>Collect outcomes and subgroup performance</a:t>
                      </a:r>
                    </a:p>
                  </a:txBody>
                  <a:tcPr>
                    <a:solidFill>
                      <a:srgbClr val="FFFFFF"/>
                    </a:solidFill>
                  </a:tcPr>
                </a:tc>
                <a:tc>
                  <a:txBody>
                    <a:bodyPr tIns="36576" bIns="36576" anchor="ctr"/>
                    <a:lstStyle/>
                    <a:p>
                      <a:r>
                        <a:rPr sz="1150">
                          <a:solidFill>
                            <a:srgbClr val="14213D"/>
                          </a:solidFill>
                          <a:latin typeface="Inter"/>
                        </a:rPr>
                        <a:t>External validation before deployment</a:t>
                      </a:r>
                    </a:p>
                  </a:txBody>
                  <a:tcPr>
                    <a:solidFill>
                      <a:srgbClr val="FFFFFF"/>
                    </a:solidFill>
                  </a:tcPr>
                </a:tc>
              </a:tr>
            </a:tbl>
          </a:graphicData>
        </a:graphic>
      </p:graphicFrame>
      <p:sp>
        <p:nvSpPr>
          <p:cNvPr id="22" name="TextBox 21"/>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D95D39"/>
                </a:solidFill>
                <a:latin typeface="Inter"/>
              </a:rPr>
              <a:t>DEMO 1  ·  NOTEBOOK 01  ·  APPENDIX</a:t>
            </a:r>
          </a:p>
        </p:txBody>
      </p:sp>
      <p:sp>
        <p:nvSpPr>
          <p:cNvPr id="8" name="TextBox 7"/>
          <p:cNvSpPr txBox="1"/>
          <p:nvPr/>
        </p:nvSpPr>
        <p:spPr>
          <a:xfrm>
            <a:off x="502920" y="713232"/>
            <a:ext cx="11185855" cy="868680"/>
          </a:xfrm>
          <a:prstGeom prst="rect">
            <a:avLst/>
          </a:prstGeom>
          <a:noFill/>
        </p:spPr>
        <p:txBody>
          <a:bodyPr wrap="square" lIns="0" rIns="0" tIns="36576" bIns="36576" anchor="t">
            <a:spAutoFit/>
          </a:bodyPr>
          <a:lstStyle/>
          <a:p>
            <a:pPr algn="l"/>
            <a:r>
              <a:rPr sz="2400" b="1" i="0">
                <a:solidFill>
                  <a:srgbClr val="1F3A5F"/>
                </a:solidFill>
                <a:latin typeface="Inter"/>
              </a:rPr>
              <a:t>Every silently coerced cell is logged. Every dropped column is justified.</a:t>
            </a:r>
          </a:p>
        </p:txBody>
      </p:sp>
      <p:sp>
        <p:nvSpPr>
          <p:cNvPr id="9" name="Rounded Rectangle 8"/>
          <p:cNvSpPr/>
          <p:nvPr/>
        </p:nvSpPr>
        <p:spPr>
          <a:xfrm>
            <a:off x="502920" y="1691640"/>
            <a:ext cx="5760720" cy="4160520"/>
          </a:xfrm>
          <a:prstGeom prst="roundRect">
            <a:avLst>
              <a:gd name="adj" fmla="val 4000"/>
            </a:avLst>
          </a:prstGeom>
          <a:solidFill>
            <a:srgbClr val="0F172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576072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691640"/>
            <a:ext cx="5486400" cy="320040"/>
          </a:xfrm>
          <a:prstGeom prst="rect">
            <a:avLst/>
          </a:prstGeom>
          <a:noFill/>
        </p:spPr>
        <p:txBody>
          <a:bodyPr wrap="square" lIns="0" rIns="0" tIns="36576" bIns="36576" anchor="ctr">
            <a:spAutoFit/>
          </a:bodyPr>
          <a:lstStyle/>
          <a:p>
            <a:pPr algn="l">
              <a:spcAft>
                <a:spcPts val="400"/>
              </a:spcAft>
            </a:pPr>
            <a:r>
              <a:rPr sz="1000" b="1" i="0">
                <a:solidFill>
                  <a:srgbClr val="9BB1D0"/>
                </a:solidFill>
                <a:latin typeface="Consolas"/>
              </a:rPr>
              <a:t>scripts/create_training_notebooks.mjs  —  clean_pcos_dataframe</a:t>
            </a:r>
          </a:p>
        </p:txBody>
      </p:sp>
      <p:sp>
        <p:nvSpPr>
          <p:cNvPr id="12" name="TextBox 11"/>
          <p:cNvSpPr txBox="1"/>
          <p:nvPr/>
        </p:nvSpPr>
        <p:spPr>
          <a:xfrm>
            <a:off x="685800" y="2057400"/>
            <a:ext cx="5486400" cy="3749040"/>
          </a:xfrm>
          <a:prstGeom prst="rect">
            <a:avLst/>
          </a:prstGeom>
          <a:noFill/>
        </p:spPr>
        <p:txBody>
          <a:bodyPr wrap="square" lIns="45720" rIns="45720" tIns="36576" bIns="36576" anchor="t">
            <a:spAutoFit/>
          </a:bodyPr>
          <a:lstStyle/>
          <a:p>
            <a:pPr algn="l">
              <a:spcAft>
                <a:spcPts val="0"/>
              </a:spcAft>
            </a:pPr>
            <a:r>
              <a:rPr sz="1050">
                <a:solidFill>
                  <a:srgbClr val="94A3B8"/>
                </a:solidFill>
                <a:latin typeface="Consolas"/>
              </a:rPr>
              <a:t># Drop identifiers / sensitive fields; withhold</a:t>
            </a:r>
          </a:p>
          <a:p>
            <a:pPr algn="l">
              <a:spcAft>
                <a:spcPts val="0"/>
              </a:spcAft>
            </a:pPr>
            <a:r>
              <a:rPr sz="1050">
                <a:solidFill>
                  <a:srgbClr val="94A3B8"/>
                </a:solidFill>
                <a:latin typeface="Consolas"/>
              </a:rPr>
              <a:t># blood_group until categorical encoding is validated.</a:t>
            </a:r>
          </a:p>
          <a:p>
            <a:pPr algn="l">
              <a:spcAft>
                <a:spcPts val="0"/>
              </a:spcAft>
            </a:pPr>
            <a:r>
              <a:rPr sz="1050">
                <a:solidFill>
                  <a:srgbClr val="C084FC"/>
                </a:solidFill>
                <a:latin typeface="Consolas"/>
              </a:rPr>
              <a:t>def </a:t>
            </a:r>
            <a:r>
              <a:rPr sz="1050">
                <a:solidFill>
                  <a:srgbClr val="60A5FA"/>
                </a:solidFill>
                <a:latin typeface="Consolas"/>
              </a:rPr>
              <a:t>clean_pcos_dataframe</a:t>
            </a:r>
            <a:r>
              <a:rPr sz="1050">
                <a:solidFill>
                  <a:srgbClr val="E2E8F0"/>
                </a:solidFill>
                <a:latin typeface="Consolas"/>
              </a:rPr>
              <a:t>(df):</a:t>
            </a:r>
          </a:p>
          <a:p>
            <a:pPr algn="l">
              <a:spcAft>
                <a:spcPts val="0"/>
              </a:spcAft>
            </a:pPr>
            <a:r>
              <a:rPr sz="1050">
                <a:solidFill>
                  <a:srgbClr val="E2E8F0"/>
                </a:solidFill>
                <a:latin typeface="Consolas"/>
              </a:rPr>
              <a:t>    df = df.copy()</a:t>
            </a:r>
          </a:p>
          <a:p>
            <a:pPr algn="l">
              <a:spcAft>
                <a:spcPts val="0"/>
              </a:spcAft>
            </a:pPr>
            <a:r>
              <a:rPr sz="1050">
                <a:solidFill>
                  <a:srgbClr val="E2E8F0"/>
                </a:solidFill>
                <a:latin typeface="Consolas"/>
              </a:rPr>
              <a:t>    coercion_report = {}</a:t>
            </a:r>
          </a:p>
          <a:p>
            <a:pPr algn="l">
              <a:spcAft>
                <a:spcPts val="0"/>
              </a:spcAft>
            </a:pPr>
            <a:r>
              <a:rPr sz="1050">
                <a:solidFill>
                  <a:srgbClr val="C084FC"/>
                </a:solidFill>
                <a:latin typeface="Consolas"/>
              </a:rPr>
              <a:t>    for</a:t>
            </a:r>
            <a:r>
              <a:rPr sz="1050">
                <a:solidFill>
                  <a:srgbClr val="E2E8F0"/>
                </a:solidFill>
                <a:latin typeface="Consolas"/>
              </a:rPr>
              <a:t> col </a:t>
            </a:r>
            <a:r>
              <a:rPr sz="1050">
                <a:solidFill>
                  <a:srgbClr val="C084FC"/>
                </a:solidFill>
                <a:latin typeface="Consolas"/>
              </a:rPr>
              <a:t>in</a:t>
            </a:r>
            <a:r>
              <a:rPr sz="1050">
                <a:solidFill>
                  <a:srgbClr val="E2E8F0"/>
                </a:solidFill>
                <a:latin typeface="Consolas"/>
              </a:rPr>
              <a:t> df.columns:</a:t>
            </a:r>
          </a:p>
          <a:p>
            <a:pPr algn="l">
              <a:spcAft>
                <a:spcPts val="0"/>
              </a:spcAft>
            </a:pPr>
            <a:r>
              <a:rPr sz="1050">
                <a:solidFill>
                  <a:srgbClr val="E2E8F0"/>
                </a:solidFill>
                <a:latin typeface="Consolas"/>
              </a:rPr>
              <a:t>        coerced = pd.</a:t>
            </a:r>
            <a:r>
              <a:rPr sz="1050">
                <a:solidFill>
                  <a:srgbClr val="60A5FA"/>
                </a:solidFill>
                <a:latin typeface="Consolas"/>
              </a:rPr>
              <a:t>to_numeric</a:t>
            </a:r>
            <a:r>
              <a:rPr sz="1050">
                <a:solidFill>
                  <a:srgbClr val="E2E8F0"/>
                </a:solidFill>
                <a:latin typeface="Consolas"/>
              </a:rPr>
              <a:t>(df[col], errors=</a:t>
            </a:r>
            <a:r>
              <a:rPr sz="1050">
                <a:solidFill>
                  <a:srgbClr val="F4A380"/>
                </a:solidFill>
                <a:latin typeface="Consolas"/>
              </a:rPr>
              <a:t>"coerce"</a:t>
            </a:r>
            <a:r>
              <a:rPr sz="1050">
                <a:solidFill>
                  <a:srgbClr val="E2E8F0"/>
                </a:solidFill>
                <a:latin typeface="Consolas"/>
              </a:rPr>
              <a:t>)</a:t>
            </a:r>
          </a:p>
          <a:p>
            <a:pPr algn="l">
              <a:spcAft>
                <a:spcPts val="0"/>
              </a:spcAft>
            </a:pPr>
            <a:r>
              <a:rPr sz="1050">
                <a:solidFill>
                  <a:srgbClr val="E2E8F0"/>
                </a:solidFill>
                <a:latin typeface="Consolas"/>
              </a:rPr>
              <a:t>        new_nan = coerced.isna().</a:t>
            </a:r>
            <a:r>
              <a:rPr sz="1050">
                <a:solidFill>
                  <a:srgbClr val="60A5FA"/>
                </a:solidFill>
                <a:latin typeface="Consolas"/>
              </a:rPr>
              <a:t>sum</a:t>
            </a:r>
            <a:r>
              <a:rPr sz="1050">
                <a:solidFill>
                  <a:srgbClr val="E2E8F0"/>
                </a:solidFill>
                <a:latin typeface="Consolas"/>
              </a:rPr>
              <a:t>() - df[col].isna().</a:t>
            </a:r>
            <a:r>
              <a:rPr sz="1050">
                <a:solidFill>
                  <a:srgbClr val="60A5FA"/>
                </a:solidFill>
                <a:latin typeface="Consolas"/>
              </a:rPr>
              <a:t>sum</a:t>
            </a:r>
            <a:r>
              <a:rPr sz="1050">
                <a:solidFill>
                  <a:srgbClr val="E2E8F0"/>
                </a:solidFill>
                <a:latin typeface="Consolas"/>
              </a:rPr>
              <a:t>()</a:t>
            </a:r>
          </a:p>
          <a:p>
            <a:pPr algn="l">
              <a:spcAft>
                <a:spcPts val="0"/>
              </a:spcAft>
            </a:pPr>
            <a:r>
              <a:rPr sz="1050">
                <a:solidFill>
                  <a:srgbClr val="C084FC"/>
                </a:solidFill>
                <a:latin typeface="Consolas"/>
              </a:rPr>
              <a:t>        if</a:t>
            </a:r>
            <a:r>
              <a:rPr sz="1050">
                <a:solidFill>
                  <a:srgbClr val="E2E8F0"/>
                </a:solidFill>
                <a:latin typeface="Consolas"/>
              </a:rPr>
              <a:t> new_nan &gt; </a:t>
            </a:r>
            <a:r>
              <a:rPr sz="1050">
                <a:solidFill>
                  <a:srgbClr val="FACC15"/>
                </a:solidFill>
                <a:latin typeface="Consolas"/>
              </a:rPr>
              <a:t>0</a:t>
            </a:r>
            <a:r>
              <a:rPr sz="1050">
                <a:solidFill>
                  <a:srgbClr val="E2E8F0"/>
                </a:solidFill>
                <a:latin typeface="Consolas"/>
              </a:rPr>
              <a:t>:</a:t>
            </a:r>
          </a:p>
          <a:p>
            <a:pPr algn="l">
              <a:spcAft>
                <a:spcPts val="0"/>
              </a:spcAft>
            </a:pPr>
            <a:r>
              <a:rPr sz="1050">
                <a:solidFill>
                  <a:srgbClr val="E2E8F0"/>
                </a:solidFill>
                <a:latin typeface="Consolas"/>
              </a:rPr>
              <a:t>            offenders = df.loc[df[col].</a:t>
            </a:r>
            <a:r>
              <a:rPr sz="1050">
                <a:solidFill>
                  <a:srgbClr val="60A5FA"/>
                </a:solidFill>
                <a:latin typeface="Consolas"/>
              </a:rPr>
              <a:t>notna</a:t>
            </a:r>
            <a:r>
              <a:rPr sz="1050">
                <a:solidFill>
                  <a:srgbClr val="E2E8F0"/>
                </a:solidFill>
                <a:latin typeface="Consolas"/>
              </a:rPr>
              <a:t>() &amp; coerced.</a:t>
            </a:r>
            <a:r>
              <a:rPr sz="1050">
                <a:solidFill>
                  <a:srgbClr val="60A5FA"/>
                </a:solidFill>
                <a:latin typeface="Consolas"/>
              </a:rPr>
              <a:t>isna</a:t>
            </a:r>
            <a:r>
              <a:rPr sz="1050">
                <a:solidFill>
                  <a:srgbClr val="E2E8F0"/>
                </a:solidFill>
                <a:latin typeface="Consolas"/>
              </a:rPr>
              <a:t>(), col]</a:t>
            </a:r>
          </a:p>
          <a:p>
            <a:pPr algn="l">
              <a:spcAft>
                <a:spcPts val="0"/>
              </a:spcAft>
            </a:pPr>
            <a:r>
              <a:rPr sz="1050">
                <a:solidFill>
                  <a:srgbClr val="E2E8F0"/>
                </a:solidFill>
                <a:latin typeface="Consolas"/>
              </a:rPr>
              <a:t>            coercion_report[col] = {</a:t>
            </a:r>
          </a:p>
          <a:p>
            <a:pPr algn="l">
              <a:spcAft>
                <a:spcPts val="0"/>
              </a:spcAft>
            </a:pPr>
            <a:r>
              <a:rPr sz="1050">
                <a:solidFill>
                  <a:srgbClr val="E2E8F0"/>
                </a:solidFill>
                <a:latin typeface="Consolas"/>
              </a:rPr>
              <a:t>                </a:t>
            </a:r>
            <a:r>
              <a:rPr sz="1050">
                <a:solidFill>
                  <a:srgbClr val="F4A380"/>
                </a:solidFill>
                <a:latin typeface="Consolas"/>
              </a:rPr>
              <a:t>"coerced_to_nan"</a:t>
            </a:r>
            <a:r>
              <a:rPr sz="1050">
                <a:solidFill>
                  <a:srgbClr val="E2E8F0"/>
                </a:solidFill>
                <a:latin typeface="Consolas"/>
              </a:rPr>
              <a:t>: </a:t>
            </a:r>
            <a:r>
              <a:rPr sz="1050">
                <a:solidFill>
                  <a:srgbClr val="60A5FA"/>
                </a:solidFill>
                <a:latin typeface="Consolas"/>
              </a:rPr>
              <a:t>int</a:t>
            </a:r>
            <a:r>
              <a:rPr sz="1050">
                <a:solidFill>
                  <a:srgbClr val="E2E8F0"/>
                </a:solidFill>
                <a:latin typeface="Consolas"/>
              </a:rPr>
              <a:t>(new_nan),</a:t>
            </a:r>
          </a:p>
          <a:p>
            <a:pPr algn="l">
              <a:spcAft>
                <a:spcPts val="0"/>
              </a:spcAft>
            </a:pPr>
            <a:r>
              <a:rPr sz="1050">
                <a:solidFill>
                  <a:srgbClr val="E2E8F0"/>
                </a:solidFill>
                <a:latin typeface="Consolas"/>
              </a:rPr>
              <a:t>                </a:t>
            </a:r>
            <a:r>
              <a:rPr sz="1050">
                <a:solidFill>
                  <a:srgbClr val="F4A380"/>
                </a:solidFill>
                <a:latin typeface="Consolas"/>
              </a:rPr>
              <a:t>"examples"</a:t>
            </a:r>
            <a:r>
              <a:rPr sz="1050">
                <a:solidFill>
                  <a:srgbClr val="E2E8F0"/>
                </a:solidFill>
                <a:latin typeface="Consolas"/>
              </a:rPr>
              <a:t>: offenders.</a:t>
            </a:r>
            <a:r>
              <a:rPr sz="1050">
                <a:solidFill>
                  <a:srgbClr val="60A5FA"/>
                </a:solidFill>
                <a:latin typeface="Consolas"/>
              </a:rPr>
              <a:t>astype</a:t>
            </a:r>
            <a:r>
              <a:rPr sz="1050">
                <a:solidFill>
                  <a:srgbClr val="E2E8F0"/>
                </a:solidFill>
                <a:latin typeface="Consolas"/>
              </a:rPr>
              <a:t>(</a:t>
            </a:r>
            <a:r>
              <a:rPr sz="1050">
                <a:solidFill>
                  <a:srgbClr val="60A5FA"/>
                </a:solidFill>
                <a:latin typeface="Consolas"/>
              </a:rPr>
              <a:t>str</a:t>
            </a:r>
            <a:r>
              <a:rPr sz="1050">
                <a:solidFill>
                  <a:srgbClr val="E2E8F0"/>
                </a:solidFill>
                <a:latin typeface="Consolas"/>
              </a:rPr>
              <a:t>).</a:t>
            </a:r>
            <a:r>
              <a:rPr sz="1050">
                <a:solidFill>
                  <a:srgbClr val="60A5FA"/>
                </a:solidFill>
                <a:latin typeface="Consolas"/>
              </a:rPr>
              <a:t>unique</a:t>
            </a:r>
            <a:r>
              <a:rPr sz="1050">
                <a:solidFill>
                  <a:srgbClr val="E2E8F0"/>
                </a:solidFill>
                <a:latin typeface="Consolas"/>
              </a:rPr>
              <a:t>().</a:t>
            </a:r>
            <a:r>
              <a:rPr sz="1050">
                <a:solidFill>
                  <a:srgbClr val="60A5FA"/>
                </a:solidFill>
                <a:latin typeface="Consolas"/>
              </a:rPr>
              <a:t>tolist</a:t>
            </a:r>
            <a:r>
              <a:rPr sz="1050">
                <a:solidFill>
                  <a:srgbClr val="E2E8F0"/>
                </a:solidFill>
                <a:latin typeface="Consolas"/>
              </a:rPr>
              <a:t>()[:</a:t>
            </a:r>
            <a:r>
              <a:rPr sz="1050">
                <a:solidFill>
                  <a:srgbClr val="FACC15"/>
                </a:solidFill>
                <a:latin typeface="Consolas"/>
              </a:rPr>
              <a:t>5</a:t>
            </a:r>
            <a:r>
              <a:rPr sz="1050">
                <a:solidFill>
                  <a:srgbClr val="E2E8F0"/>
                </a:solidFill>
                <a:latin typeface="Consolas"/>
              </a:rPr>
              <a:t>],</a:t>
            </a:r>
          </a:p>
          <a:p>
            <a:pPr algn="l">
              <a:spcAft>
                <a:spcPts val="0"/>
              </a:spcAft>
            </a:pPr>
            <a:r>
              <a:rPr sz="1050">
                <a:solidFill>
                  <a:srgbClr val="E2E8F0"/>
                </a:solidFill>
                <a:latin typeface="Consolas"/>
              </a:rPr>
              <a:t>            }</a:t>
            </a:r>
          </a:p>
          <a:p>
            <a:pPr algn="l">
              <a:spcAft>
                <a:spcPts val="0"/>
              </a:spcAft>
            </a:pPr>
            <a:r>
              <a:rPr sz="1050">
                <a:solidFill>
                  <a:srgbClr val="E2E8F0"/>
                </a:solidFill>
                <a:latin typeface="Consolas"/>
              </a:rPr>
              <a:t>        df[col] = coerced</a:t>
            </a:r>
          </a:p>
          <a:p>
            <a:pPr algn="l">
              <a:spcAft>
                <a:spcPts val="0"/>
              </a:spcAft>
            </a:pPr>
            <a:r>
              <a:rPr sz="1050">
                <a:solidFill>
                  <a:srgbClr val="E2E8F0"/>
                </a:solidFill>
                <a:latin typeface="Consolas"/>
              </a:rPr>
              <a:t>    df = df.drop(columns=[c </a:t>
            </a:r>
            <a:r>
              <a:rPr sz="1050">
                <a:solidFill>
                  <a:srgbClr val="C084FC"/>
                </a:solidFill>
                <a:latin typeface="Consolas"/>
              </a:rPr>
              <a:t>for</a:t>
            </a:r>
            <a:r>
              <a:rPr sz="1050">
                <a:solidFill>
                  <a:srgbClr val="E2E8F0"/>
                </a:solidFill>
                <a:latin typeface="Consolas"/>
              </a:rPr>
              <a:t> c </a:t>
            </a:r>
            <a:r>
              <a:rPr sz="1050">
                <a:solidFill>
                  <a:srgbClr val="C084FC"/>
                </a:solidFill>
                <a:latin typeface="Consolas"/>
              </a:rPr>
              <a:t>in</a:t>
            </a:r>
            <a:r>
              <a:rPr sz="1050">
                <a:solidFill>
                  <a:srgbClr val="E2E8F0"/>
                </a:solidFill>
                <a:latin typeface="Consolas"/>
              </a:rPr>
              <a:t> DROP_COLUMNS </a:t>
            </a:r>
            <a:r>
              <a:rPr sz="1050">
                <a:solidFill>
                  <a:srgbClr val="C084FC"/>
                </a:solidFill>
                <a:latin typeface="Consolas"/>
              </a:rPr>
              <a:t>if</a:t>
            </a:r>
            <a:r>
              <a:rPr sz="1050">
                <a:solidFill>
                  <a:srgbClr val="E2E8F0"/>
                </a:solidFill>
                <a:latin typeface="Consolas"/>
              </a:rPr>
              <a:t> c </a:t>
            </a:r>
            <a:r>
              <a:rPr sz="1050">
                <a:solidFill>
                  <a:srgbClr val="C084FC"/>
                </a:solidFill>
                <a:latin typeface="Consolas"/>
              </a:rPr>
              <a:t>in</a:t>
            </a:r>
            <a:r>
              <a:rPr sz="1050">
                <a:solidFill>
                  <a:srgbClr val="E2E8F0"/>
                </a:solidFill>
                <a:latin typeface="Consolas"/>
              </a:rPr>
              <a:t> df.columns])</a:t>
            </a:r>
          </a:p>
          <a:p>
            <a:pPr algn="l">
              <a:spcAft>
                <a:spcPts val="0"/>
              </a:spcAft>
            </a:pPr>
            <a:r>
              <a:rPr sz="1050">
                <a:solidFill>
                  <a:srgbClr val="E2E8F0"/>
                </a:solidFill>
                <a:latin typeface="Consolas"/>
              </a:rPr>
              <a:t>    df.attrs[</a:t>
            </a:r>
            <a:r>
              <a:rPr sz="1050">
                <a:solidFill>
                  <a:srgbClr val="F4A380"/>
                </a:solidFill>
                <a:latin typeface="Consolas"/>
              </a:rPr>
              <a:t>"coercion_report"</a:t>
            </a:r>
            <a:r>
              <a:rPr sz="1050">
                <a:solidFill>
                  <a:srgbClr val="E2E8F0"/>
                </a:solidFill>
                <a:latin typeface="Consolas"/>
              </a:rPr>
              <a:t>] = coercion_report</a:t>
            </a:r>
          </a:p>
          <a:p>
            <a:pPr algn="l">
              <a:spcAft>
                <a:spcPts val="0"/>
              </a:spcAft>
            </a:pPr>
            <a:r>
              <a:rPr sz="1050">
                <a:solidFill>
                  <a:srgbClr val="C084FC"/>
                </a:solidFill>
                <a:latin typeface="Consolas"/>
              </a:rPr>
              <a:t>    return</a:t>
            </a:r>
            <a:r>
              <a:rPr sz="1050">
                <a:solidFill>
                  <a:srgbClr val="E2E8F0"/>
                </a:solidFill>
                <a:latin typeface="Consolas"/>
              </a:rPr>
              <a:t> df</a:t>
            </a:r>
          </a:p>
          <a:p>
            <a:pPr algn="l">
              <a:spcAft>
                <a:spcPts val="0"/>
              </a:spcAft>
            </a:pPr>
            <a:r>
              <a:rPr sz="1050">
                <a:solidFill>
                  <a:srgbClr val="E2E8F0"/>
                </a:solidFill>
                <a:latin typeface="Consolas"/>
              </a:rPr>
              <a:t> </a:t>
            </a:r>
          </a:p>
          <a:p>
            <a:pPr algn="l">
              <a:spcAft>
                <a:spcPts val="0"/>
              </a:spcAft>
            </a:pPr>
            <a:r>
              <a:rPr sz="1050">
                <a:solidFill>
                  <a:srgbClr val="E2E8F0"/>
                </a:solidFill>
                <a:latin typeface="Consolas"/>
              </a:rPr>
              <a:t>DROP_COLUMNS = [</a:t>
            </a:r>
            <a:r>
              <a:rPr sz="1050">
                <a:solidFill>
                  <a:srgbClr val="F4A380"/>
                </a:solidFill>
                <a:latin typeface="Consolas"/>
              </a:rPr>
              <a:t>"sl_no"</a:t>
            </a:r>
            <a:r>
              <a:rPr sz="1050">
                <a:solidFill>
                  <a:srgbClr val="E2E8F0"/>
                </a:solidFill>
                <a:latin typeface="Consolas"/>
              </a:rPr>
              <a:t>, </a:t>
            </a:r>
            <a:r>
              <a:rPr sz="1050">
                <a:solidFill>
                  <a:srgbClr val="F4A380"/>
                </a:solidFill>
                <a:latin typeface="Consolas"/>
              </a:rPr>
              <a:t>"patient_file_no"</a:t>
            </a:r>
            <a:r>
              <a:rPr sz="1050">
                <a:solidFill>
                  <a:srgbClr val="E2E8F0"/>
                </a:solidFill>
                <a:latin typeface="Consolas"/>
              </a:rPr>
              <a:t>,</a:t>
            </a:r>
          </a:p>
          <a:p>
            <a:pPr algn="l">
              <a:spcAft>
                <a:spcPts val="0"/>
              </a:spcAft>
            </a:pPr>
            <a:r>
              <a:rPr sz="1050">
                <a:solidFill>
                  <a:srgbClr val="E2E8F0"/>
                </a:solidFill>
                <a:latin typeface="Consolas"/>
              </a:rPr>
              <a:t>                </a:t>
            </a:r>
            <a:r>
              <a:rPr sz="1050">
                <a:solidFill>
                  <a:srgbClr val="F4A380"/>
                </a:solidFill>
                <a:latin typeface="Consolas"/>
              </a:rPr>
              <a:t>"blood_group"</a:t>
            </a:r>
            <a:r>
              <a:rPr sz="1050">
                <a:solidFill>
                  <a:srgbClr val="E2E8F0"/>
                </a:solidFill>
                <a:latin typeface="Consolas"/>
              </a:rPr>
              <a:t>, </a:t>
            </a:r>
            <a:r>
              <a:rPr sz="1050">
                <a:solidFill>
                  <a:srgbClr val="F4A380"/>
                </a:solidFill>
                <a:latin typeface="Consolas"/>
              </a:rPr>
              <a:t>"marriage_status_yrs"</a:t>
            </a:r>
            <a:r>
              <a:rPr sz="1050">
                <a:solidFill>
                  <a:srgbClr val="E2E8F0"/>
                </a:solidFill>
                <a:latin typeface="Consolas"/>
              </a:rPr>
              <a:t>]</a:t>
            </a:r>
          </a:p>
        </p:txBody>
      </p:sp>
      <p:sp>
        <p:nvSpPr>
          <p:cNvPr id="13" name="Rounded Rectangle 12"/>
          <p:cNvSpPr/>
          <p:nvPr/>
        </p:nvSpPr>
        <p:spPr>
          <a:xfrm>
            <a:off x="6492240" y="1691640"/>
            <a:ext cx="5257800" cy="4160520"/>
          </a:xfrm>
          <a:prstGeom prst="roundRect">
            <a:avLst>
              <a:gd name="adj" fmla="val 4000"/>
            </a:avLst>
          </a:prstGeom>
          <a:solidFill>
            <a:srgbClr val="F8FAFC"/>
          </a:solidFill>
          <a:ln w="7620">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691640"/>
            <a:ext cx="5257800" cy="320040"/>
          </a:xfrm>
          <a:prstGeom prst="rect">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1691640"/>
            <a:ext cx="4983480" cy="320040"/>
          </a:xfrm>
          <a:prstGeom prst="rect">
            <a:avLst/>
          </a:prstGeom>
          <a:noFill/>
        </p:spPr>
        <p:txBody>
          <a:bodyPr wrap="square" lIns="0" rIns="0" tIns="36576" bIns="36576" anchor="ctr">
            <a:spAutoFit/>
          </a:bodyPr>
          <a:lstStyle/>
          <a:p>
            <a:pPr algn="l">
              <a:spcAft>
                <a:spcPts val="400"/>
              </a:spcAft>
            </a:pPr>
            <a:r>
              <a:rPr sz="1000" b="1" i="0">
                <a:solidFill>
                  <a:srgbClr val="007C89"/>
                </a:solidFill>
                <a:latin typeface="Consolas"/>
              </a:rPr>
              <a:t>Output  —  outputs/metrics/pcos_coercion_report.csv</a:t>
            </a:r>
          </a:p>
        </p:txBody>
      </p:sp>
      <p:sp>
        <p:nvSpPr>
          <p:cNvPr id="16" name="TextBox 15"/>
          <p:cNvSpPr txBox="1"/>
          <p:nvPr/>
        </p:nvSpPr>
        <p:spPr>
          <a:xfrm>
            <a:off x="6675120" y="2057400"/>
            <a:ext cx="4983480" cy="3749040"/>
          </a:xfrm>
          <a:prstGeom prst="rect">
            <a:avLst/>
          </a:prstGeom>
          <a:noFill/>
        </p:spPr>
        <p:txBody>
          <a:bodyPr wrap="square" lIns="45720" rIns="45720" tIns="36576" bIns="36576" anchor="t">
            <a:spAutoFit/>
          </a:bodyPr>
          <a:lstStyle/>
          <a:p>
            <a:pPr algn="l">
              <a:spcAft>
                <a:spcPts val="0"/>
              </a:spcAft>
            </a:pPr>
            <a:r>
              <a:rPr sz="1050">
                <a:solidFill>
                  <a:srgbClr val="5F6C7B"/>
                </a:solidFill>
                <a:latin typeface="Consolas"/>
              </a:rPr>
              <a:t>PCOS shape: (541, 41)</a:t>
            </a:r>
          </a:p>
          <a:p>
            <a:pPr algn="l">
              <a:spcAft>
                <a:spcPts val="0"/>
              </a:spcAft>
            </a:pPr>
            <a:r>
              <a:rPr sz="1050">
                <a:solidFill>
                  <a:srgbClr val="5F6C7B"/>
                </a:solidFill>
                <a:latin typeface="Consolas"/>
              </a:rPr>
              <a:t>Dropped columns: ['sl_no', 'patient_file_no',</a:t>
            </a:r>
          </a:p>
          <a:p>
            <a:pPr algn="l">
              <a:spcAft>
                <a:spcPts val="0"/>
              </a:spcAft>
            </a:pPr>
            <a:r>
              <a:rPr sz="1050">
                <a:solidFill>
                  <a:srgbClr val="5F6C7B"/>
                </a:solidFill>
                <a:latin typeface="Consolas"/>
              </a:rPr>
              <a:t>                  'blood_group', 'marriage_status_yrs']</a:t>
            </a:r>
          </a:p>
          <a:p>
            <a:pPr algn="l">
              <a:spcAft>
                <a:spcPts val="0"/>
              </a:spcAft>
            </a:pPr>
            <a:r>
              <a:rPr sz="1050">
                <a:solidFill>
                  <a:srgbClr val="5F6C7B"/>
                </a:solidFill>
                <a:latin typeface="Consolas"/>
              </a:rPr>
              <a:t>Non-numeric values coerced to NaN:</a:t>
            </a:r>
          </a:p>
          <a:p>
            <a:pPr algn="l">
              <a:spcAft>
                <a:spcPts val="0"/>
              </a:spcAft>
            </a:pPr>
            <a:r>
              <a:rPr sz="1050">
                <a:solidFill>
                  <a:srgbClr val="14213D"/>
                </a:solidFill>
                <a:latin typeface="Consolas"/>
              </a:rPr>
              <a:t>  </a:t>
            </a:r>
            <a:r>
              <a:rPr sz="1050">
                <a:solidFill>
                  <a:srgbClr val="D95D39"/>
                </a:solidFill>
                <a:latin typeface="Consolas"/>
              </a:rPr>
              <a:t>ii_beta_hcg_miu_ml</a:t>
            </a:r>
            <a:r>
              <a:rPr sz="1050">
                <a:solidFill>
                  <a:srgbClr val="14213D"/>
                </a:solidFill>
                <a:latin typeface="Consolas"/>
              </a:rPr>
              <a:t>:  1 cell(s); examples=['1.99.']</a:t>
            </a:r>
          </a:p>
          <a:p>
            <a:pPr algn="l">
              <a:spcAft>
                <a:spcPts val="0"/>
              </a:spcAft>
            </a:pPr>
            <a:r>
              <a:rPr sz="1050">
                <a:solidFill>
                  <a:srgbClr val="14213D"/>
                </a:solidFill>
                <a:latin typeface="Consolas"/>
              </a:rPr>
              <a:t>  </a:t>
            </a:r>
            <a:r>
              <a:rPr sz="1050">
                <a:solidFill>
                  <a:srgbClr val="D95D39"/>
                </a:solidFill>
                <a:latin typeface="Consolas"/>
              </a:rPr>
              <a:t>amh_ng_ml</a:t>
            </a:r>
            <a:r>
              <a:rPr sz="1050">
                <a:solidFill>
                  <a:srgbClr val="14213D"/>
                </a:solidFill>
                <a:latin typeface="Consolas"/>
              </a:rPr>
              <a:t>:           1 cell(s); examples=['a']</a:t>
            </a:r>
          </a:p>
          <a:p>
            <a:pPr algn="l">
              <a:spcAft>
                <a:spcPts val="0"/>
              </a:spcAft>
            </a:pPr>
            <a:r>
              <a:rPr sz="1050">
                <a:solidFill>
                  <a:srgbClr val="14213D"/>
                </a:solidFill>
                <a:latin typeface="Consolas"/>
              </a:rPr>
              <a:t> </a:t>
            </a:r>
          </a:p>
          <a:p>
            <a:pPr algn="l">
              <a:spcAft>
                <a:spcPts val="0"/>
              </a:spcAft>
            </a:pPr>
            <a:r>
              <a:rPr sz="1050">
                <a:solidFill>
                  <a:srgbClr val="5F6C7B"/>
                </a:solidFill>
                <a:latin typeface="Consolas"/>
              </a:rPr>
              <a:t>pcos_y_n</a:t>
            </a:r>
          </a:p>
          <a:p>
            <a:pPr algn="l">
              <a:spcAft>
                <a:spcPts val="0"/>
              </a:spcAft>
            </a:pPr>
            <a:r>
              <a:rPr sz="1050">
                <a:solidFill>
                  <a:srgbClr val="14213D"/>
                </a:solidFill>
                <a:latin typeface="Consolas"/>
              </a:rPr>
              <a:t>0    </a:t>
            </a:r>
            <a:r>
              <a:rPr sz="1050">
                <a:solidFill>
                  <a:srgbClr val="2F855A"/>
                </a:solidFill>
                <a:latin typeface="Consolas"/>
              </a:rPr>
              <a:t>364</a:t>
            </a:r>
          </a:p>
          <a:p>
            <a:pPr algn="l">
              <a:spcAft>
                <a:spcPts val="0"/>
              </a:spcAft>
            </a:pPr>
            <a:r>
              <a:rPr sz="1050">
                <a:solidFill>
                  <a:srgbClr val="14213D"/>
                </a:solidFill>
                <a:latin typeface="Consolas"/>
              </a:rPr>
              <a:t>1    </a:t>
            </a:r>
            <a:r>
              <a:rPr sz="1050">
                <a:solidFill>
                  <a:srgbClr val="2F855A"/>
                </a:solidFill>
                <a:latin typeface="Consolas"/>
              </a:rPr>
              <a:t>177</a:t>
            </a:r>
          </a:p>
          <a:p>
            <a:pPr algn="l">
              <a:spcAft>
                <a:spcPts val="0"/>
              </a:spcAft>
            </a:pPr>
            <a:r>
              <a:rPr sz="1050">
                <a:solidFill>
                  <a:srgbClr val="14213D"/>
                </a:solidFill>
                <a:latin typeface="Consolas"/>
              </a:rPr>
              <a:t>Name: count, dtype: int64</a:t>
            </a:r>
          </a:p>
        </p:txBody>
      </p:sp>
      <p:sp>
        <p:nvSpPr>
          <p:cNvPr id="17" name="Rounded Rectangle 16"/>
          <p:cNvSpPr/>
          <p:nvPr/>
        </p:nvSpPr>
        <p:spPr>
          <a:xfrm>
            <a:off x="502920" y="5989320"/>
            <a:ext cx="11185855" cy="640080"/>
          </a:xfrm>
          <a:prstGeom prst="roundRect">
            <a:avLst>
              <a:gd name="adj" fmla="val 18000"/>
            </a:avLst>
          </a:prstGeom>
          <a:solidFill>
            <a:srgbClr val="FFF0EB"/>
          </a:solidFill>
          <a:ln w="12700">
            <a:solidFill>
              <a:srgbClr val="D95D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89320"/>
            <a:ext cx="10682935" cy="640080"/>
          </a:xfrm>
          <a:prstGeom prst="rect">
            <a:avLst/>
          </a:prstGeom>
          <a:noFill/>
        </p:spPr>
        <p:txBody>
          <a:bodyPr wrap="square" lIns="0" rIns="0" tIns="36576" bIns="36576" anchor="ctr">
            <a:spAutoFit/>
          </a:bodyPr>
          <a:lstStyle/>
          <a:p>
            <a:pPr algn="l">
              <a:spcAft>
                <a:spcPts val="400"/>
              </a:spcAft>
            </a:pPr>
            <a:r>
              <a:rPr sz="1100" b="1" i="0">
                <a:solidFill>
                  <a:srgbClr val="D95D39"/>
                </a:solidFill>
                <a:latin typeface="Inter"/>
              </a:rPr>
              <a:t>Takeaway   </a:t>
            </a:r>
            <a:r>
              <a:rPr sz="1250" b="0" i="0">
                <a:solidFill>
                  <a:srgbClr val="14213D"/>
                </a:solidFill>
                <a:latin typeface="Inter"/>
              </a:rPr>
              <a:t>Two stray data-quality issues caught and logged before they can bias a model. ABO/Rh withheld from screening; Yang et al. 2025 supports retaining it later as categorical phenotype metadata, not as a numeric 11–18 input.</a:t>
            </a:r>
          </a:p>
        </p:txBody>
      </p:sp>
      <p:sp>
        <p:nvSpPr>
          <p:cNvPr id="19" name="TextBox 18"/>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D95D39"/>
                </a:solidFill>
                <a:latin typeface="Inter"/>
              </a:rPr>
              <a:t>DEMO 2  ·  NOTEBOOK 02  ·  APPENDIX</a:t>
            </a:r>
          </a:p>
        </p:txBody>
      </p:sp>
      <p:sp>
        <p:nvSpPr>
          <p:cNvPr id="8" name="TextBox 7"/>
          <p:cNvSpPr txBox="1"/>
          <p:nvPr/>
        </p:nvSpPr>
        <p:spPr>
          <a:xfrm>
            <a:off x="502920" y="713232"/>
            <a:ext cx="11185855" cy="868680"/>
          </a:xfrm>
          <a:prstGeom prst="rect">
            <a:avLst/>
          </a:prstGeom>
          <a:noFill/>
        </p:spPr>
        <p:txBody>
          <a:bodyPr wrap="square" lIns="0" rIns="0" tIns="36576" bIns="36576" anchor="t">
            <a:spAutoFit/>
          </a:bodyPr>
          <a:lstStyle/>
          <a:p>
            <a:pPr algn="l"/>
            <a:r>
              <a:rPr sz="2200" b="1" i="0">
                <a:solidFill>
                  <a:srgbClr val="1F3A5F"/>
                </a:solidFill>
                <a:latin typeface="Inter"/>
              </a:rPr>
              <a:t>Action thresholds come from training cross-validation. The test set is touched once.</a:t>
            </a:r>
          </a:p>
        </p:txBody>
      </p:sp>
      <p:sp>
        <p:nvSpPr>
          <p:cNvPr id="9" name="Rounded Rectangle 8"/>
          <p:cNvSpPr/>
          <p:nvPr/>
        </p:nvSpPr>
        <p:spPr>
          <a:xfrm>
            <a:off x="502920" y="1691640"/>
            <a:ext cx="5760720" cy="4160520"/>
          </a:xfrm>
          <a:prstGeom prst="roundRect">
            <a:avLst>
              <a:gd name="adj" fmla="val 4000"/>
            </a:avLst>
          </a:prstGeom>
          <a:solidFill>
            <a:srgbClr val="0F172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576072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691640"/>
            <a:ext cx="5486400" cy="320040"/>
          </a:xfrm>
          <a:prstGeom prst="rect">
            <a:avLst/>
          </a:prstGeom>
          <a:noFill/>
        </p:spPr>
        <p:txBody>
          <a:bodyPr wrap="square" lIns="0" rIns="0" tIns="36576" bIns="36576" anchor="ctr">
            <a:spAutoFit/>
          </a:bodyPr>
          <a:lstStyle/>
          <a:p>
            <a:pPr algn="l">
              <a:spcAft>
                <a:spcPts val="400"/>
              </a:spcAft>
            </a:pPr>
            <a:r>
              <a:rPr sz="1000" b="1" i="0">
                <a:solidFill>
                  <a:srgbClr val="9BB1D0"/>
                </a:solidFill>
                <a:latin typeface="Consolas"/>
              </a:rPr>
              <a:t>notebook 02  —  cv_oof_probabilities + threshold sweep</a:t>
            </a:r>
          </a:p>
        </p:txBody>
      </p:sp>
      <p:sp>
        <p:nvSpPr>
          <p:cNvPr id="12" name="TextBox 11"/>
          <p:cNvSpPr txBox="1"/>
          <p:nvPr/>
        </p:nvSpPr>
        <p:spPr>
          <a:xfrm>
            <a:off x="685800" y="2057400"/>
            <a:ext cx="5486400" cy="3749040"/>
          </a:xfrm>
          <a:prstGeom prst="rect">
            <a:avLst/>
          </a:prstGeom>
          <a:noFill/>
        </p:spPr>
        <p:txBody>
          <a:bodyPr wrap="square" lIns="45720" rIns="45720" tIns="36576" bIns="36576" anchor="t">
            <a:spAutoFit/>
          </a:bodyPr>
          <a:lstStyle/>
          <a:p>
            <a:pPr algn="l">
              <a:spcAft>
                <a:spcPts val="0"/>
              </a:spcAft>
            </a:pPr>
            <a:r>
              <a:rPr sz="1050">
                <a:solidFill>
                  <a:srgbClr val="94A3B8"/>
                </a:solidFill>
                <a:latin typeface="Consolas"/>
              </a:rPr>
              <a:t># 1. Out-of-fold probabilities on the TRAINING set only.</a:t>
            </a:r>
          </a:p>
          <a:p>
            <a:pPr algn="l">
              <a:spcAft>
                <a:spcPts val="0"/>
              </a:spcAft>
            </a:pPr>
            <a:r>
              <a:rPr sz="1050">
                <a:solidFill>
                  <a:srgbClr val="E2E8F0"/>
                </a:solidFill>
                <a:latin typeface="Consolas"/>
              </a:rPr>
              <a:t>cv = </a:t>
            </a:r>
            <a:r>
              <a:rPr sz="1050">
                <a:solidFill>
                  <a:srgbClr val="60A5FA"/>
                </a:solidFill>
                <a:latin typeface="Consolas"/>
              </a:rPr>
              <a:t>StratifiedKFold</a:t>
            </a:r>
            <a:r>
              <a:rPr sz="1050">
                <a:solidFill>
                  <a:srgbClr val="E2E8F0"/>
                </a:solidFill>
                <a:latin typeface="Consolas"/>
              </a:rPr>
              <a:t>(n_splits=</a:t>
            </a:r>
            <a:r>
              <a:rPr sz="1050">
                <a:solidFill>
                  <a:srgbClr val="FACC15"/>
                </a:solidFill>
                <a:latin typeface="Consolas"/>
              </a:rPr>
              <a:t>5</a:t>
            </a:r>
            <a:r>
              <a:rPr sz="1050">
                <a:solidFill>
                  <a:srgbClr val="E2E8F0"/>
                </a:solidFill>
                <a:latin typeface="Consolas"/>
              </a:rPr>
              <a:t>, shuffle=</a:t>
            </a:r>
            <a:r>
              <a:rPr sz="1050">
                <a:solidFill>
                  <a:srgbClr val="C084FC"/>
                </a:solidFill>
                <a:latin typeface="Consolas"/>
              </a:rPr>
              <a:t>True</a:t>
            </a:r>
            <a:r>
              <a:rPr sz="1050">
                <a:solidFill>
                  <a:srgbClr val="E2E8F0"/>
                </a:solidFill>
                <a:latin typeface="Consolas"/>
              </a:rPr>
              <a:t>,</a:t>
            </a:r>
          </a:p>
          <a:p>
            <a:pPr algn="l">
              <a:spcAft>
                <a:spcPts val="0"/>
              </a:spcAft>
            </a:pPr>
            <a:r>
              <a:rPr sz="1050">
                <a:solidFill>
                  <a:srgbClr val="E2E8F0"/>
                </a:solidFill>
                <a:latin typeface="Consolas"/>
              </a:rPr>
              <a:t>                     random_state=RANDOM_STATE)</a:t>
            </a:r>
          </a:p>
          <a:p>
            <a:pPr algn="l">
              <a:spcAft>
                <a:spcPts val="0"/>
              </a:spcAft>
            </a:pPr>
            <a:r>
              <a:rPr sz="1050">
                <a:solidFill>
                  <a:srgbClr val="E2E8F0"/>
                </a:solidFill>
                <a:latin typeface="Consolas"/>
              </a:rPr>
              <a:t>oof_proba = </a:t>
            </a:r>
            <a:r>
              <a:rPr sz="1050">
                <a:solidFill>
                  <a:srgbClr val="60A5FA"/>
                </a:solidFill>
                <a:latin typeface="Consolas"/>
              </a:rPr>
              <a:t>cross_val_predict</a:t>
            </a:r>
            <a:r>
              <a:rPr sz="1050">
                <a:solidFill>
                  <a:srgbClr val="E2E8F0"/>
                </a:solidFill>
                <a:latin typeface="Consolas"/>
              </a:rPr>
              <a:t>(</a:t>
            </a:r>
          </a:p>
          <a:p>
            <a:pPr algn="l">
              <a:spcAft>
                <a:spcPts val="0"/>
              </a:spcAft>
            </a:pPr>
            <a:r>
              <a:rPr sz="1050">
                <a:solidFill>
                  <a:srgbClr val="E2E8F0"/>
                </a:solidFill>
                <a:latin typeface="Consolas"/>
              </a:rPr>
              <a:t>    best_model, X_train, y_train,</a:t>
            </a:r>
          </a:p>
          <a:p>
            <a:pPr algn="l">
              <a:spcAft>
                <a:spcPts val="0"/>
              </a:spcAft>
            </a:pPr>
            <a:r>
              <a:rPr sz="1050">
                <a:solidFill>
                  <a:srgbClr val="E2E8F0"/>
                </a:solidFill>
                <a:latin typeface="Consolas"/>
              </a:rPr>
              <a:t>    cv=cv, method=</a:t>
            </a:r>
            <a:r>
              <a:rPr sz="1050">
                <a:solidFill>
                  <a:srgbClr val="F4A380"/>
                </a:solidFill>
                <a:latin typeface="Consolas"/>
              </a:rPr>
              <a:t>"predict_proba"</a:t>
            </a:r>
            <a:r>
              <a:rPr sz="1050">
                <a:solidFill>
                  <a:srgbClr val="E2E8F0"/>
                </a:solidFill>
                <a:latin typeface="Consolas"/>
              </a:rPr>
              <a:t>, n_jobs=-</a:t>
            </a:r>
            <a:r>
              <a:rPr sz="1050">
                <a:solidFill>
                  <a:srgbClr val="FACC15"/>
                </a:solidFill>
                <a:latin typeface="Consolas"/>
              </a:rPr>
              <a:t>1</a:t>
            </a:r>
            <a:r>
              <a:rPr sz="1050">
                <a:solidFill>
                  <a:srgbClr val="E2E8F0"/>
                </a:solidFill>
                <a:latin typeface="Consolas"/>
              </a:rPr>
              <a:t>,</a:t>
            </a:r>
          </a:p>
          <a:p>
            <a:pPr algn="l">
              <a:spcAft>
                <a:spcPts val="0"/>
              </a:spcAft>
            </a:pPr>
            <a:r>
              <a:rPr sz="1050">
                <a:solidFill>
                  <a:srgbClr val="E2E8F0"/>
                </a:solidFill>
                <a:latin typeface="Consolas"/>
              </a:rPr>
              <a:t>)[:, </a:t>
            </a:r>
            <a:r>
              <a:rPr sz="1050">
                <a:solidFill>
                  <a:srgbClr val="FACC15"/>
                </a:solidFill>
                <a:latin typeface="Consolas"/>
              </a:rPr>
              <a:t>1</a:t>
            </a:r>
            <a:r>
              <a:rPr sz="1050">
                <a:solidFill>
                  <a:srgbClr val="E2E8F0"/>
                </a:solidFill>
                <a:latin typeface="Consolas"/>
              </a:rPr>
              <a:t>]</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2. Sweep thresholds; pick the one with recall &gt;= 0.90</a:t>
            </a:r>
          </a:p>
          <a:p>
            <a:pPr algn="l">
              <a:spcAft>
                <a:spcPts val="0"/>
              </a:spcAft>
            </a:pPr>
            <a:r>
              <a:rPr sz="1050">
                <a:solidFill>
                  <a:srgbClr val="94A3B8"/>
                </a:solidFill>
                <a:latin typeface="Consolas"/>
              </a:rPr>
              <a:t>#    that also maximises specificity, precision, F1.</a:t>
            </a:r>
          </a:p>
          <a:p>
            <a:pPr algn="l">
              <a:spcAft>
                <a:spcPts val="0"/>
              </a:spcAft>
            </a:pPr>
            <a:r>
              <a:rPr sz="1050">
                <a:solidFill>
                  <a:srgbClr val="E2E8F0"/>
                </a:solidFill>
                <a:latin typeface="Consolas"/>
              </a:rPr>
              <a:t>chosen, table = </a:t>
            </a:r>
            <a:r>
              <a:rPr sz="1050">
                <a:solidFill>
                  <a:srgbClr val="60A5FA"/>
                </a:solidFill>
                <a:latin typeface="Consolas"/>
              </a:rPr>
              <a:t>choose_high_recall_threshold</a:t>
            </a:r>
            <a:r>
              <a:rPr sz="1050">
                <a:solidFill>
                  <a:srgbClr val="E2E8F0"/>
                </a:solidFill>
                <a:latin typeface="Consolas"/>
              </a:rPr>
              <a:t>(</a:t>
            </a:r>
          </a:p>
          <a:p>
            <a:pPr algn="l">
              <a:spcAft>
                <a:spcPts val="0"/>
              </a:spcAft>
            </a:pPr>
            <a:r>
              <a:rPr sz="1050">
                <a:solidFill>
                  <a:srgbClr val="E2E8F0"/>
                </a:solidFill>
                <a:latin typeface="Consolas"/>
              </a:rPr>
              <a:t>    y_train, oof_proba, min_recall=</a:t>
            </a:r>
            <a:r>
              <a:rPr sz="1050">
                <a:solidFill>
                  <a:srgbClr val="FACC15"/>
                </a:solidFill>
                <a:latin typeface="Consolas"/>
              </a:rPr>
              <a:t>0.90</a:t>
            </a:r>
            <a:r>
              <a:rPr sz="1050">
                <a:solidFill>
                  <a:srgbClr val="E2E8F0"/>
                </a:solidFill>
                <a:latin typeface="Consolas"/>
              </a:rPr>
              <a:t>,</a:t>
            </a:r>
          </a:p>
          <a:p>
            <a:pPr algn="l">
              <a:spcAft>
                <a:spcPts val="0"/>
              </a:spcAft>
            </a:pPr>
            <a:r>
              <a:rPr sz="1050">
                <a:solidFill>
                  <a:srgbClr val="E2E8F0"/>
                </a:solidFill>
                <a:latin typeface="Consolas"/>
              </a:rPr>
              <a:t>)</a:t>
            </a:r>
          </a:p>
          <a:p>
            <a:pPr algn="l">
              <a:spcAft>
                <a:spcPts val="0"/>
              </a:spcAft>
            </a:pPr>
            <a:r>
              <a:rPr sz="1050">
                <a:solidFill>
                  <a:srgbClr val="E2E8F0"/>
                </a:solidFill>
                <a:latin typeface="Consolas"/>
              </a:rPr>
              <a:t>threshold = </a:t>
            </a:r>
            <a:r>
              <a:rPr sz="1050">
                <a:solidFill>
                  <a:srgbClr val="60A5FA"/>
                </a:solidFill>
                <a:latin typeface="Consolas"/>
              </a:rPr>
              <a:t>float</a:t>
            </a:r>
            <a:r>
              <a:rPr sz="1050">
                <a:solidFill>
                  <a:srgbClr val="E2E8F0"/>
                </a:solidFill>
                <a:latin typeface="Consolas"/>
              </a:rPr>
              <a:t>(chosen[</a:t>
            </a:r>
            <a:r>
              <a:rPr sz="1050">
                <a:solidFill>
                  <a:srgbClr val="F4A380"/>
                </a:solidFill>
                <a:latin typeface="Consolas"/>
              </a:rPr>
              <a:t>"threshold"</a:t>
            </a:r>
            <a:r>
              <a:rPr sz="1050">
                <a:solidFill>
                  <a:srgbClr val="E2E8F0"/>
                </a:solidFill>
                <a:latin typeface="Consolas"/>
              </a:rPr>
              <a:t>])</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3. Refit on FULL training data, evaluate ONCE on test.</a:t>
            </a:r>
          </a:p>
          <a:p>
            <a:pPr algn="l">
              <a:spcAft>
                <a:spcPts val="0"/>
              </a:spcAft>
            </a:pPr>
            <a:r>
              <a:rPr sz="1050">
                <a:solidFill>
                  <a:srgbClr val="E2E8F0"/>
                </a:solidFill>
                <a:latin typeface="Consolas"/>
              </a:rPr>
              <a:t>best_model.</a:t>
            </a:r>
            <a:r>
              <a:rPr sz="1050">
                <a:solidFill>
                  <a:srgbClr val="60A5FA"/>
                </a:solidFill>
                <a:latin typeface="Consolas"/>
              </a:rPr>
              <a:t>fit</a:t>
            </a:r>
            <a:r>
              <a:rPr sz="1050">
                <a:solidFill>
                  <a:srgbClr val="E2E8F0"/>
                </a:solidFill>
                <a:latin typeface="Consolas"/>
              </a:rPr>
              <a:t>(X_train, y_train)</a:t>
            </a:r>
          </a:p>
          <a:p>
            <a:pPr algn="l">
              <a:spcAft>
                <a:spcPts val="0"/>
              </a:spcAft>
            </a:pPr>
            <a:r>
              <a:rPr sz="1050">
                <a:solidFill>
                  <a:srgbClr val="E2E8F0"/>
                </a:solidFill>
                <a:latin typeface="Consolas"/>
              </a:rPr>
              <a:t>metrics = </a:t>
            </a:r>
            <a:r>
              <a:rPr sz="1050">
                <a:solidFill>
                  <a:srgbClr val="60A5FA"/>
                </a:solidFill>
                <a:latin typeface="Consolas"/>
              </a:rPr>
              <a:t>evaluate_holdout</a:t>
            </a:r>
            <a:r>
              <a:rPr sz="1050">
                <a:solidFill>
                  <a:srgbClr val="E2E8F0"/>
                </a:solidFill>
                <a:latin typeface="Consolas"/>
              </a:rPr>
              <a:t>(best_model, X_test, y_test,</a:t>
            </a:r>
          </a:p>
          <a:p>
            <a:pPr algn="l">
              <a:spcAft>
                <a:spcPts val="0"/>
              </a:spcAft>
            </a:pPr>
            <a:r>
              <a:rPr sz="1050">
                <a:solidFill>
                  <a:srgbClr val="E2E8F0"/>
                </a:solidFill>
                <a:latin typeface="Consolas"/>
              </a:rPr>
              <a:t>                           threshold=threshold)</a:t>
            </a:r>
          </a:p>
        </p:txBody>
      </p:sp>
      <p:sp>
        <p:nvSpPr>
          <p:cNvPr id="13" name="Rounded Rectangle 12"/>
          <p:cNvSpPr/>
          <p:nvPr/>
        </p:nvSpPr>
        <p:spPr>
          <a:xfrm>
            <a:off x="6492240" y="1691640"/>
            <a:ext cx="5257800" cy="4160520"/>
          </a:xfrm>
          <a:prstGeom prst="roundRect">
            <a:avLst>
              <a:gd name="adj" fmla="val 4000"/>
            </a:avLst>
          </a:prstGeom>
          <a:solidFill>
            <a:srgbClr val="F8FAFC"/>
          </a:solidFill>
          <a:ln w="7620">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691640"/>
            <a:ext cx="5257800" cy="320040"/>
          </a:xfrm>
          <a:prstGeom prst="rect">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1691640"/>
            <a:ext cx="4983480" cy="320040"/>
          </a:xfrm>
          <a:prstGeom prst="rect">
            <a:avLst/>
          </a:prstGeom>
          <a:noFill/>
        </p:spPr>
        <p:txBody>
          <a:bodyPr wrap="square" lIns="0" rIns="0" tIns="36576" bIns="36576" anchor="ctr">
            <a:spAutoFit/>
          </a:bodyPr>
          <a:lstStyle/>
          <a:p>
            <a:pPr algn="l">
              <a:spcAft>
                <a:spcPts val="400"/>
              </a:spcAft>
            </a:pPr>
            <a:r>
              <a:rPr sz="1000" b="1" i="0">
                <a:solidFill>
                  <a:srgbClr val="007C89"/>
                </a:solidFill>
                <a:latin typeface="Consolas"/>
              </a:rPr>
              <a:t>Output  —  chosen threshold + held-out test</a:t>
            </a:r>
          </a:p>
        </p:txBody>
      </p:sp>
      <p:sp>
        <p:nvSpPr>
          <p:cNvPr id="16" name="TextBox 15"/>
          <p:cNvSpPr txBox="1"/>
          <p:nvPr/>
        </p:nvSpPr>
        <p:spPr>
          <a:xfrm>
            <a:off x="6675120" y="2057400"/>
            <a:ext cx="4983480" cy="3749040"/>
          </a:xfrm>
          <a:prstGeom prst="rect">
            <a:avLst/>
          </a:prstGeom>
          <a:noFill/>
        </p:spPr>
        <p:txBody>
          <a:bodyPr wrap="square" lIns="45720" rIns="45720" tIns="36576" bIns="36576" anchor="t">
            <a:spAutoFit/>
          </a:bodyPr>
          <a:lstStyle/>
          <a:p>
            <a:pPr algn="l">
              <a:spcAft>
                <a:spcPts val="0"/>
              </a:spcAft>
            </a:pPr>
            <a:r>
              <a:rPr sz="1050">
                <a:solidFill>
                  <a:srgbClr val="5F6C7B"/>
                </a:solidFill>
                <a:latin typeface="Consolas"/>
              </a:rPr>
              <a:t>Best screening model: random_forest</a:t>
            </a:r>
          </a:p>
          <a:p>
            <a:pPr algn="l">
              <a:spcAft>
                <a:spcPts val="0"/>
              </a:spcAft>
            </a:pPr>
            <a:r>
              <a:rPr sz="1050">
                <a:solidFill>
                  <a:srgbClr val="5F6C7B"/>
                </a:solidFill>
                <a:latin typeface="Consolas"/>
              </a:rPr>
              <a:t>Chosen threshold (from training CV):</a:t>
            </a:r>
          </a:p>
          <a:p>
            <a:pPr algn="l">
              <a:spcAft>
                <a:spcPts val="0"/>
              </a:spcAft>
            </a:pPr>
            <a:r>
              <a:rPr sz="1050">
                <a:solidFill>
                  <a:srgbClr val="14213D"/>
                </a:solidFill>
                <a:latin typeface="Consolas"/>
              </a:rPr>
              <a:t>  threshold           </a:t>
            </a:r>
            <a:r>
              <a:rPr sz="1050">
                <a:solidFill>
                  <a:srgbClr val="2F855A"/>
                </a:solidFill>
                <a:latin typeface="Consolas"/>
              </a:rPr>
              <a:t>0.285</a:t>
            </a:r>
          </a:p>
          <a:p>
            <a:pPr algn="l">
              <a:spcAft>
                <a:spcPts val="0"/>
              </a:spcAft>
            </a:pPr>
            <a:r>
              <a:rPr sz="1050">
                <a:solidFill>
                  <a:srgbClr val="14213D"/>
                </a:solidFill>
                <a:latin typeface="Consolas"/>
              </a:rPr>
              <a:t>  recall              </a:t>
            </a:r>
            <a:r>
              <a:rPr sz="1050">
                <a:solidFill>
                  <a:srgbClr val="2F855A"/>
                </a:solidFill>
                <a:latin typeface="Consolas"/>
              </a:rPr>
              <a:t>0.901</a:t>
            </a:r>
          </a:p>
          <a:p>
            <a:pPr algn="l">
              <a:spcAft>
                <a:spcPts val="0"/>
              </a:spcAft>
            </a:pPr>
            <a:r>
              <a:rPr sz="1050">
                <a:solidFill>
                  <a:srgbClr val="14213D"/>
                </a:solidFill>
                <a:latin typeface="Consolas"/>
              </a:rPr>
              <a:t>  specificity         0.683</a:t>
            </a:r>
          </a:p>
          <a:p>
            <a:pPr algn="l">
              <a:spcAft>
                <a:spcPts val="0"/>
              </a:spcAft>
            </a:pPr>
            <a:r>
              <a:rPr sz="1050">
                <a:solidFill>
                  <a:srgbClr val="14213D"/>
                </a:solidFill>
                <a:latin typeface="Consolas"/>
              </a:rPr>
              <a:t>  precision           0.535</a:t>
            </a:r>
          </a:p>
          <a:p>
            <a:pPr algn="l">
              <a:spcAft>
                <a:spcPts val="0"/>
              </a:spcAft>
            </a:pPr>
            <a:r>
              <a:rPr sz="1050">
                <a:solidFill>
                  <a:srgbClr val="14213D"/>
                </a:solidFill>
                <a:latin typeface="Consolas"/>
              </a:rPr>
              <a:t>  f1                  0.669</a:t>
            </a:r>
          </a:p>
          <a:p>
            <a:pPr algn="l">
              <a:spcAft>
                <a:spcPts val="0"/>
              </a:spcAft>
            </a:pPr>
            <a:r>
              <a:rPr sz="1050">
                <a:solidFill>
                  <a:srgbClr val="14213D"/>
                </a:solidFill>
                <a:latin typeface="Consolas"/>
              </a:rPr>
              <a:t>  balanced_accuracy   0.792</a:t>
            </a:r>
          </a:p>
          <a:p>
            <a:pPr algn="l">
              <a:spcAft>
                <a:spcPts val="0"/>
              </a:spcAft>
            </a:pPr>
            <a:r>
              <a:rPr sz="1050">
                <a:solidFill>
                  <a:srgbClr val="14213D"/>
                </a:solidFill>
                <a:latin typeface="Consolas"/>
              </a:rPr>
              <a:t> </a:t>
            </a:r>
          </a:p>
          <a:p>
            <a:pPr algn="l">
              <a:spcAft>
                <a:spcPts val="0"/>
              </a:spcAft>
            </a:pPr>
            <a:r>
              <a:rPr sz="1050">
                <a:solidFill>
                  <a:srgbClr val="5F6C7B"/>
                </a:solidFill>
                <a:latin typeface="Consolas"/>
              </a:rPr>
              <a:t>Holdout evaluation (touched ONCE):</a:t>
            </a:r>
          </a:p>
          <a:p>
            <a:pPr algn="l">
              <a:spcAft>
                <a:spcPts val="0"/>
              </a:spcAft>
            </a:pPr>
            <a:r>
              <a:rPr sz="1050">
                <a:solidFill>
                  <a:srgbClr val="14213D"/>
                </a:solidFill>
                <a:latin typeface="Consolas"/>
              </a:rPr>
              <a:t>  roc_auc       </a:t>
            </a:r>
            <a:r>
              <a:rPr sz="1050">
                <a:solidFill>
                  <a:srgbClr val="2F855A"/>
                </a:solidFill>
                <a:latin typeface="Consolas"/>
              </a:rPr>
              <a:t>0.896</a:t>
            </a:r>
          </a:p>
          <a:p>
            <a:pPr algn="l">
              <a:spcAft>
                <a:spcPts val="0"/>
              </a:spcAft>
            </a:pPr>
            <a:r>
              <a:rPr sz="1050">
                <a:solidFill>
                  <a:srgbClr val="14213D"/>
                </a:solidFill>
                <a:latin typeface="Consolas"/>
              </a:rPr>
              <a:t>  recall        </a:t>
            </a:r>
            <a:r>
              <a:rPr sz="1050">
                <a:solidFill>
                  <a:srgbClr val="2F855A"/>
                </a:solidFill>
                <a:latin typeface="Consolas"/>
              </a:rPr>
              <a:t>0.886</a:t>
            </a:r>
          </a:p>
          <a:p>
            <a:pPr algn="l">
              <a:spcAft>
                <a:spcPts val="0"/>
              </a:spcAft>
            </a:pPr>
            <a:r>
              <a:rPr sz="1050">
                <a:solidFill>
                  <a:srgbClr val="14213D"/>
                </a:solidFill>
                <a:latin typeface="Consolas"/>
              </a:rPr>
              <a:t>  specificity   0.685</a:t>
            </a:r>
          </a:p>
          <a:p>
            <a:pPr algn="l">
              <a:spcAft>
                <a:spcPts val="0"/>
              </a:spcAft>
            </a:pPr>
            <a:r>
              <a:rPr sz="1050">
                <a:solidFill>
                  <a:srgbClr val="14213D"/>
                </a:solidFill>
                <a:latin typeface="Consolas"/>
              </a:rPr>
              <a:t>  precision     0.574</a:t>
            </a:r>
          </a:p>
          <a:p>
            <a:pPr algn="l">
              <a:spcAft>
                <a:spcPts val="0"/>
              </a:spcAft>
            </a:pPr>
            <a:r>
              <a:rPr sz="1050">
                <a:solidFill>
                  <a:srgbClr val="14213D"/>
                </a:solidFill>
                <a:latin typeface="Consolas"/>
              </a:rPr>
              <a:t>  npv           0.926</a:t>
            </a:r>
          </a:p>
          <a:p>
            <a:pPr algn="l">
              <a:spcAft>
                <a:spcPts val="0"/>
              </a:spcAft>
            </a:pPr>
            <a:r>
              <a:rPr sz="1050">
                <a:solidFill>
                  <a:srgbClr val="14213D"/>
                </a:solidFill>
                <a:latin typeface="Consolas"/>
              </a:rPr>
              <a:t>  f1            0.696</a:t>
            </a:r>
          </a:p>
          <a:p>
            <a:pPr algn="l">
              <a:spcAft>
                <a:spcPts val="0"/>
              </a:spcAft>
            </a:pPr>
            <a:r>
              <a:rPr sz="1050">
                <a:solidFill>
                  <a:srgbClr val="14213D"/>
                </a:solidFill>
                <a:latin typeface="Consolas"/>
              </a:rPr>
              <a:t>  f2            0.799</a:t>
            </a:r>
          </a:p>
        </p:txBody>
      </p:sp>
      <p:sp>
        <p:nvSpPr>
          <p:cNvPr id="17" name="Rounded Rectangle 16"/>
          <p:cNvSpPr/>
          <p:nvPr/>
        </p:nvSpPr>
        <p:spPr>
          <a:xfrm>
            <a:off x="502920" y="5989320"/>
            <a:ext cx="11185855" cy="640080"/>
          </a:xfrm>
          <a:prstGeom prst="roundRect">
            <a:avLst>
              <a:gd name="adj" fmla="val 18000"/>
            </a:avLst>
          </a:prstGeom>
          <a:solidFill>
            <a:srgbClr val="FFF0EB"/>
          </a:solidFill>
          <a:ln w="12700">
            <a:solidFill>
              <a:srgbClr val="D95D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89320"/>
            <a:ext cx="10682935" cy="640080"/>
          </a:xfrm>
          <a:prstGeom prst="rect">
            <a:avLst/>
          </a:prstGeom>
          <a:noFill/>
        </p:spPr>
        <p:txBody>
          <a:bodyPr wrap="square" lIns="0" rIns="0" tIns="36576" bIns="36576" anchor="ctr">
            <a:spAutoFit/>
          </a:bodyPr>
          <a:lstStyle/>
          <a:p>
            <a:pPr algn="l">
              <a:spcAft>
                <a:spcPts val="400"/>
              </a:spcAft>
            </a:pPr>
            <a:r>
              <a:rPr sz="1100" b="1" i="0">
                <a:solidFill>
                  <a:srgbClr val="D95D39"/>
                </a:solidFill>
                <a:latin typeface="Inter"/>
              </a:rPr>
              <a:t>Takeaway   </a:t>
            </a:r>
            <a:r>
              <a:rPr sz="1250" b="0" i="0">
                <a:solidFill>
                  <a:srgbClr val="14213D"/>
                </a:solidFill>
                <a:latin typeface="Inter"/>
              </a:rPr>
              <a:t>The test set is evaluated exactly once after the model is refit on the full training data — that is why the recall and specificity numbers on the next slide are honest.</a:t>
            </a:r>
          </a:p>
        </p:txBody>
      </p:sp>
      <p:sp>
        <p:nvSpPr>
          <p:cNvPr id="19" name="TextBox 18"/>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D95D39"/>
                </a:solidFill>
                <a:latin typeface="Inter"/>
              </a:rPr>
              <a:t>DEMO 3  ·  NOTEBOOK 07  ·  APPENDIX</a:t>
            </a:r>
          </a:p>
        </p:txBody>
      </p:sp>
      <p:sp>
        <p:nvSpPr>
          <p:cNvPr id="8" name="TextBox 7"/>
          <p:cNvSpPr txBox="1"/>
          <p:nvPr/>
        </p:nvSpPr>
        <p:spPr>
          <a:xfrm>
            <a:off x="502920" y="713232"/>
            <a:ext cx="11185855" cy="868680"/>
          </a:xfrm>
          <a:prstGeom prst="rect">
            <a:avLst/>
          </a:prstGeom>
          <a:noFill/>
        </p:spPr>
        <p:txBody>
          <a:bodyPr wrap="square" lIns="0" rIns="0" tIns="36576" bIns="36576" anchor="t">
            <a:spAutoFit/>
          </a:bodyPr>
          <a:lstStyle/>
          <a:p>
            <a:pPr algn="l"/>
            <a:r>
              <a:rPr sz="2200" b="1" i="0">
                <a:solidFill>
                  <a:srgbClr val="1F3A5F"/>
                </a:solidFill>
                <a:latin typeface="Inter"/>
              </a:rPr>
              <a:t>Paired bootstrap (2000 resamples) gives an AUC delta with a real interval.</a:t>
            </a:r>
          </a:p>
        </p:txBody>
      </p:sp>
      <p:sp>
        <p:nvSpPr>
          <p:cNvPr id="9" name="Rounded Rectangle 8"/>
          <p:cNvSpPr/>
          <p:nvPr/>
        </p:nvSpPr>
        <p:spPr>
          <a:xfrm>
            <a:off x="502920" y="1691640"/>
            <a:ext cx="5760720" cy="4160520"/>
          </a:xfrm>
          <a:prstGeom prst="roundRect">
            <a:avLst>
              <a:gd name="adj" fmla="val 4000"/>
            </a:avLst>
          </a:prstGeom>
          <a:solidFill>
            <a:srgbClr val="0F172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576072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691640"/>
            <a:ext cx="5486400" cy="320040"/>
          </a:xfrm>
          <a:prstGeom prst="rect">
            <a:avLst/>
          </a:prstGeom>
          <a:noFill/>
        </p:spPr>
        <p:txBody>
          <a:bodyPr wrap="square" lIns="0" rIns="0" tIns="36576" bIns="36576" anchor="ctr">
            <a:spAutoFit/>
          </a:bodyPr>
          <a:lstStyle/>
          <a:p>
            <a:pPr algn="l">
              <a:spcAft>
                <a:spcPts val="400"/>
              </a:spcAft>
            </a:pPr>
            <a:r>
              <a:rPr sz="1000" b="1" i="0">
                <a:solidFill>
                  <a:srgbClr val="9BB1D0"/>
                </a:solidFill>
                <a:latin typeface="Consolas"/>
              </a:rPr>
              <a:t>notebook 07  —  paired bootstrap loop</a:t>
            </a:r>
          </a:p>
        </p:txBody>
      </p:sp>
      <p:sp>
        <p:nvSpPr>
          <p:cNvPr id="12" name="TextBox 11"/>
          <p:cNvSpPr txBox="1"/>
          <p:nvPr/>
        </p:nvSpPr>
        <p:spPr>
          <a:xfrm>
            <a:off x="685800" y="2057400"/>
            <a:ext cx="5486400" cy="3749040"/>
          </a:xfrm>
          <a:prstGeom prst="rect">
            <a:avLst/>
          </a:prstGeom>
          <a:noFill/>
        </p:spPr>
        <p:txBody>
          <a:bodyPr wrap="square" lIns="45720" rIns="45720" tIns="36576" bIns="36576" anchor="t">
            <a:spAutoFit/>
          </a:bodyPr>
          <a:lstStyle/>
          <a:p>
            <a:pPr algn="l">
              <a:spcAft>
                <a:spcPts val="0"/>
              </a:spcAft>
            </a:pPr>
            <a:r>
              <a:rPr sz="1050">
                <a:solidFill>
                  <a:srgbClr val="E2E8F0"/>
                </a:solidFill>
                <a:latin typeface="Consolas"/>
              </a:rPr>
              <a:t>rng = np.</a:t>
            </a:r>
            <a:r>
              <a:rPr sz="1050">
                <a:solidFill>
                  <a:srgbClr val="60A5FA"/>
                </a:solidFill>
                <a:latin typeface="Consolas"/>
              </a:rPr>
              <a:t>default_rng</a:t>
            </a:r>
            <a:r>
              <a:rPr sz="1050">
                <a:solidFill>
                  <a:srgbClr val="E2E8F0"/>
                </a:solidFill>
                <a:latin typeface="Consolas"/>
              </a:rPr>
              <a:t>(seed=</a:t>
            </a:r>
            <a:r>
              <a:rPr sz="1050">
                <a:solidFill>
                  <a:srgbClr val="FACC15"/>
                </a:solidFill>
                <a:latin typeface="Consolas"/>
              </a:rPr>
              <a:t>42</a:t>
            </a:r>
            <a:r>
              <a:rPr sz="1050">
                <a:solidFill>
                  <a:srgbClr val="E2E8F0"/>
                </a:solidFill>
                <a:latin typeface="Consolas"/>
              </a:rPr>
              <a:t>)</a:t>
            </a:r>
          </a:p>
          <a:p>
            <a:pPr algn="l">
              <a:spcAft>
                <a:spcPts val="0"/>
              </a:spcAft>
            </a:pPr>
            <a:r>
              <a:rPr sz="1050">
                <a:solidFill>
                  <a:srgbClr val="E2E8F0"/>
                </a:solidFill>
                <a:latin typeface="Consolas"/>
              </a:rPr>
              <a:t>n = </a:t>
            </a:r>
            <a:r>
              <a:rPr sz="1050">
                <a:solidFill>
                  <a:srgbClr val="60A5FA"/>
                </a:solidFill>
                <a:latin typeface="Consolas"/>
              </a:rPr>
              <a:t>len</a:t>
            </a:r>
            <a:r>
              <a:rPr sz="1050">
                <a:solidFill>
                  <a:srgbClr val="E2E8F0"/>
                </a:solidFill>
                <a:latin typeface="Consolas"/>
              </a:rPr>
              <a:t>(y_test)</a:t>
            </a:r>
          </a:p>
          <a:p>
            <a:pPr algn="l">
              <a:spcAft>
                <a:spcPts val="0"/>
              </a:spcAft>
            </a:pPr>
            <a:r>
              <a:rPr sz="1050">
                <a:solidFill>
                  <a:srgbClr val="E2E8F0"/>
                </a:solidFill>
                <a:latin typeface="Consolas"/>
              </a:rPr>
              <a:t>deltas = []</a:t>
            </a:r>
          </a:p>
          <a:p>
            <a:pPr algn="l">
              <a:spcAft>
                <a:spcPts val="0"/>
              </a:spcAft>
            </a:pPr>
            <a:r>
              <a:rPr sz="1050">
                <a:solidFill>
                  <a:srgbClr val="C084FC"/>
                </a:solidFill>
                <a:latin typeface="Consolas"/>
              </a:rPr>
              <a:t>for</a:t>
            </a:r>
            <a:r>
              <a:rPr sz="1050">
                <a:solidFill>
                  <a:srgbClr val="E2E8F0"/>
                </a:solidFill>
                <a:latin typeface="Consolas"/>
              </a:rPr>
              <a:t> _ </a:t>
            </a:r>
            <a:r>
              <a:rPr sz="1050">
                <a:solidFill>
                  <a:srgbClr val="C084FC"/>
                </a:solidFill>
                <a:latin typeface="Consolas"/>
              </a:rPr>
              <a:t>in</a:t>
            </a:r>
            <a:r>
              <a:rPr sz="1050">
                <a:solidFill>
                  <a:srgbClr val="E2E8F0"/>
                </a:solidFill>
                <a:latin typeface="Consolas"/>
              </a:rPr>
              <a:t> </a:t>
            </a:r>
            <a:r>
              <a:rPr sz="1050">
                <a:solidFill>
                  <a:srgbClr val="60A5FA"/>
                </a:solidFill>
                <a:latin typeface="Consolas"/>
              </a:rPr>
              <a:t>range</a:t>
            </a:r>
            <a:r>
              <a:rPr sz="1050">
                <a:solidFill>
                  <a:srgbClr val="E2E8F0"/>
                </a:solidFill>
                <a:latin typeface="Consolas"/>
              </a:rPr>
              <a:t>(</a:t>
            </a:r>
            <a:r>
              <a:rPr sz="1050">
                <a:solidFill>
                  <a:srgbClr val="FACC15"/>
                </a:solidFill>
                <a:latin typeface="Consolas"/>
              </a:rPr>
              <a:t>2000</a:t>
            </a:r>
            <a:r>
              <a:rPr sz="1050">
                <a:solidFill>
                  <a:srgbClr val="E2E8F0"/>
                </a:solidFill>
                <a:latin typeface="Consolas"/>
              </a:rPr>
              <a:t>):</a:t>
            </a:r>
          </a:p>
          <a:p>
            <a:pPr algn="l">
              <a:spcAft>
                <a:spcPts val="0"/>
              </a:spcAft>
            </a:pPr>
            <a:r>
              <a:rPr sz="1050">
                <a:solidFill>
                  <a:srgbClr val="E2E8F0"/>
                </a:solidFill>
                <a:latin typeface="Consolas"/>
              </a:rPr>
              <a:t>    idx = rng.</a:t>
            </a:r>
            <a:r>
              <a:rPr sz="1050">
                <a:solidFill>
                  <a:srgbClr val="60A5FA"/>
                </a:solidFill>
                <a:latin typeface="Consolas"/>
              </a:rPr>
              <a:t>choice</a:t>
            </a:r>
            <a:r>
              <a:rPr sz="1050">
                <a:solidFill>
                  <a:srgbClr val="E2E8F0"/>
                </a:solidFill>
                <a:latin typeface="Consolas"/>
              </a:rPr>
              <a:t>(n, n, replace=</a:t>
            </a:r>
            <a:r>
              <a:rPr sz="1050">
                <a:solidFill>
                  <a:srgbClr val="C084FC"/>
                </a:solidFill>
                <a:latin typeface="Consolas"/>
              </a:rPr>
              <a:t>True</a:t>
            </a:r>
            <a:r>
              <a:rPr sz="1050">
                <a:solidFill>
                  <a:srgbClr val="E2E8F0"/>
                </a:solidFill>
                <a:latin typeface="Consolas"/>
              </a:rPr>
              <a:t>)</a:t>
            </a:r>
          </a:p>
          <a:p>
            <a:pPr algn="l">
              <a:spcAft>
                <a:spcPts val="0"/>
              </a:spcAft>
            </a:pPr>
            <a:r>
              <a:rPr sz="1050">
                <a:solidFill>
                  <a:srgbClr val="E2E8F0"/>
                </a:solidFill>
                <a:latin typeface="Consolas"/>
              </a:rPr>
              <a:t>    yb  = y_test.values[idx]</a:t>
            </a:r>
          </a:p>
          <a:p>
            <a:pPr algn="l">
              <a:spcAft>
                <a:spcPts val="0"/>
              </a:spcAft>
            </a:pPr>
            <a:r>
              <a:rPr sz="1050">
                <a:solidFill>
                  <a:srgbClr val="C084FC"/>
                </a:solidFill>
                <a:latin typeface="Consolas"/>
              </a:rPr>
              <a:t>    if</a:t>
            </a:r>
            <a:r>
              <a:rPr sz="1050">
                <a:solidFill>
                  <a:srgbClr val="E2E8F0"/>
                </a:solidFill>
                <a:latin typeface="Consolas"/>
              </a:rPr>
              <a:t> yb.</a:t>
            </a:r>
            <a:r>
              <a:rPr sz="1050">
                <a:solidFill>
                  <a:srgbClr val="60A5FA"/>
                </a:solidFill>
                <a:latin typeface="Consolas"/>
              </a:rPr>
              <a:t>sum</a:t>
            </a:r>
            <a:r>
              <a:rPr sz="1050">
                <a:solidFill>
                  <a:srgbClr val="E2E8F0"/>
                </a:solidFill>
                <a:latin typeface="Consolas"/>
              </a:rPr>
              <a:t>() == </a:t>
            </a:r>
            <a:r>
              <a:rPr sz="1050">
                <a:solidFill>
                  <a:srgbClr val="FACC15"/>
                </a:solidFill>
                <a:latin typeface="Consolas"/>
              </a:rPr>
              <a:t>0</a:t>
            </a:r>
            <a:r>
              <a:rPr sz="1050">
                <a:solidFill>
                  <a:srgbClr val="E2E8F0"/>
                </a:solidFill>
                <a:latin typeface="Consolas"/>
              </a:rPr>
              <a:t> </a:t>
            </a:r>
            <a:r>
              <a:rPr sz="1050">
                <a:solidFill>
                  <a:srgbClr val="C084FC"/>
                </a:solidFill>
                <a:latin typeface="Consolas"/>
              </a:rPr>
              <a:t>or</a:t>
            </a:r>
            <a:r>
              <a:rPr sz="1050">
                <a:solidFill>
                  <a:srgbClr val="E2E8F0"/>
                </a:solidFill>
                <a:latin typeface="Consolas"/>
              </a:rPr>
              <a:t> yb.</a:t>
            </a:r>
            <a:r>
              <a:rPr sz="1050">
                <a:solidFill>
                  <a:srgbClr val="60A5FA"/>
                </a:solidFill>
                <a:latin typeface="Consolas"/>
              </a:rPr>
              <a:t>sum</a:t>
            </a:r>
            <a:r>
              <a:rPr sz="1050">
                <a:solidFill>
                  <a:srgbClr val="E2E8F0"/>
                </a:solidFill>
                <a:latin typeface="Consolas"/>
              </a:rPr>
              <a:t>() == </a:t>
            </a:r>
            <a:r>
              <a:rPr sz="1050">
                <a:solidFill>
                  <a:srgbClr val="60A5FA"/>
                </a:solidFill>
                <a:latin typeface="Consolas"/>
              </a:rPr>
              <a:t>len</a:t>
            </a:r>
            <a:r>
              <a:rPr sz="1050">
                <a:solidFill>
                  <a:srgbClr val="E2E8F0"/>
                </a:solidFill>
                <a:latin typeface="Consolas"/>
              </a:rPr>
              <a:t>(yb):</a:t>
            </a:r>
          </a:p>
          <a:p>
            <a:pPr algn="l">
              <a:spcAft>
                <a:spcPts val="0"/>
              </a:spcAft>
            </a:pPr>
            <a:r>
              <a:rPr sz="1050">
                <a:solidFill>
                  <a:srgbClr val="C084FC"/>
                </a:solidFill>
                <a:latin typeface="Consolas"/>
              </a:rPr>
              <a:t>        continue</a:t>
            </a:r>
            <a:r>
              <a:rPr sz="1050">
                <a:solidFill>
                  <a:srgbClr val="94A3B8"/>
                </a:solidFill>
                <a:latin typeface="Consolas"/>
              </a:rPr>
              <a:t>  # AUC undefined on single-class draw</a:t>
            </a:r>
          </a:p>
          <a:p>
            <a:pPr algn="l">
              <a:spcAft>
                <a:spcPts val="0"/>
              </a:spcAft>
            </a:pPr>
            <a:r>
              <a:rPr sz="1050">
                <a:solidFill>
                  <a:srgbClr val="E2E8F0"/>
                </a:solidFill>
                <a:latin typeface="Consolas"/>
              </a:rPr>
              <a:t>    auc_s = </a:t>
            </a:r>
            <a:r>
              <a:rPr sz="1050">
                <a:solidFill>
                  <a:srgbClr val="60A5FA"/>
                </a:solidFill>
                <a:latin typeface="Consolas"/>
              </a:rPr>
              <a:t>roc_auc_score</a:t>
            </a:r>
            <a:r>
              <a:rPr sz="1050">
                <a:solidFill>
                  <a:srgbClr val="E2E8F0"/>
                </a:solidFill>
                <a:latin typeface="Consolas"/>
              </a:rPr>
              <a:t>(yb, screening_proba[idx])</a:t>
            </a:r>
          </a:p>
          <a:p>
            <a:pPr algn="l">
              <a:spcAft>
                <a:spcPts val="0"/>
              </a:spcAft>
            </a:pPr>
            <a:r>
              <a:rPr sz="1050">
                <a:solidFill>
                  <a:srgbClr val="E2E8F0"/>
                </a:solidFill>
                <a:latin typeface="Consolas"/>
              </a:rPr>
              <a:t>    auc_e = </a:t>
            </a:r>
            <a:r>
              <a:rPr sz="1050">
                <a:solidFill>
                  <a:srgbClr val="60A5FA"/>
                </a:solidFill>
                <a:latin typeface="Consolas"/>
              </a:rPr>
              <a:t>roc_auc_score</a:t>
            </a:r>
            <a:r>
              <a:rPr sz="1050">
                <a:solidFill>
                  <a:srgbClr val="E2E8F0"/>
                </a:solidFill>
                <a:latin typeface="Consolas"/>
              </a:rPr>
              <a:t>(yb, enhanced_proba[idx])</a:t>
            </a:r>
          </a:p>
          <a:p>
            <a:pPr algn="l">
              <a:spcAft>
                <a:spcPts val="0"/>
              </a:spcAft>
            </a:pPr>
            <a:r>
              <a:rPr sz="1050">
                <a:solidFill>
                  <a:srgbClr val="E2E8F0"/>
                </a:solidFill>
                <a:latin typeface="Consolas"/>
              </a:rPr>
              <a:t>    deltas.</a:t>
            </a:r>
            <a:r>
              <a:rPr sz="1050">
                <a:solidFill>
                  <a:srgbClr val="60A5FA"/>
                </a:solidFill>
                <a:latin typeface="Consolas"/>
              </a:rPr>
              <a:t>append</a:t>
            </a:r>
            <a:r>
              <a:rPr sz="1050">
                <a:solidFill>
                  <a:srgbClr val="E2E8F0"/>
                </a:solidFill>
                <a:latin typeface="Consolas"/>
              </a:rPr>
              <a:t>(auc_e - auc_s)</a:t>
            </a:r>
          </a:p>
          <a:p>
            <a:pPr algn="l">
              <a:spcAft>
                <a:spcPts val="0"/>
              </a:spcAft>
            </a:pPr>
            <a:r>
              <a:rPr sz="1050">
                <a:solidFill>
                  <a:srgbClr val="E2E8F0"/>
                </a:solidFill>
                <a:latin typeface="Consolas"/>
              </a:rPr>
              <a:t> </a:t>
            </a:r>
          </a:p>
          <a:p>
            <a:pPr algn="l">
              <a:spcAft>
                <a:spcPts val="0"/>
              </a:spcAft>
            </a:pPr>
            <a:r>
              <a:rPr sz="1050">
                <a:solidFill>
                  <a:srgbClr val="E2E8F0"/>
                </a:solidFill>
                <a:latin typeface="Consolas"/>
              </a:rPr>
              <a:t>deltas = np.</a:t>
            </a:r>
            <a:r>
              <a:rPr sz="1050">
                <a:solidFill>
                  <a:srgbClr val="60A5FA"/>
                </a:solidFill>
                <a:latin typeface="Consolas"/>
              </a:rPr>
              <a:t>asarray</a:t>
            </a:r>
            <a:r>
              <a:rPr sz="1050">
                <a:solidFill>
                  <a:srgbClr val="E2E8F0"/>
                </a:solidFill>
                <a:latin typeface="Consolas"/>
              </a:rPr>
              <a:t>(deltas)</a:t>
            </a:r>
          </a:p>
          <a:p>
            <a:pPr algn="l">
              <a:spcAft>
                <a:spcPts val="0"/>
              </a:spcAft>
            </a:pPr>
            <a:r>
              <a:rPr sz="1050">
                <a:solidFill>
                  <a:srgbClr val="E2E8F0"/>
                </a:solidFill>
                <a:latin typeface="Consolas"/>
              </a:rPr>
              <a:t>point = deltas.</a:t>
            </a:r>
            <a:r>
              <a:rPr sz="1050">
                <a:solidFill>
                  <a:srgbClr val="60A5FA"/>
                </a:solidFill>
                <a:latin typeface="Consolas"/>
              </a:rPr>
              <a:t>mean</a:t>
            </a:r>
            <a:r>
              <a:rPr sz="1050">
                <a:solidFill>
                  <a:srgbClr val="E2E8F0"/>
                </a:solidFill>
                <a:latin typeface="Consolas"/>
              </a:rPr>
              <a:t>()</a:t>
            </a:r>
          </a:p>
          <a:p>
            <a:pPr algn="l">
              <a:spcAft>
                <a:spcPts val="0"/>
              </a:spcAft>
            </a:pPr>
            <a:r>
              <a:rPr sz="1050">
                <a:solidFill>
                  <a:srgbClr val="E2E8F0"/>
                </a:solidFill>
                <a:latin typeface="Consolas"/>
              </a:rPr>
              <a:t>ci    = np.</a:t>
            </a:r>
            <a:r>
              <a:rPr sz="1050">
                <a:solidFill>
                  <a:srgbClr val="60A5FA"/>
                </a:solidFill>
                <a:latin typeface="Consolas"/>
              </a:rPr>
              <a:t>percentile</a:t>
            </a:r>
            <a:r>
              <a:rPr sz="1050">
                <a:solidFill>
                  <a:srgbClr val="E2E8F0"/>
                </a:solidFill>
                <a:latin typeface="Consolas"/>
              </a:rPr>
              <a:t>(deltas, [</a:t>
            </a:r>
            <a:r>
              <a:rPr sz="1050">
                <a:solidFill>
                  <a:srgbClr val="FACC15"/>
                </a:solidFill>
                <a:latin typeface="Consolas"/>
              </a:rPr>
              <a:t>2.5</a:t>
            </a:r>
            <a:r>
              <a:rPr sz="1050">
                <a:solidFill>
                  <a:srgbClr val="E2E8F0"/>
                </a:solidFill>
                <a:latin typeface="Consolas"/>
              </a:rPr>
              <a:t>, </a:t>
            </a:r>
            <a:r>
              <a:rPr sz="1050">
                <a:solidFill>
                  <a:srgbClr val="FACC15"/>
                </a:solidFill>
                <a:latin typeface="Consolas"/>
              </a:rPr>
              <a:t>97.5</a:t>
            </a:r>
            <a:r>
              <a:rPr sz="1050">
                <a:solidFill>
                  <a:srgbClr val="E2E8F0"/>
                </a:solidFill>
                <a:latin typeface="Consolas"/>
              </a:rPr>
              <a:t>])</a:t>
            </a:r>
          </a:p>
          <a:p>
            <a:pPr algn="l">
              <a:spcAft>
                <a:spcPts val="0"/>
              </a:spcAft>
            </a:pPr>
            <a:r>
              <a:rPr sz="1050">
                <a:solidFill>
                  <a:srgbClr val="E2E8F0"/>
                </a:solidFill>
                <a:latin typeface="Consolas"/>
              </a:rPr>
              <a:t>p_val = </a:t>
            </a:r>
            <a:r>
              <a:rPr sz="1050">
                <a:solidFill>
                  <a:srgbClr val="FACC15"/>
                </a:solidFill>
                <a:latin typeface="Consolas"/>
              </a:rPr>
              <a:t>2</a:t>
            </a:r>
            <a:r>
              <a:rPr sz="1050">
                <a:solidFill>
                  <a:srgbClr val="E2E8F0"/>
                </a:solidFill>
                <a:latin typeface="Consolas"/>
              </a:rPr>
              <a:t> * </a:t>
            </a:r>
            <a:r>
              <a:rPr sz="1050">
                <a:solidFill>
                  <a:srgbClr val="60A5FA"/>
                </a:solidFill>
                <a:latin typeface="Consolas"/>
              </a:rPr>
              <a:t>min</a:t>
            </a:r>
            <a:r>
              <a:rPr sz="1050">
                <a:solidFill>
                  <a:srgbClr val="E2E8F0"/>
                </a:solidFill>
                <a:latin typeface="Consolas"/>
              </a:rPr>
              <a:t>((deltas &lt;= </a:t>
            </a:r>
            <a:r>
              <a:rPr sz="1050">
                <a:solidFill>
                  <a:srgbClr val="FACC15"/>
                </a:solidFill>
                <a:latin typeface="Consolas"/>
              </a:rPr>
              <a:t>0</a:t>
            </a:r>
            <a:r>
              <a:rPr sz="1050">
                <a:solidFill>
                  <a:srgbClr val="E2E8F0"/>
                </a:solidFill>
                <a:latin typeface="Consolas"/>
              </a:rPr>
              <a:t>).</a:t>
            </a:r>
            <a:r>
              <a:rPr sz="1050">
                <a:solidFill>
                  <a:srgbClr val="60A5FA"/>
                </a:solidFill>
                <a:latin typeface="Consolas"/>
              </a:rPr>
              <a:t>mean</a:t>
            </a:r>
            <a:r>
              <a:rPr sz="1050">
                <a:solidFill>
                  <a:srgbClr val="E2E8F0"/>
                </a:solidFill>
                <a:latin typeface="Consolas"/>
              </a:rPr>
              <a:t>(),</a:t>
            </a:r>
          </a:p>
          <a:p>
            <a:pPr algn="l">
              <a:spcAft>
                <a:spcPts val="0"/>
              </a:spcAft>
            </a:pPr>
            <a:r>
              <a:rPr sz="1050">
                <a:solidFill>
                  <a:srgbClr val="E2E8F0"/>
                </a:solidFill>
                <a:latin typeface="Consolas"/>
              </a:rPr>
              <a:t>                  (deltas &gt;= </a:t>
            </a:r>
            <a:r>
              <a:rPr sz="1050">
                <a:solidFill>
                  <a:srgbClr val="FACC15"/>
                </a:solidFill>
                <a:latin typeface="Consolas"/>
              </a:rPr>
              <a:t>0</a:t>
            </a:r>
            <a:r>
              <a:rPr sz="1050">
                <a:solidFill>
                  <a:srgbClr val="E2E8F0"/>
                </a:solidFill>
                <a:latin typeface="Consolas"/>
              </a:rPr>
              <a:t>).</a:t>
            </a:r>
            <a:r>
              <a:rPr sz="1050">
                <a:solidFill>
                  <a:srgbClr val="60A5FA"/>
                </a:solidFill>
                <a:latin typeface="Consolas"/>
              </a:rPr>
              <a:t>mean</a:t>
            </a:r>
            <a:r>
              <a:rPr sz="1050">
                <a:solidFill>
                  <a:srgbClr val="E2E8F0"/>
                </a:solidFill>
                <a:latin typeface="Consolas"/>
              </a:rPr>
              <a:t>())</a:t>
            </a:r>
          </a:p>
        </p:txBody>
      </p:sp>
      <p:sp>
        <p:nvSpPr>
          <p:cNvPr id="13" name="Rounded Rectangle 12"/>
          <p:cNvSpPr/>
          <p:nvPr/>
        </p:nvSpPr>
        <p:spPr>
          <a:xfrm>
            <a:off x="6492240" y="1691640"/>
            <a:ext cx="5257800" cy="4160520"/>
          </a:xfrm>
          <a:prstGeom prst="roundRect">
            <a:avLst>
              <a:gd name="adj" fmla="val 4000"/>
            </a:avLst>
          </a:prstGeom>
          <a:solidFill>
            <a:srgbClr val="F8FAFC"/>
          </a:solidFill>
          <a:ln w="7620">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691640"/>
            <a:ext cx="5257800" cy="320040"/>
          </a:xfrm>
          <a:prstGeom prst="rect">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1691640"/>
            <a:ext cx="4983480" cy="320040"/>
          </a:xfrm>
          <a:prstGeom prst="rect">
            <a:avLst/>
          </a:prstGeom>
          <a:noFill/>
        </p:spPr>
        <p:txBody>
          <a:bodyPr wrap="square" lIns="0" rIns="0" tIns="36576" bIns="36576" anchor="ctr">
            <a:spAutoFit/>
          </a:bodyPr>
          <a:lstStyle/>
          <a:p>
            <a:pPr algn="l">
              <a:spcAft>
                <a:spcPts val="400"/>
              </a:spcAft>
            </a:pPr>
            <a:r>
              <a:rPr sz="1000" b="1" i="0">
                <a:solidFill>
                  <a:srgbClr val="007C89"/>
                </a:solidFill>
                <a:latin typeface="Consolas"/>
              </a:rPr>
              <a:t>Output  —  outputs/metrics/holdout_bootstrap_cis.json</a:t>
            </a:r>
          </a:p>
        </p:txBody>
      </p:sp>
      <p:sp>
        <p:nvSpPr>
          <p:cNvPr id="16" name="TextBox 15"/>
          <p:cNvSpPr txBox="1"/>
          <p:nvPr/>
        </p:nvSpPr>
        <p:spPr>
          <a:xfrm>
            <a:off x="6675120" y="2057400"/>
            <a:ext cx="4983480" cy="3749040"/>
          </a:xfrm>
          <a:prstGeom prst="rect">
            <a:avLst/>
          </a:prstGeom>
          <a:noFill/>
        </p:spPr>
        <p:txBody>
          <a:bodyPr wrap="square" lIns="45720" rIns="45720" tIns="36576" bIns="36576" anchor="t">
            <a:spAutoFit/>
          </a:bodyPr>
          <a:lstStyle/>
          <a:p>
            <a:pPr algn="l">
              <a:spcAft>
                <a:spcPts val="0"/>
              </a:spcAft>
            </a:pPr>
            <a:r>
              <a:rPr sz="1050">
                <a:solidFill>
                  <a:srgbClr val="14213D"/>
                </a:solidFill>
                <a:latin typeface="Consolas"/>
              </a:rPr>
              <a:t>{</a:t>
            </a:r>
          </a:p>
          <a:p>
            <a:pPr algn="l">
              <a:spcAft>
                <a:spcPts val="0"/>
              </a:spcAft>
            </a:pPr>
            <a:r>
              <a:rPr sz="1050">
                <a:solidFill>
                  <a:srgbClr val="14213D"/>
                </a:solidFill>
                <a:latin typeface="Consolas"/>
              </a:rPr>
              <a:t>  </a:t>
            </a:r>
            <a:r>
              <a:rPr sz="1050">
                <a:solidFill>
                  <a:srgbClr val="5F6C7B"/>
                </a:solidFill>
                <a:latin typeface="Consolas"/>
              </a:rPr>
              <a:t>"screening"</a:t>
            </a:r>
            <a:r>
              <a:rPr sz="1050">
                <a:solidFill>
                  <a:srgbClr val="14213D"/>
                </a:solidFill>
                <a:latin typeface="Consolas"/>
              </a:rPr>
              <a:t>: {</a:t>
            </a:r>
            <a:r>
              <a:rPr sz="1050">
                <a:solidFill>
                  <a:srgbClr val="5F6C7B"/>
                </a:solidFill>
                <a:latin typeface="Consolas"/>
              </a:rPr>
              <a:t>"roc_auc"</a:t>
            </a:r>
            <a:r>
              <a:rPr sz="1050">
                <a:solidFill>
                  <a:srgbClr val="14213D"/>
                </a:solidFill>
                <a:latin typeface="Consolas"/>
              </a:rPr>
              <a:t>: {</a:t>
            </a:r>
          </a:p>
          <a:p>
            <a:pPr algn="l">
              <a:spcAft>
                <a:spcPts val="0"/>
              </a:spcAft>
            </a:pPr>
            <a:r>
              <a:rPr sz="1050">
                <a:solidFill>
                  <a:srgbClr val="14213D"/>
                </a:solidFill>
                <a:latin typeface="Consolas"/>
              </a:rPr>
              <a:t>    </a:t>
            </a:r>
            <a:r>
              <a:rPr sz="1050">
                <a:solidFill>
                  <a:srgbClr val="5F6C7B"/>
                </a:solidFill>
                <a:latin typeface="Consolas"/>
              </a:rPr>
              <a:t>"point"</a:t>
            </a:r>
            <a:r>
              <a:rPr sz="1050">
                <a:solidFill>
                  <a:srgbClr val="14213D"/>
                </a:solidFill>
                <a:latin typeface="Consolas"/>
              </a:rPr>
              <a:t>: 0.8955,</a:t>
            </a:r>
          </a:p>
          <a:p>
            <a:pPr algn="l">
              <a:spcAft>
                <a:spcPts val="0"/>
              </a:spcAft>
            </a:pPr>
            <a:r>
              <a:rPr sz="1050">
                <a:solidFill>
                  <a:srgbClr val="14213D"/>
                </a:solidFill>
                <a:latin typeface="Consolas"/>
              </a:rPr>
              <a:t>    </a:t>
            </a:r>
            <a:r>
              <a:rPr sz="1050">
                <a:solidFill>
                  <a:srgbClr val="5F6C7B"/>
                </a:solidFill>
                <a:latin typeface="Consolas"/>
              </a:rPr>
              <a:t>"ci_lo"</a:t>
            </a:r>
            <a:r>
              <a:rPr sz="1050">
                <a:solidFill>
                  <a:srgbClr val="14213D"/>
                </a:solidFill>
                <a:latin typeface="Consolas"/>
              </a:rPr>
              <a:t>: 0.8300, </a:t>
            </a:r>
            <a:r>
              <a:rPr sz="1050">
                <a:solidFill>
                  <a:srgbClr val="5F6C7B"/>
                </a:solidFill>
                <a:latin typeface="Consolas"/>
              </a:rPr>
              <a:t>"ci_hi"</a:t>
            </a:r>
            <a:r>
              <a:rPr sz="1050">
                <a:solidFill>
                  <a:srgbClr val="14213D"/>
                </a:solidFill>
                <a:latin typeface="Consolas"/>
              </a:rPr>
              <a:t>: 0.9515</a:t>
            </a:r>
          </a:p>
          <a:p>
            <a:pPr algn="l">
              <a:spcAft>
                <a:spcPts val="0"/>
              </a:spcAft>
            </a:pPr>
            <a:r>
              <a:rPr sz="1050">
                <a:solidFill>
                  <a:srgbClr val="14213D"/>
                </a:solidFill>
                <a:latin typeface="Consolas"/>
              </a:rPr>
              <a:t>  }},</a:t>
            </a:r>
          </a:p>
          <a:p>
            <a:pPr algn="l">
              <a:spcAft>
                <a:spcPts val="0"/>
              </a:spcAft>
            </a:pPr>
            <a:r>
              <a:rPr sz="1050">
                <a:solidFill>
                  <a:srgbClr val="14213D"/>
                </a:solidFill>
                <a:latin typeface="Consolas"/>
              </a:rPr>
              <a:t>  </a:t>
            </a:r>
            <a:r>
              <a:rPr sz="1050">
                <a:solidFill>
                  <a:srgbClr val="5F6C7B"/>
                </a:solidFill>
                <a:latin typeface="Consolas"/>
              </a:rPr>
              <a:t>"enhanced"</a:t>
            </a:r>
            <a:r>
              <a:rPr sz="1050">
                <a:solidFill>
                  <a:srgbClr val="14213D"/>
                </a:solidFill>
                <a:latin typeface="Consolas"/>
              </a:rPr>
              <a:t>: {</a:t>
            </a:r>
            <a:r>
              <a:rPr sz="1050">
                <a:solidFill>
                  <a:srgbClr val="5F6C7B"/>
                </a:solidFill>
                <a:latin typeface="Consolas"/>
              </a:rPr>
              <a:t>"roc_auc"</a:t>
            </a:r>
            <a:r>
              <a:rPr sz="1050">
                <a:solidFill>
                  <a:srgbClr val="14213D"/>
                </a:solidFill>
                <a:latin typeface="Consolas"/>
              </a:rPr>
              <a:t>: {</a:t>
            </a:r>
          </a:p>
          <a:p>
            <a:pPr algn="l">
              <a:spcAft>
                <a:spcPts val="0"/>
              </a:spcAft>
            </a:pPr>
            <a:r>
              <a:rPr sz="1050">
                <a:solidFill>
                  <a:srgbClr val="14213D"/>
                </a:solidFill>
                <a:latin typeface="Consolas"/>
              </a:rPr>
              <a:t>    </a:t>
            </a:r>
            <a:r>
              <a:rPr sz="1050">
                <a:solidFill>
                  <a:srgbClr val="5F6C7B"/>
                </a:solidFill>
                <a:latin typeface="Consolas"/>
              </a:rPr>
              <a:t>"point"</a:t>
            </a:r>
            <a:r>
              <a:rPr sz="1050">
                <a:solidFill>
                  <a:srgbClr val="14213D"/>
                </a:solidFill>
                <a:latin typeface="Consolas"/>
              </a:rPr>
              <a:t>:  </a:t>
            </a:r>
            <a:r>
              <a:rPr sz="1050">
                <a:solidFill>
                  <a:srgbClr val="2F855A"/>
                </a:solidFill>
                <a:latin typeface="Consolas"/>
              </a:rPr>
              <a:t>0.9528</a:t>
            </a:r>
            <a:r>
              <a:rPr sz="1050">
                <a:solidFill>
                  <a:srgbClr val="14213D"/>
                </a:solidFill>
                <a:latin typeface="Consolas"/>
              </a:rPr>
              <a:t>,</a:t>
            </a:r>
          </a:p>
          <a:p>
            <a:pPr algn="l">
              <a:spcAft>
                <a:spcPts val="0"/>
              </a:spcAft>
            </a:pPr>
            <a:r>
              <a:rPr sz="1050">
                <a:solidFill>
                  <a:srgbClr val="14213D"/>
                </a:solidFill>
                <a:latin typeface="Consolas"/>
              </a:rPr>
              <a:t>    </a:t>
            </a:r>
            <a:r>
              <a:rPr sz="1050">
                <a:solidFill>
                  <a:srgbClr val="5F6C7B"/>
                </a:solidFill>
                <a:latin typeface="Consolas"/>
              </a:rPr>
              <a:t>"ci_lo"</a:t>
            </a:r>
            <a:r>
              <a:rPr sz="1050">
                <a:solidFill>
                  <a:srgbClr val="14213D"/>
                </a:solidFill>
                <a:latin typeface="Consolas"/>
              </a:rPr>
              <a:t>:  </a:t>
            </a:r>
            <a:r>
              <a:rPr sz="1050">
                <a:solidFill>
                  <a:srgbClr val="2F855A"/>
                </a:solidFill>
                <a:latin typeface="Consolas"/>
              </a:rPr>
              <a:t>0.9114</a:t>
            </a:r>
            <a:r>
              <a:rPr sz="1050">
                <a:solidFill>
                  <a:srgbClr val="14213D"/>
                </a:solidFill>
                <a:latin typeface="Consolas"/>
              </a:rPr>
              <a:t>, </a:t>
            </a:r>
            <a:r>
              <a:rPr sz="1050">
                <a:solidFill>
                  <a:srgbClr val="5F6C7B"/>
                </a:solidFill>
                <a:latin typeface="Consolas"/>
              </a:rPr>
              <a:t>"ci_hi"</a:t>
            </a:r>
            <a:r>
              <a:rPr sz="1050">
                <a:solidFill>
                  <a:srgbClr val="14213D"/>
                </a:solidFill>
                <a:latin typeface="Consolas"/>
              </a:rPr>
              <a:t>:  </a:t>
            </a:r>
            <a:r>
              <a:rPr sz="1050">
                <a:solidFill>
                  <a:srgbClr val="2F855A"/>
                </a:solidFill>
                <a:latin typeface="Consolas"/>
              </a:rPr>
              <a:t>0.9852</a:t>
            </a:r>
          </a:p>
          <a:p>
            <a:pPr algn="l">
              <a:spcAft>
                <a:spcPts val="0"/>
              </a:spcAft>
            </a:pPr>
            <a:r>
              <a:rPr sz="1050">
                <a:solidFill>
                  <a:srgbClr val="14213D"/>
                </a:solidFill>
                <a:latin typeface="Consolas"/>
              </a:rPr>
              <a:t>  }},</a:t>
            </a:r>
          </a:p>
          <a:p>
            <a:pPr algn="l">
              <a:spcAft>
                <a:spcPts val="0"/>
              </a:spcAft>
            </a:pPr>
            <a:r>
              <a:rPr sz="1050">
                <a:solidFill>
                  <a:srgbClr val="14213D"/>
                </a:solidFill>
                <a:latin typeface="Consolas"/>
              </a:rPr>
              <a:t>  </a:t>
            </a:r>
            <a:r>
              <a:rPr sz="1050">
                <a:solidFill>
                  <a:srgbClr val="5F6C7B"/>
                </a:solidFill>
                <a:latin typeface="Consolas"/>
              </a:rPr>
              <a:t>"auc_difference"</a:t>
            </a:r>
            <a:r>
              <a:rPr sz="1050">
                <a:solidFill>
                  <a:srgbClr val="14213D"/>
                </a:solidFill>
                <a:latin typeface="Consolas"/>
              </a:rPr>
              <a:t>: {</a:t>
            </a:r>
          </a:p>
          <a:p>
            <a:pPr algn="l">
              <a:spcAft>
                <a:spcPts val="0"/>
              </a:spcAft>
            </a:pPr>
            <a:r>
              <a:rPr sz="1050">
                <a:solidFill>
                  <a:srgbClr val="14213D"/>
                </a:solidFill>
                <a:latin typeface="Consolas"/>
              </a:rPr>
              <a:t>    </a:t>
            </a:r>
            <a:r>
              <a:rPr sz="1050">
                <a:solidFill>
                  <a:srgbClr val="5F6C7B"/>
                </a:solidFill>
                <a:latin typeface="Consolas"/>
              </a:rPr>
              <a:t>"point"</a:t>
            </a:r>
            <a:r>
              <a:rPr sz="1050">
                <a:solidFill>
                  <a:srgbClr val="14213D"/>
                </a:solidFill>
                <a:latin typeface="Consolas"/>
              </a:rPr>
              <a:t>:               </a:t>
            </a:r>
            <a:r>
              <a:rPr sz="1050">
                <a:solidFill>
                  <a:srgbClr val="D95D39"/>
                </a:solidFill>
                <a:latin typeface="Consolas"/>
              </a:rPr>
              <a:t>+0.0573</a:t>
            </a:r>
          </a:p>
          <a:p>
            <a:pPr algn="l">
              <a:spcAft>
                <a:spcPts val="0"/>
              </a:spcAft>
            </a:pPr>
            <a:r>
              <a:rPr sz="1050">
                <a:solidFill>
                  <a:srgbClr val="14213D"/>
                </a:solidFill>
                <a:latin typeface="Consolas"/>
              </a:rPr>
              <a:t>    </a:t>
            </a:r>
            <a:r>
              <a:rPr sz="1050">
                <a:solidFill>
                  <a:srgbClr val="5F6C7B"/>
                </a:solidFill>
                <a:latin typeface="Consolas"/>
              </a:rPr>
              <a:t>"ci_lo"</a:t>
            </a:r>
            <a:r>
              <a:rPr sz="1050">
                <a:solidFill>
                  <a:srgbClr val="14213D"/>
                </a:solidFill>
                <a:latin typeface="Consolas"/>
              </a:rPr>
              <a:t>:               </a:t>
            </a:r>
            <a:r>
              <a:rPr sz="1050">
                <a:solidFill>
                  <a:srgbClr val="D95D39"/>
                </a:solidFill>
                <a:latin typeface="Consolas"/>
              </a:rPr>
              <a:t>+0.0130</a:t>
            </a:r>
          </a:p>
          <a:p>
            <a:pPr algn="l">
              <a:spcAft>
                <a:spcPts val="0"/>
              </a:spcAft>
            </a:pPr>
            <a:r>
              <a:rPr sz="1050">
                <a:solidFill>
                  <a:srgbClr val="14213D"/>
                </a:solidFill>
                <a:latin typeface="Consolas"/>
              </a:rPr>
              <a:t>    </a:t>
            </a:r>
            <a:r>
              <a:rPr sz="1050">
                <a:solidFill>
                  <a:srgbClr val="5F6C7B"/>
                </a:solidFill>
                <a:latin typeface="Consolas"/>
              </a:rPr>
              <a:t>"ci_hi"</a:t>
            </a:r>
            <a:r>
              <a:rPr sz="1050">
                <a:solidFill>
                  <a:srgbClr val="14213D"/>
                </a:solidFill>
                <a:latin typeface="Consolas"/>
              </a:rPr>
              <a:t>:               </a:t>
            </a:r>
            <a:r>
              <a:rPr sz="1050">
                <a:solidFill>
                  <a:srgbClr val="D95D39"/>
                </a:solidFill>
                <a:latin typeface="Consolas"/>
              </a:rPr>
              <a:t>+0.1051</a:t>
            </a:r>
          </a:p>
          <a:p>
            <a:pPr algn="l">
              <a:spcAft>
                <a:spcPts val="0"/>
              </a:spcAft>
            </a:pPr>
            <a:r>
              <a:rPr sz="1050">
                <a:solidFill>
                  <a:srgbClr val="14213D"/>
                </a:solidFill>
                <a:latin typeface="Consolas"/>
              </a:rPr>
              <a:t>    </a:t>
            </a:r>
            <a:r>
              <a:rPr sz="1050">
                <a:solidFill>
                  <a:srgbClr val="5F6C7B"/>
                </a:solidFill>
                <a:latin typeface="Consolas"/>
              </a:rPr>
              <a:t>"p_value_two_sided"</a:t>
            </a:r>
            <a:r>
              <a:rPr sz="1050">
                <a:solidFill>
                  <a:srgbClr val="14213D"/>
                </a:solidFill>
                <a:latin typeface="Consolas"/>
              </a:rPr>
              <a:t>:  </a:t>
            </a:r>
            <a:r>
              <a:rPr sz="1050">
                <a:solidFill>
                  <a:srgbClr val="D95D39"/>
                </a:solidFill>
                <a:latin typeface="Consolas"/>
              </a:rPr>
              <a:t>~0.015</a:t>
            </a:r>
          </a:p>
          <a:p>
            <a:pPr algn="l">
              <a:spcAft>
                <a:spcPts val="0"/>
              </a:spcAft>
            </a:pPr>
            <a:r>
              <a:rPr sz="1050">
                <a:solidFill>
                  <a:srgbClr val="14213D"/>
                </a:solidFill>
                <a:latin typeface="Consolas"/>
              </a:rPr>
              <a:t>  }</a:t>
            </a:r>
          </a:p>
          <a:p>
            <a:pPr algn="l">
              <a:spcAft>
                <a:spcPts val="0"/>
              </a:spcAft>
            </a:pPr>
            <a:r>
              <a:rPr sz="1050">
                <a:solidFill>
                  <a:srgbClr val="14213D"/>
                </a:solidFill>
                <a:latin typeface="Consolas"/>
              </a:rPr>
              <a:t>}</a:t>
            </a:r>
          </a:p>
        </p:txBody>
      </p:sp>
      <p:sp>
        <p:nvSpPr>
          <p:cNvPr id="17" name="Rounded Rectangle 16"/>
          <p:cNvSpPr/>
          <p:nvPr/>
        </p:nvSpPr>
        <p:spPr>
          <a:xfrm>
            <a:off x="502920" y="5989320"/>
            <a:ext cx="11185855" cy="640080"/>
          </a:xfrm>
          <a:prstGeom prst="roundRect">
            <a:avLst>
              <a:gd name="adj" fmla="val 18000"/>
            </a:avLst>
          </a:prstGeom>
          <a:solidFill>
            <a:srgbClr val="FFF0EB"/>
          </a:solidFill>
          <a:ln w="12700">
            <a:solidFill>
              <a:srgbClr val="D95D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89320"/>
            <a:ext cx="10682935" cy="640080"/>
          </a:xfrm>
          <a:prstGeom prst="rect">
            <a:avLst/>
          </a:prstGeom>
          <a:noFill/>
        </p:spPr>
        <p:txBody>
          <a:bodyPr wrap="square" lIns="0" rIns="0" tIns="36576" bIns="36576" anchor="ctr">
            <a:spAutoFit/>
          </a:bodyPr>
          <a:lstStyle/>
          <a:p>
            <a:pPr algn="l">
              <a:spcAft>
                <a:spcPts val="400"/>
              </a:spcAft>
            </a:pPr>
            <a:r>
              <a:rPr sz="1100" b="1" i="0">
                <a:solidFill>
                  <a:srgbClr val="D95D39"/>
                </a:solidFill>
                <a:latin typeface="Inter"/>
              </a:rPr>
              <a:t>Takeaway   </a:t>
            </a:r>
            <a:r>
              <a:rPr sz="1250" b="0" i="0">
                <a:solidFill>
                  <a:srgbClr val="14213D"/>
                </a:solidFill>
                <a:latin typeface="Inter"/>
              </a:rPr>
              <a:t>The enhanced model's AUC advantage is +0.057 with a 95% CI that excludes zero — the kind of statement that survives peer review.</a:t>
            </a:r>
          </a:p>
        </p:txBody>
      </p:sp>
      <p:sp>
        <p:nvSpPr>
          <p:cNvPr id="19" name="TextBox 18"/>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D95D39"/>
                </a:solidFill>
                <a:latin typeface="Inter"/>
              </a:rPr>
              <a:t>DEMO 4  ·  NOTEBOOK 05  ·  APPENDIX</a:t>
            </a:r>
          </a:p>
        </p:txBody>
      </p:sp>
      <p:sp>
        <p:nvSpPr>
          <p:cNvPr id="8" name="TextBox 7"/>
          <p:cNvSpPr txBox="1"/>
          <p:nvPr/>
        </p:nvSpPr>
        <p:spPr>
          <a:xfrm>
            <a:off x="502920" y="713232"/>
            <a:ext cx="11185855" cy="868680"/>
          </a:xfrm>
          <a:prstGeom prst="rect">
            <a:avLst/>
          </a:prstGeom>
          <a:noFill/>
        </p:spPr>
        <p:txBody>
          <a:bodyPr wrap="square" lIns="0" rIns="0" tIns="36576" bIns="36576" anchor="t">
            <a:spAutoFit/>
          </a:bodyPr>
          <a:lstStyle/>
          <a:p>
            <a:pPr algn="l"/>
            <a:r>
              <a:rPr sz="2200" b="1" i="0">
                <a:solidFill>
                  <a:srgbClr val="1F3A5F"/>
                </a:solidFill>
                <a:latin typeface="Inter"/>
              </a:rPr>
              <a:t>SHAP attributes every prediction to the patient's actual feature values.</a:t>
            </a:r>
          </a:p>
        </p:txBody>
      </p:sp>
      <p:sp>
        <p:nvSpPr>
          <p:cNvPr id="9" name="Rounded Rectangle 8"/>
          <p:cNvSpPr/>
          <p:nvPr/>
        </p:nvSpPr>
        <p:spPr>
          <a:xfrm>
            <a:off x="502920" y="1691640"/>
            <a:ext cx="5760720" cy="4160520"/>
          </a:xfrm>
          <a:prstGeom prst="roundRect">
            <a:avLst>
              <a:gd name="adj" fmla="val 4000"/>
            </a:avLst>
          </a:prstGeom>
          <a:solidFill>
            <a:srgbClr val="0F172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576072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691640"/>
            <a:ext cx="5486400" cy="320040"/>
          </a:xfrm>
          <a:prstGeom prst="rect">
            <a:avLst/>
          </a:prstGeom>
          <a:noFill/>
        </p:spPr>
        <p:txBody>
          <a:bodyPr wrap="square" lIns="0" rIns="0" tIns="36576" bIns="36576" anchor="ctr">
            <a:spAutoFit/>
          </a:bodyPr>
          <a:lstStyle/>
          <a:p>
            <a:pPr algn="l">
              <a:spcAft>
                <a:spcPts val="400"/>
              </a:spcAft>
            </a:pPr>
            <a:r>
              <a:rPr sz="1000" b="1" i="0">
                <a:solidFill>
                  <a:srgbClr val="9BB1D0"/>
                </a:solidFill>
                <a:latin typeface="Consolas"/>
              </a:rPr>
              <a:t>notebook 05  —  shap_for_artifact (enhanced model, holdout positive)</a:t>
            </a:r>
          </a:p>
        </p:txBody>
      </p:sp>
      <p:sp>
        <p:nvSpPr>
          <p:cNvPr id="12" name="TextBox 11"/>
          <p:cNvSpPr txBox="1"/>
          <p:nvPr/>
        </p:nvSpPr>
        <p:spPr>
          <a:xfrm>
            <a:off x="685800" y="2057400"/>
            <a:ext cx="5486400" cy="3749040"/>
          </a:xfrm>
          <a:prstGeom prst="rect">
            <a:avLst/>
          </a:prstGeom>
          <a:noFill/>
        </p:spPr>
        <p:txBody>
          <a:bodyPr wrap="square" lIns="45720" rIns="45720" tIns="36576" bIns="36576" anchor="t">
            <a:spAutoFit/>
          </a:bodyPr>
          <a:lstStyle/>
          <a:p>
            <a:pPr algn="l">
              <a:spcAft>
                <a:spcPts val="0"/>
              </a:spcAft>
            </a:pPr>
            <a:r>
              <a:rPr sz="1050">
                <a:solidFill>
                  <a:srgbClr val="C084FC"/>
                </a:solidFill>
                <a:latin typeface="Consolas"/>
              </a:rPr>
              <a:t>def </a:t>
            </a:r>
            <a:r>
              <a:rPr sz="1050">
                <a:solidFill>
                  <a:srgbClr val="60A5FA"/>
                </a:solidFill>
                <a:latin typeface="Consolas"/>
              </a:rPr>
              <a:t>transform_through_preprocessing</a:t>
            </a:r>
            <a:r>
              <a:rPr sz="1050">
                <a:solidFill>
                  <a:srgbClr val="E2E8F0"/>
                </a:solidFill>
                <a:latin typeface="Consolas"/>
              </a:rPr>
              <a:t>(model, X_row):</a:t>
            </a:r>
          </a:p>
          <a:p>
            <a:pPr algn="l">
              <a:spcAft>
                <a:spcPts val="0"/>
              </a:spcAft>
            </a:pPr>
            <a:r>
              <a:rPr sz="1050">
                <a:solidFill>
                  <a:srgbClr val="E2E8F0"/>
                </a:solidFill>
                <a:latin typeface="Consolas"/>
              </a:rPr>
              <a:t>    X = X_row.copy()</a:t>
            </a:r>
          </a:p>
          <a:p>
            <a:pPr algn="l">
              <a:spcAft>
                <a:spcPts val="0"/>
              </a:spcAft>
            </a:pPr>
            <a:r>
              <a:rPr sz="1050">
                <a:solidFill>
                  <a:srgbClr val="C084FC"/>
                </a:solidFill>
                <a:latin typeface="Consolas"/>
              </a:rPr>
              <a:t>    for</a:t>
            </a:r>
            <a:r>
              <a:rPr sz="1050">
                <a:solidFill>
                  <a:srgbClr val="E2E8F0"/>
                </a:solidFill>
                <a:latin typeface="Consolas"/>
              </a:rPr>
              <a:t> _, transformer </a:t>
            </a:r>
            <a:r>
              <a:rPr sz="1050">
                <a:solidFill>
                  <a:srgbClr val="C084FC"/>
                </a:solidFill>
                <a:latin typeface="Consolas"/>
              </a:rPr>
              <a:t>in</a:t>
            </a:r>
            <a:r>
              <a:rPr sz="1050">
                <a:solidFill>
                  <a:srgbClr val="E2E8F0"/>
                </a:solidFill>
                <a:latin typeface="Consolas"/>
              </a:rPr>
              <a:t> model.steps[:-</a:t>
            </a:r>
            <a:r>
              <a:rPr sz="1050">
                <a:solidFill>
                  <a:srgbClr val="FACC15"/>
                </a:solidFill>
                <a:latin typeface="Consolas"/>
              </a:rPr>
              <a:t>1</a:t>
            </a:r>
            <a:r>
              <a:rPr sz="1050">
                <a:solidFill>
                  <a:srgbClr val="E2E8F0"/>
                </a:solidFill>
                <a:latin typeface="Consolas"/>
              </a:rPr>
              <a:t>]:</a:t>
            </a:r>
          </a:p>
          <a:p>
            <a:pPr algn="l">
              <a:spcAft>
                <a:spcPts val="0"/>
              </a:spcAft>
            </a:pPr>
            <a:r>
              <a:rPr sz="1050">
                <a:solidFill>
                  <a:srgbClr val="E2E8F0"/>
                </a:solidFill>
                <a:latin typeface="Consolas"/>
              </a:rPr>
              <a:t>        X = transformer.</a:t>
            </a:r>
            <a:r>
              <a:rPr sz="1050">
                <a:solidFill>
                  <a:srgbClr val="60A5FA"/>
                </a:solidFill>
                <a:latin typeface="Consolas"/>
              </a:rPr>
              <a:t>transform</a:t>
            </a:r>
            <a:r>
              <a:rPr sz="1050">
                <a:solidFill>
                  <a:srgbClr val="E2E8F0"/>
                </a:solidFill>
                <a:latin typeface="Consolas"/>
              </a:rPr>
              <a:t>(X)</a:t>
            </a:r>
          </a:p>
          <a:p>
            <a:pPr algn="l">
              <a:spcAft>
                <a:spcPts val="0"/>
              </a:spcAft>
            </a:pPr>
            <a:r>
              <a:rPr sz="1050">
                <a:solidFill>
                  <a:srgbClr val="C084FC"/>
                </a:solidFill>
                <a:latin typeface="Consolas"/>
              </a:rPr>
              <a:t>    return</a:t>
            </a:r>
            <a:r>
              <a:rPr sz="1050">
                <a:solidFill>
                  <a:srgbClr val="E2E8F0"/>
                </a:solidFill>
                <a:latin typeface="Consolas"/>
              </a:rPr>
              <a:t> X</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Reproduce the train/test split, pull positive holdout case.</a:t>
            </a:r>
          </a:p>
          <a:p>
            <a:pPr algn="l">
              <a:spcAft>
                <a:spcPts val="0"/>
              </a:spcAft>
            </a:pPr>
            <a:r>
              <a:rPr sz="1050">
                <a:solidFill>
                  <a:srgbClr val="E2E8F0"/>
                </a:solidFill>
                <a:latin typeface="Consolas"/>
              </a:rPr>
              <a:t>_, X_te, _, y_te = </a:t>
            </a:r>
            <a:r>
              <a:rPr sz="1050">
                <a:solidFill>
                  <a:srgbClr val="60A5FA"/>
                </a:solidFill>
                <a:latin typeface="Consolas"/>
              </a:rPr>
              <a:t>train_test_split</a:t>
            </a:r>
            <a:r>
              <a:rPr sz="1050">
                <a:solidFill>
                  <a:srgbClr val="E2E8F0"/>
                </a:solidFill>
                <a:latin typeface="Consolas"/>
              </a:rPr>
              <a:t>(</a:t>
            </a:r>
          </a:p>
          <a:p>
            <a:pPr algn="l">
              <a:spcAft>
                <a:spcPts val="0"/>
              </a:spcAft>
            </a:pPr>
            <a:r>
              <a:rPr sz="1050">
                <a:solidFill>
                  <a:srgbClr val="E2E8F0"/>
                </a:solidFill>
                <a:latin typeface="Consolas"/>
              </a:rPr>
              <a:t>    pcos[feats], pcos[</a:t>
            </a:r>
            <a:r>
              <a:rPr sz="1050">
                <a:solidFill>
                  <a:srgbClr val="F4A380"/>
                </a:solidFill>
                <a:latin typeface="Consolas"/>
              </a:rPr>
              <a:t>"pcos_y_n"</a:t>
            </a:r>
            <a:r>
              <a:rPr sz="1050">
                <a:solidFill>
                  <a:srgbClr val="E2E8F0"/>
                </a:solidFill>
                <a:latin typeface="Consolas"/>
              </a:rPr>
              <a:t>],</a:t>
            </a:r>
          </a:p>
          <a:p>
            <a:pPr algn="l">
              <a:spcAft>
                <a:spcPts val="0"/>
              </a:spcAft>
            </a:pPr>
            <a:r>
              <a:rPr sz="1050">
                <a:solidFill>
                  <a:srgbClr val="E2E8F0"/>
                </a:solidFill>
                <a:latin typeface="Consolas"/>
              </a:rPr>
              <a:t>    test_size=</a:t>
            </a:r>
            <a:r>
              <a:rPr sz="1050">
                <a:solidFill>
                  <a:srgbClr val="FACC15"/>
                </a:solidFill>
                <a:latin typeface="Consolas"/>
              </a:rPr>
              <a:t>0.25</a:t>
            </a:r>
            <a:r>
              <a:rPr sz="1050">
                <a:solidFill>
                  <a:srgbClr val="E2E8F0"/>
                </a:solidFill>
                <a:latin typeface="Consolas"/>
              </a:rPr>
              <a:t>, stratify=pcos[</a:t>
            </a:r>
            <a:r>
              <a:rPr sz="1050">
                <a:solidFill>
                  <a:srgbClr val="F4A380"/>
                </a:solidFill>
                <a:latin typeface="Consolas"/>
              </a:rPr>
              <a:t>"pcos_y_n"</a:t>
            </a:r>
            <a:r>
              <a:rPr sz="1050">
                <a:solidFill>
                  <a:srgbClr val="E2E8F0"/>
                </a:solidFill>
                <a:latin typeface="Consolas"/>
              </a:rPr>
              <a:t>],</a:t>
            </a:r>
          </a:p>
          <a:p>
            <a:pPr algn="l">
              <a:spcAft>
                <a:spcPts val="0"/>
              </a:spcAft>
            </a:pPr>
            <a:r>
              <a:rPr sz="1050">
                <a:solidFill>
                  <a:srgbClr val="E2E8F0"/>
                </a:solidFill>
                <a:latin typeface="Consolas"/>
              </a:rPr>
              <a:t>    random_state=</a:t>
            </a:r>
            <a:r>
              <a:rPr sz="1050">
                <a:solidFill>
                  <a:srgbClr val="FACC15"/>
                </a:solidFill>
                <a:latin typeface="Consolas"/>
              </a:rPr>
              <a:t>42</a:t>
            </a:r>
            <a:r>
              <a:rPr sz="1050">
                <a:solidFill>
                  <a:srgbClr val="E2E8F0"/>
                </a:solidFill>
                <a:latin typeface="Consolas"/>
              </a:rPr>
              <a:t>,</a:t>
            </a:r>
          </a:p>
          <a:p>
            <a:pPr algn="l">
              <a:spcAft>
                <a:spcPts val="0"/>
              </a:spcAft>
            </a:pPr>
            <a:r>
              <a:rPr sz="1050">
                <a:solidFill>
                  <a:srgbClr val="E2E8F0"/>
                </a:solidFill>
                <a:latin typeface="Consolas"/>
              </a:rPr>
              <a:t>)</a:t>
            </a:r>
          </a:p>
          <a:p>
            <a:pPr algn="l">
              <a:spcAft>
                <a:spcPts val="0"/>
              </a:spcAft>
            </a:pPr>
            <a:r>
              <a:rPr sz="1050">
                <a:solidFill>
                  <a:srgbClr val="E2E8F0"/>
                </a:solidFill>
                <a:latin typeface="Consolas"/>
              </a:rPr>
              <a:t>positive = pcos.loc[X_te[y_te == </a:t>
            </a:r>
            <a:r>
              <a:rPr sz="1050">
                <a:solidFill>
                  <a:srgbClr val="FACC15"/>
                </a:solidFill>
                <a:latin typeface="Consolas"/>
              </a:rPr>
              <a:t>1</a:t>
            </a:r>
            <a:r>
              <a:rPr sz="1050">
                <a:solidFill>
                  <a:srgbClr val="E2E8F0"/>
                </a:solidFill>
                <a:latin typeface="Consolas"/>
              </a:rPr>
              <a:t>].index[</a:t>
            </a:r>
            <a:r>
              <a:rPr sz="1050">
                <a:solidFill>
                  <a:srgbClr val="FACC15"/>
                </a:solidFill>
                <a:latin typeface="Consolas"/>
              </a:rPr>
              <a:t>0</a:t>
            </a:r>
            <a:r>
              <a:rPr sz="1050">
                <a:solidFill>
                  <a:srgbClr val="E2E8F0"/>
                </a:solidFill>
                <a:latin typeface="Consolas"/>
              </a:rPr>
              <a:t>]].</a:t>
            </a:r>
            <a:r>
              <a:rPr sz="1050">
                <a:solidFill>
                  <a:srgbClr val="60A5FA"/>
                </a:solidFill>
                <a:latin typeface="Consolas"/>
              </a:rPr>
              <a:t>to_dict</a:t>
            </a:r>
            <a:r>
              <a:rPr sz="1050">
                <a:solidFill>
                  <a:srgbClr val="E2E8F0"/>
                </a:solidFill>
                <a:latin typeface="Consolas"/>
              </a:rPr>
              <a:t>()</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TreeExplainer is fast and exact for the RF.</a:t>
            </a:r>
          </a:p>
          <a:p>
            <a:pPr algn="l">
              <a:spcAft>
                <a:spcPts val="0"/>
              </a:spcAft>
            </a:pPr>
            <a:r>
              <a:rPr sz="1050">
                <a:solidFill>
                  <a:srgbClr val="E2E8F0"/>
                </a:solidFill>
                <a:latin typeface="Consolas"/>
              </a:rPr>
              <a:t>estimator   = artifact[</a:t>
            </a:r>
            <a:r>
              <a:rPr sz="1050">
                <a:solidFill>
                  <a:srgbClr val="F4A380"/>
                </a:solidFill>
                <a:latin typeface="Consolas"/>
              </a:rPr>
              <a:t>"model"</a:t>
            </a:r>
            <a:r>
              <a:rPr sz="1050">
                <a:solidFill>
                  <a:srgbClr val="E2E8F0"/>
                </a:solidFill>
                <a:latin typeface="Consolas"/>
              </a:rPr>
              <a:t>].named_steps[</a:t>
            </a:r>
            <a:r>
              <a:rPr sz="1050">
                <a:solidFill>
                  <a:srgbClr val="F4A380"/>
                </a:solidFill>
                <a:latin typeface="Consolas"/>
              </a:rPr>
              <a:t>"model"</a:t>
            </a:r>
            <a:r>
              <a:rPr sz="1050">
                <a:solidFill>
                  <a:srgbClr val="E2E8F0"/>
                </a:solidFill>
                <a:latin typeface="Consolas"/>
              </a:rPr>
              <a:t>]</a:t>
            </a:r>
          </a:p>
          <a:p>
            <a:pPr algn="l">
              <a:spcAft>
                <a:spcPts val="0"/>
              </a:spcAft>
            </a:pPr>
            <a:r>
              <a:rPr sz="1050">
                <a:solidFill>
                  <a:srgbClr val="E2E8F0"/>
                </a:solidFill>
                <a:latin typeface="Consolas"/>
              </a:rPr>
              <a:t>X_t         = </a:t>
            </a:r>
            <a:r>
              <a:rPr sz="1050">
                <a:solidFill>
                  <a:srgbClr val="60A5FA"/>
                </a:solidFill>
                <a:latin typeface="Consolas"/>
              </a:rPr>
              <a:t>transform_through_preprocessing</a:t>
            </a:r>
            <a:r>
              <a:rPr sz="1050">
                <a:solidFill>
                  <a:srgbClr val="E2E8F0"/>
                </a:solidFill>
                <a:latin typeface="Consolas"/>
              </a:rPr>
              <a:t>(artifact[</a:t>
            </a:r>
            <a:r>
              <a:rPr sz="1050">
                <a:solidFill>
                  <a:srgbClr val="F4A380"/>
                </a:solidFill>
                <a:latin typeface="Consolas"/>
              </a:rPr>
              <a:t>"model"</a:t>
            </a:r>
            <a:r>
              <a:rPr sz="1050">
                <a:solidFill>
                  <a:srgbClr val="E2E8F0"/>
                </a:solidFill>
                <a:latin typeface="Consolas"/>
              </a:rPr>
              <a:t>],</a:t>
            </a:r>
          </a:p>
          <a:p>
            <a:pPr algn="l">
              <a:spcAft>
                <a:spcPts val="0"/>
              </a:spcAft>
            </a:pPr>
            <a:r>
              <a:rPr sz="1050">
                <a:solidFill>
                  <a:srgbClr val="E2E8F0"/>
                </a:solidFill>
                <a:latin typeface="Consolas"/>
              </a:rPr>
              <a:t>                                            pd.</a:t>
            </a:r>
            <a:r>
              <a:rPr sz="1050">
                <a:solidFill>
                  <a:srgbClr val="60A5FA"/>
                </a:solidFill>
                <a:latin typeface="Consolas"/>
              </a:rPr>
              <a:t>DataFrame</a:t>
            </a:r>
            <a:r>
              <a:rPr sz="1050">
                <a:solidFill>
                  <a:srgbClr val="E2E8F0"/>
                </a:solidFill>
                <a:latin typeface="Consolas"/>
              </a:rPr>
              <a:t>([positive])[feats])</a:t>
            </a:r>
          </a:p>
          <a:p>
            <a:pPr algn="l">
              <a:spcAft>
                <a:spcPts val="0"/>
              </a:spcAft>
            </a:pPr>
            <a:r>
              <a:rPr sz="1050">
                <a:solidFill>
                  <a:srgbClr val="E2E8F0"/>
                </a:solidFill>
                <a:latin typeface="Consolas"/>
              </a:rPr>
              <a:t>explainer   = shap.</a:t>
            </a:r>
            <a:r>
              <a:rPr sz="1050">
                <a:solidFill>
                  <a:srgbClr val="60A5FA"/>
                </a:solidFill>
                <a:latin typeface="Consolas"/>
              </a:rPr>
              <a:t>TreeExplainer</a:t>
            </a:r>
            <a:r>
              <a:rPr sz="1050">
                <a:solidFill>
                  <a:srgbClr val="E2E8F0"/>
                </a:solidFill>
                <a:latin typeface="Consolas"/>
              </a:rPr>
              <a:t>(estimator)</a:t>
            </a:r>
          </a:p>
          <a:p>
            <a:pPr algn="l">
              <a:spcAft>
                <a:spcPts val="0"/>
              </a:spcAft>
            </a:pPr>
            <a:r>
              <a:rPr sz="1050">
                <a:solidFill>
                  <a:srgbClr val="E2E8F0"/>
                </a:solidFill>
                <a:latin typeface="Consolas"/>
              </a:rPr>
              <a:t>shap_values = explainer.</a:t>
            </a:r>
            <a:r>
              <a:rPr sz="1050">
                <a:solidFill>
                  <a:srgbClr val="60A5FA"/>
                </a:solidFill>
                <a:latin typeface="Consolas"/>
              </a:rPr>
              <a:t>shap_values</a:t>
            </a:r>
            <a:r>
              <a:rPr sz="1050">
                <a:solidFill>
                  <a:srgbClr val="E2E8F0"/>
                </a:solidFill>
                <a:latin typeface="Consolas"/>
              </a:rPr>
              <a:t>(X_t)[</a:t>
            </a:r>
            <a:r>
              <a:rPr sz="1050">
                <a:solidFill>
                  <a:srgbClr val="FACC15"/>
                </a:solidFill>
                <a:latin typeface="Consolas"/>
              </a:rPr>
              <a:t>0</a:t>
            </a:r>
            <a:r>
              <a:rPr sz="1050">
                <a:solidFill>
                  <a:srgbClr val="E2E8F0"/>
                </a:solidFill>
                <a:latin typeface="Consolas"/>
              </a:rPr>
              <a:t>, :, </a:t>
            </a:r>
            <a:r>
              <a:rPr sz="1050">
                <a:solidFill>
                  <a:srgbClr val="FACC15"/>
                </a:solidFill>
                <a:latin typeface="Consolas"/>
              </a:rPr>
              <a:t>1</a:t>
            </a:r>
            <a:r>
              <a:rPr sz="1050">
                <a:solidFill>
                  <a:srgbClr val="E2E8F0"/>
                </a:solidFill>
                <a:latin typeface="Consolas"/>
              </a:rPr>
              <a:t>]</a:t>
            </a:r>
          </a:p>
        </p:txBody>
      </p:sp>
      <p:sp>
        <p:nvSpPr>
          <p:cNvPr id="13" name="Rounded Rectangle 12"/>
          <p:cNvSpPr/>
          <p:nvPr/>
        </p:nvSpPr>
        <p:spPr>
          <a:xfrm>
            <a:off x="6492240" y="1691640"/>
            <a:ext cx="5257800" cy="4160520"/>
          </a:xfrm>
          <a:prstGeom prst="roundRect">
            <a:avLst>
              <a:gd name="adj" fmla="val 4000"/>
            </a:avLst>
          </a:prstGeom>
          <a:solidFill>
            <a:srgbClr val="F8FAFC"/>
          </a:solidFill>
          <a:ln w="7620">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691640"/>
            <a:ext cx="5257800" cy="320040"/>
          </a:xfrm>
          <a:prstGeom prst="rect">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1691640"/>
            <a:ext cx="4983480" cy="320040"/>
          </a:xfrm>
          <a:prstGeom prst="rect">
            <a:avLst/>
          </a:prstGeom>
          <a:noFill/>
        </p:spPr>
        <p:txBody>
          <a:bodyPr wrap="square" lIns="0" rIns="0" tIns="36576" bIns="36576" anchor="ctr">
            <a:spAutoFit/>
          </a:bodyPr>
          <a:lstStyle/>
          <a:p>
            <a:pPr algn="l">
              <a:spcAft>
                <a:spcPts val="400"/>
              </a:spcAft>
            </a:pPr>
            <a:r>
              <a:rPr sz="1000" b="1" i="0">
                <a:solidFill>
                  <a:srgbClr val="007C89"/>
                </a:solidFill>
                <a:latin typeface="Consolas"/>
              </a:rPr>
              <a:t>Output  —  outputs/metrics/demo_positive_enhanced_shap.csv</a:t>
            </a:r>
          </a:p>
        </p:txBody>
      </p:sp>
      <p:sp>
        <p:nvSpPr>
          <p:cNvPr id="16" name="TextBox 15"/>
          <p:cNvSpPr txBox="1"/>
          <p:nvPr/>
        </p:nvSpPr>
        <p:spPr>
          <a:xfrm>
            <a:off x="6675120" y="2057400"/>
            <a:ext cx="4983480" cy="3749040"/>
          </a:xfrm>
          <a:prstGeom prst="rect">
            <a:avLst/>
          </a:prstGeom>
          <a:noFill/>
        </p:spPr>
        <p:txBody>
          <a:bodyPr wrap="square" lIns="45720" rIns="45720" tIns="36576" bIns="36576" anchor="t">
            <a:spAutoFit/>
          </a:bodyPr>
          <a:lstStyle/>
          <a:p>
            <a:pPr algn="l">
              <a:spcAft>
                <a:spcPts val="0"/>
              </a:spcAft>
            </a:pPr>
            <a:r>
              <a:rPr sz="1050">
                <a:solidFill>
                  <a:srgbClr val="5F6C7B"/>
                </a:solidFill>
                <a:latin typeface="Consolas"/>
              </a:rPr>
              <a:t>Top SHAP drivers, known PCOS holdout case</a:t>
            </a:r>
          </a:p>
          <a:p>
            <a:pPr algn="l">
              <a:spcAft>
                <a:spcPts val="0"/>
              </a:spcAft>
            </a:pPr>
            <a:r>
              <a:rPr sz="1050">
                <a:solidFill>
                  <a:srgbClr val="5F6C7B"/>
                </a:solidFill>
                <a:latin typeface="Consolas"/>
              </a:rPr>
              <a:t>feature                value   log-odds Δ</a:t>
            </a:r>
          </a:p>
          <a:p>
            <a:pPr algn="l">
              <a:spcAft>
                <a:spcPts val="0"/>
              </a:spcAft>
            </a:pPr>
            <a:r>
              <a:rPr sz="1050">
                <a:solidFill>
                  <a:srgbClr val="14213D"/>
                </a:solidFill>
                <a:latin typeface="Consolas"/>
              </a:rPr>
              <a:t>follicle_no_r          15.0     </a:t>
            </a:r>
            <a:r>
              <a:rPr sz="1050">
                <a:solidFill>
                  <a:srgbClr val="D95D39"/>
                </a:solidFill>
                <a:latin typeface="Consolas"/>
              </a:rPr>
              <a:t>+0.213</a:t>
            </a:r>
            <a:r>
              <a:rPr sz="1050">
                <a:solidFill>
                  <a:srgbClr val="14213D"/>
                </a:solidFill>
                <a:latin typeface="Consolas"/>
              </a:rPr>
              <a:t>  ↑ PCOS</a:t>
            </a:r>
          </a:p>
          <a:p>
            <a:pPr algn="l">
              <a:spcAft>
                <a:spcPts val="0"/>
              </a:spcAft>
            </a:pPr>
            <a:r>
              <a:rPr sz="1050">
                <a:solidFill>
                  <a:srgbClr val="14213D"/>
                </a:solidFill>
                <a:latin typeface="Consolas"/>
              </a:rPr>
              <a:t>follicle_no_l          13.0     </a:t>
            </a:r>
            <a:r>
              <a:rPr sz="1050">
                <a:solidFill>
                  <a:srgbClr val="D95D39"/>
                </a:solidFill>
                <a:latin typeface="Consolas"/>
              </a:rPr>
              <a:t>+0.166</a:t>
            </a:r>
            <a:r>
              <a:rPr sz="1050">
                <a:solidFill>
                  <a:srgbClr val="14213D"/>
                </a:solidFill>
                <a:latin typeface="Consolas"/>
              </a:rPr>
              <a:t>  ↑ PCOS</a:t>
            </a:r>
          </a:p>
          <a:p>
            <a:pPr algn="l">
              <a:spcAft>
                <a:spcPts val="0"/>
              </a:spcAft>
            </a:pPr>
            <a:r>
              <a:rPr sz="1050">
                <a:solidFill>
                  <a:srgbClr val="14213D"/>
                </a:solidFill>
                <a:latin typeface="Consolas"/>
              </a:rPr>
              <a:t>skin_darkening_y_n      0.0     </a:t>
            </a:r>
            <a:r>
              <a:rPr sz="1050">
                <a:solidFill>
                  <a:srgbClr val="2F855A"/>
                </a:solidFill>
                <a:latin typeface="Consolas"/>
              </a:rPr>
              <a:t>−0.040</a:t>
            </a:r>
            <a:r>
              <a:rPr sz="1050">
                <a:solidFill>
                  <a:srgbClr val="14213D"/>
                </a:solidFill>
                <a:latin typeface="Consolas"/>
              </a:rPr>
              <a:t>  ↓ PCOS</a:t>
            </a:r>
          </a:p>
          <a:p>
            <a:pPr algn="l">
              <a:spcAft>
                <a:spcPts val="0"/>
              </a:spcAft>
            </a:pPr>
            <a:r>
              <a:rPr sz="1050">
                <a:solidFill>
                  <a:srgbClr val="14213D"/>
                </a:solidFill>
                <a:latin typeface="Consolas"/>
              </a:rPr>
              <a:t>weight_gain_y_n         0.0     </a:t>
            </a:r>
            <a:r>
              <a:rPr sz="1050">
                <a:solidFill>
                  <a:srgbClr val="2F855A"/>
                </a:solidFill>
                <a:latin typeface="Consolas"/>
              </a:rPr>
              <a:t>−0.036</a:t>
            </a:r>
            <a:r>
              <a:rPr sz="1050">
                <a:solidFill>
                  <a:srgbClr val="14213D"/>
                </a:solidFill>
                <a:latin typeface="Consolas"/>
              </a:rPr>
              <a:t>  ↓ PCOS</a:t>
            </a:r>
          </a:p>
          <a:p>
            <a:pPr algn="l">
              <a:spcAft>
                <a:spcPts val="0"/>
              </a:spcAft>
            </a:pPr>
            <a:r>
              <a:rPr sz="1050">
                <a:solidFill>
                  <a:srgbClr val="14213D"/>
                </a:solidFill>
                <a:latin typeface="Consolas"/>
              </a:rPr>
              <a:t>amh_ng_ml              16.4     </a:t>
            </a:r>
            <a:r>
              <a:rPr sz="1050">
                <a:solidFill>
                  <a:srgbClr val="D95D39"/>
                </a:solidFill>
                <a:latin typeface="Consolas"/>
              </a:rPr>
              <a:t>+0.034</a:t>
            </a:r>
            <a:r>
              <a:rPr sz="1050">
                <a:solidFill>
                  <a:srgbClr val="14213D"/>
                </a:solidFill>
                <a:latin typeface="Consolas"/>
              </a:rPr>
              <a:t>  ↑ PCOS</a:t>
            </a:r>
          </a:p>
          <a:p>
            <a:pPr algn="l">
              <a:spcAft>
                <a:spcPts val="0"/>
              </a:spcAft>
            </a:pPr>
            <a:r>
              <a:rPr sz="1050">
                <a:solidFill>
                  <a:srgbClr val="14213D"/>
                </a:solidFill>
                <a:latin typeface="Consolas"/>
              </a:rPr>
              <a:t>cycle_irregular_flag    1.0     </a:t>
            </a:r>
            <a:r>
              <a:rPr sz="1050">
                <a:solidFill>
                  <a:srgbClr val="D95D39"/>
                </a:solidFill>
                <a:latin typeface="Consolas"/>
              </a:rPr>
              <a:t>+0.028</a:t>
            </a:r>
            <a:r>
              <a:rPr sz="1050">
                <a:solidFill>
                  <a:srgbClr val="14213D"/>
                </a:solidFill>
                <a:latin typeface="Consolas"/>
              </a:rPr>
              <a:t>  ↑ PCOS</a:t>
            </a:r>
          </a:p>
          <a:p>
            <a:pPr algn="l">
              <a:spcAft>
                <a:spcPts val="0"/>
              </a:spcAft>
            </a:pPr>
            <a:r>
              <a:rPr sz="1050">
                <a:solidFill>
                  <a:srgbClr val="14213D"/>
                </a:solidFill>
                <a:latin typeface="Consolas"/>
              </a:rPr>
              <a:t>bmi                    27.3     </a:t>
            </a:r>
            <a:r>
              <a:rPr sz="1050">
                <a:solidFill>
                  <a:srgbClr val="D95D39"/>
                </a:solidFill>
                <a:latin typeface="Consolas"/>
              </a:rPr>
              <a:t>+0.022</a:t>
            </a:r>
            <a:r>
              <a:rPr sz="1050">
                <a:solidFill>
                  <a:srgbClr val="14213D"/>
                </a:solidFill>
                <a:latin typeface="Consolas"/>
              </a:rPr>
              <a:t>  ↑ PCOS</a:t>
            </a:r>
          </a:p>
          <a:p>
            <a:pPr algn="l">
              <a:spcAft>
                <a:spcPts val="0"/>
              </a:spcAft>
            </a:pPr>
            <a:r>
              <a:rPr sz="1050">
                <a:solidFill>
                  <a:srgbClr val="14213D"/>
                </a:solidFill>
                <a:latin typeface="Consolas"/>
              </a:rPr>
              <a:t>fsh_lh                  0.39    </a:t>
            </a:r>
            <a:r>
              <a:rPr sz="1050">
                <a:solidFill>
                  <a:srgbClr val="D95D39"/>
                </a:solidFill>
                <a:latin typeface="Consolas"/>
              </a:rPr>
              <a:t>+0.018</a:t>
            </a:r>
            <a:r>
              <a:rPr sz="1050">
                <a:solidFill>
                  <a:srgbClr val="14213D"/>
                </a:solidFill>
                <a:latin typeface="Consolas"/>
              </a:rPr>
              <a:t>  ↑ PCOS</a:t>
            </a:r>
          </a:p>
        </p:txBody>
      </p:sp>
      <p:sp>
        <p:nvSpPr>
          <p:cNvPr id="17" name="Rounded Rectangle 16"/>
          <p:cNvSpPr/>
          <p:nvPr/>
        </p:nvSpPr>
        <p:spPr>
          <a:xfrm>
            <a:off x="502920" y="5989320"/>
            <a:ext cx="11185855" cy="640080"/>
          </a:xfrm>
          <a:prstGeom prst="roundRect">
            <a:avLst>
              <a:gd name="adj" fmla="val 18000"/>
            </a:avLst>
          </a:prstGeom>
          <a:solidFill>
            <a:srgbClr val="FFF0EB"/>
          </a:solidFill>
          <a:ln w="12700">
            <a:solidFill>
              <a:srgbClr val="D95D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89320"/>
            <a:ext cx="10682935" cy="640080"/>
          </a:xfrm>
          <a:prstGeom prst="rect">
            <a:avLst/>
          </a:prstGeom>
          <a:noFill/>
        </p:spPr>
        <p:txBody>
          <a:bodyPr wrap="square" lIns="0" rIns="0" tIns="36576" bIns="36576" anchor="ctr">
            <a:spAutoFit/>
          </a:bodyPr>
          <a:lstStyle/>
          <a:p>
            <a:pPr algn="l">
              <a:spcAft>
                <a:spcPts val="400"/>
              </a:spcAft>
            </a:pPr>
            <a:r>
              <a:rPr sz="1100" b="1" i="0">
                <a:solidFill>
                  <a:srgbClr val="D95D39"/>
                </a:solidFill>
                <a:latin typeface="Inter"/>
              </a:rPr>
              <a:t>Takeaway   </a:t>
            </a:r>
            <a:r>
              <a:rPr sz="1250" b="0" i="0">
                <a:solidFill>
                  <a:srgbClr val="14213D"/>
                </a:solidFill>
                <a:latin typeface="Inter"/>
              </a:rPr>
              <a:t>A clinician opens the patient record and sees exactly which findings pushed the prediction up or down. Demo cases come from held-out rows the model never saw in training.</a:t>
            </a:r>
          </a:p>
        </p:txBody>
      </p:sp>
      <p:sp>
        <p:nvSpPr>
          <p:cNvPr id="19" name="TextBox 18"/>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3047923" cy="91440"/>
          </a:xfrm>
          <a:prstGeom prst="rect">
            <a:avLst/>
          </a:prstGeom>
          <a:solidFill>
            <a:srgbClr val="007C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23" y="6766560"/>
            <a:ext cx="3047923" cy="91440"/>
          </a:xfrm>
          <a:prstGeom prst="rect">
            <a:avLst/>
          </a:prstGeom>
          <a:solidFill>
            <a:srgbClr val="D95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6766560"/>
            <a:ext cx="3047923" cy="91440"/>
          </a:xfrm>
          <a:prstGeom prst="rect">
            <a:avLst/>
          </a:prstGeom>
          <a:solidFill>
            <a:srgbClr val="C98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3771" y="6766560"/>
            <a:ext cx="3047923" cy="91440"/>
          </a:xfrm>
          <a:prstGeom prst="rect">
            <a:avLst/>
          </a:prstGeom>
          <a:solidFill>
            <a:srgbClr val="6B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11480"/>
            <a:ext cx="10058400" cy="320040"/>
          </a:xfrm>
          <a:prstGeom prst="rect">
            <a:avLst/>
          </a:prstGeom>
          <a:noFill/>
        </p:spPr>
        <p:txBody>
          <a:bodyPr wrap="square" lIns="0" rIns="0" tIns="36576" bIns="36576" anchor="t">
            <a:spAutoFit/>
          </a:bodyPr>
          <a:lstStyle/>
          <a:p>
            <a:pPr algn="l"/>
            <a:r>
              <a:rPr sz="1100" b="1" i="0">
                <a:solidFill>
                  <a:srgbClr val="D95D39"/>
                </a:solidFill>
                <a:latin typeface="Inter"/>
              </a:rPr>
              <a:t>DEMO 5  ·  NOTEBOOK 12  ·  APPENDIX</a:t>
            </a:r>
          </a:p>
        </p:txBody>
      </p:sp>
      <p:sp>
        <p:nvSpPr>
          <p:cNvPr id="8" name="TextBox 7"/>
          <p:cNvSpPr txBox="1"/>
          <p:nvPr/>
        </p:nvSpPr>
        <p:spPr>
          <a:xfrm>
            <a:off x="502920" y="713232"/>
            <a:ext cx="11185855" cy="868680"/>
          </a:xfrm>
          <a:prstGeom prst="rect">
            <a:avLst/>
          </a:prstGeom>
          <a:noFill/>
        </p:spPr>
        <p:txBody>
          <a:bodyPr wrap="square" lIns="0" rIns="0" tIns="36576" bIns="36576" anchor="t">
            <a:spAutoFit/>
          </a:bodyPr>
          <a:lstStyle/>
          <a:p>
            <a:pPr algn="l"/>
            <a:r>
              <a:rPr sz="2200" b="1" i="0">
                <a:solidFill>
                  <a:srgbClr val="1F3A5F"/>
                </a:solidFill>
                <a:latin typeface="Inter"/>
              </a:rPr>
              <a:t>Split-conformal gives every patient a distribution-free coverage guarantee.</a:t>
            </a:r>
          </a:p>
        </p:txBody>
      </p:sp>
      <p:sp>
        <p:nvSpPr>
          <p:cNvPr id="9" name="Rounded Rectangle 8"/>
          <p:cNvSpPr/>
          <p:nvPr/>
        </p:nvSpPr>
        <p:spPr>
          <a:xfrm>
            <a:off x="502920" y="1691640"/>
            <a:ext cx="5760720" cy="4160520"/>
          </a:xfrm>
          <a:prstGeom prst="roundRect">
            <a:avLst>
              <a:gd name="adj" fmla="val 4000"/>
            </a:avLst>
          </a:prstGeom>
          <a:solidFill>
            <a:srgbClr val="0F172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576072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691640"/>
            <a:ext cx="5486400" cy="320040"/>
          </a:xfrm>
          <a:prstGeom prst="rect">
            <a:avLst/>
          </a:prstGeom>
          <a:noFill/>
        </p:spPr>
        <p:txBody>
          <a:bodyPr wrap="square" lIns="0" rIns="0" tIns="36576" bIns="36576" anchor="ctr">
            <a:spAutoFit/>
          </a:bodyPr>
          <a:lstStyle/>
          <a:p>
            <a:pPr algn="l">
              <a:spcAft>
                <a:spcPts val="400"/>
              </a:spcAft>
            </a:pPr>
            <a:r>
              <a:rPr sz="1000" b="1" i="0">
                <a:solidFill>
                  <a:srgbClr val="9BB1D0"/>
                </a:solidFill>
                <a:latin typeface="Consolas"/>
              </a:rPr>
              <a:t>notebook 12  —  split-conformal recipe</a:t>
            </a:r>
          </a:p>
        </p:txBody>
      </p:sp>
      <p:sp>
        <p:nvSpPr>
          <p:cNvPr id="12" name="TextBox 11"/>
          <p:cNvSpPr txBox="1"/>
          <p:nvPr/>
        </p:nvSpPr>
        <p:spPr>
          <a:xfrm>
            <a:off x="685800" y="2057400"/>
            <a:ext cx="5486400" cy="3749040"/>
          </a:xfrm>
          <a:prstGeom prst="rect">
            <a:avLst/>
          </a:prstGeom>
          <a:noFill/>
        </p:spPr>
        <p:txBody>
          <a:bodyPr wrap="square" lIns="45720" rIns="45720" tIns="36576" bIns="36576" anchor="t">
            <a:spAutoFit/>
          </a:bodyPr>
          <a:lstStyle/>
          <a:p>
            <a:pPr algn="l">
              <a:spcAft>
                <a:spcPts val="0"/>
              </a:spcAft>
            </a:pPr>
            <a:r>
              <a:rPr sz="1050">
                <a:solidFill>
                  <a:srgbClr val="94A3B8"/>
                </a:solidFill>
                <a:latin typeface="Consolas"/>
              </a:rPr>
              <a:t># 1. Split training into proper-train + calibration slice.</a:t>
            </a:r>
          </a:p>
          <a:p>
            <a:pPr algn="l">
              <a:spcAft>
                <a:spcPts val="0"/>
              </a:spcAft>
            </a:pPr>
            <a:r>
              <a:rPr sz="1050">
                <a:solidFill>
                  <a:srgbClr val="E2E8F0"/>
                </a:solidFill>
                <a:latin typeface="Consolas"/>
              </a:rPr>
              <a:t>X_pt, X_cal, y_pt, y_cal = </a:t>
            </a:r>
            <a:r>
              <a:rPr sz="1050">
                <a:solidFill>
                  <a:srgbClr val="60A5FA"/>
                </a:solidFill>
                <a:latin typeface="Consolas"/>
              </a:rPr>
              <a:t>train_test_split</a:t>
            </a:r>
            <a:r>
              <a:rPr sz="1050">
                <a:solidFill>
                  <a:srgbClr val="E2E8F0"/>
                </a:solidFill>
                <a:latin typeface="Consolas"/>
              </a:rPr>
              <a:t>(</a:t>
            </a:r>
          </a:p>
          <a:p>
            <a:pPr algn="l">
              <a:spcAft>
                <a:spcPts val="0"/>
              </a:spcAft>
            </a:pPr>
            <a:r>
              <a:rPr sz="1050">
                <a:solidFill>
                  <a:srgbClr val="E2E8F0"/>
                </a:solidFill>
                <a:latin typeface="Consolas"/>
              </a:rPr>
              <a:t>    X_train, y_train, test_size=</a:t>
            </a:r>
            <a:r>
              <a:rPr sz="1050">
                <a:solidFill>
                  <a:srgbClr val="FACC15"/>
                </a:solidFill>
                <a:latin typeface="Consolas"/>
              </a:rPr>
              <a:t>0.30</a:t>
            </a:r>
            <a:r>
              <a:rPr sz="1050">
                <a:solidFill>
                  <a:srgbClr val="E2E8F0"/>
                </a:solidFill>
                <a:latin typeface="Consolas"/>
              </a:rPr>
              <a:t>,</a:t>
            </a:r>
          </a:p>
          <a:p>
            <a:pPr algn="l">
              <a:spcAft>
                <a:spcPts val="0"/>
              </a:spcAft>
            </a:pPr>
            <a:r>
              <a:rPr sz="1050">
                <a:solidFill>
                  <a:srgbClr val="E2E8F0"/>
                </a:solidFill>
                <a:latin typeface="Consolas"/>
              </a:rPr>
              <a:t>    stratify=y_train, random_state=</a:t>
            </a:r>
            <a:r>
              <a:rPr sz="1050">
                <a:solidFill>
                  <a:srgbClr val="FACC15"/>
                </a:solidFill>
                <a:latin typeface="Consolas"/>
              </a:rPr>
              <a:t>42</a:t>
            </a:r>
            <a:r>
              <a:rPr sz="1050">
                <a:solidFill>
                  <a:srgbClr val="E2E8F0"/>
                </a:solidFill>
                <a:latin typeface="Consolas"/>
              </a:rPr>
              <a:t>,</a:t>
            </a:r>
          </a:p>
          <a:p>
            <a:pPr algn="l">
              <a:spcAft>
                <a:spcPts val="0"/>
              </a:spcAft>
            </a:pPr>
            <a:r>
              <a:rPr sz="1050">
                <a:solidFill>
                  <a:srgbClr val="E2E8F0"/>
                </a:solidFill>
                <a:latin typeface="Consolas"/>
              </a:rPr>
              <a:t>)</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2. Refit a clone on PROPER-TRAIN only.</a:t>
            </a:r>
          </a:p>
          <a:p>
            <a:pPr algn="l">
              <a:spcAft>
                <a:spcPts val="0"/>
              </a:spcAft>
            </a:pPr>
            <a:r>
              <a:rPr sz="1050">
                <a:solidFill>
                  <a:srgbClr val="E2E8F0"/>
                </a:solidFill>
                <a:latin typeface="Consolas"/>
              </a:rPr>
              <a:t>model = </a:t>
            </a:r>
            <a:r>
              <a:rPr sz="1050">
                <a:solidFill>
                  <a:srgbClr val="60A5FA"/>
                </a:solidFill>
                <a:latin typeface="Consolas"/>
              </a:rPr>
              <a:t>clone</a:t>
            </a:r>
            <a:r>
              <a:rPr sz="1050">
                <a:solidFill>
                  <a:srgbClr val="E2E8F0"/>
                </a:solidFill>
                <a:latin typeface="Consolas"/>
              </a:rPr>
              <a:t>(enhanced_artifact[</a:t>
            </a:r>
            <a:r>
              <a:rPr sz="1050">
                <a:solidFill>
                  <a:srgbClr val="F4A380"/>
                </a:solidFill>
                <a:latin typeface="Consolas"/>
              </a:rPr>
              <a:t>"model"</a:t>
            </a:r>
            <a:r>
              <a:rPr sz="1050">
                <a:solidFill>
                  <a:srgbClr val="E2E8F0"/>
                </a:solidFill>
                <a:latin typeface="Consolas"/>
              </a:rPr>
              <a:t>])</a:t>
            </a:r>
          </a:p>
          <a:p>
            <a:pPr algn="l">
              <a:spcAft>
                <a:spcPts val="0"/>
              </a:spcAft>
            </a:pPr>
            <a:r>
              <a:rPr sz="1050">
                <a:solidFill>
                  <a:srgbClr val="E2E8F0"/>
                </a:solidFill>
                <a:latin typeface="Consolas"/>
              </a:rPr>
              <a:t>model.</a:t>
            </a:r>
            <a:r>
              <a:rPr sz="1050">
                <a:solidFill>
                  <a:srgbClr val="60A5FA"/>
                </a:solidFill>
                <a:latin typeface="Consolas"/>
              </a:rPr>
              <a:t>fit</a:t>
            </a:r>
            <a:r>
              <a:rPr sz="1050">
                <a:solidFill>
                  <a:srgbClr val="E2E8F0"/>
                </a:solidFill>
                <a:latin typeface="Consolas"/>
              </a:rPr>
              <a:t>(X_pt, y_pt)</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3. Nonconformity scores: s = 1 − p_model(y_true | x).</a:t>
            </a:r>
          </a:p>
          <a:p>
            <a:pPr algn="l">
              <a:spcAft>
                <a:spcPts val="0"/>
              </a:spcAft>
            </a:pPr>
            <a:r>
              <a:rPr sz="1050">
                <a:solidFill>
                  <a:srgbClr val="E2E8F0"/>
                </a:solidFill>
                <a:latin typeface="Consolas"/>
              </a:rPr>
              <a:t>p_cal  = model.</a:t>
            </a:r>
            <a:r>
              <a:rPr sz="1050">
                <a:solidFill>
                  <a:srgbClr val="60A5FA"/>
                </a:solidFill>
                <a:latin typeface="Consolas"/>
              </a:rPr>
              <a:t>predict_proba</a:t>
            </a:r>
            <a:r>
              <a:rPr sz="1050">
                <a:solidFill>
                  <a:srgbClr val="E2E8F0"/>
                </a:solidFill>
                <a:latin typeface="Consolas"/>
              </a:rPr>
              <a:t>(X_cal)</a:t>
            </a:r>
          </a:p>
          <a:p>
            <a:pPr algn="l">
              <a:spcAft>
                <a:spcPts val="0"/>
              </a:spcAft>
            </a:pPr>
            <a:r>
              <a:rPr sz="1050">
                <a:solidFill>
                  <a:srgbClr val="E2E8F0"/>
                </a:solidFill>
                <a:latin typeface="Consolas"/>
              </a:rPr>
              <a:t>scores = </a:t>
            </a:r>
            <a:r>
              <a:rPr sz="1050">
                <a:solidFill>
                  <a:srgbClr val="FACC15"/>
                </a:solidFill>
                <a:latin typeface="Consolas"/>
              </a:rPr>
              <a:t>1</a:t>
            </a:r>
            <a:r>
              <a:rPr sz="1050">
                <a:solidFill>
                  <a:srgbClr val="E2E8F0"/>
                </a:solidFill>
                <a:latin typeface="Consolas"/>
              </a:rPr>
              <a:t> - p_cal[np.</a:t>
            </a:r>
            <a:r>
              <a:rPr sz="1050">
                <a:solidFill>
                  <a:srgbClr val="60A5FA"/>
                </a:solidFill>
                <a:latin typeface="Consolas"/>
              </a:rPr>
              <a:t>arange</a:t>
            </a:r>
            <a:r>
              <a:rPr sz="1050">
                <a:solidFill>
                  <a:srgbClr val="E2E8F0"/>
                </a:solidFill>
                <a:latin typeface="Consolas"/>
              </a:rPr>
              <a:t>(</a:t>
            </a:r>
            <a:r>
              <a:rPr sz="1050">
                <a:solidFill>
                  <a:srgbClr val="60A5FA"/>
                </a:solidFill>
                <a:latin typeface="Consolas"/>
              </a:rPr>
              <a:t>len</a:t>
            </a:r>
            <a:r>
              <a:rPr sz="1050">
                <a:solidFill>
                  <a:srgbClr val="E2E8F0"/>
                </a:solidFill>
                <a:latin typeface="Consolas"/>
              </a:rPr>
              <a:t>(y_cal)), y_cal.values]</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4. q-hat at ceil((n_cal+1)(1-alpha)) / n_cal.</a:t>
            </a:r>
          </a:p>
          <a:p>
            <a:pPr algn="l">
              <a:spcAft>
                <a:spcPts val="0"/>
              </a:spcAft>
            </a:pPr>
            <a:r>
              <a:rPr sz="1050">
                <a:solidFill>
                  <a:srgbClr val="E2E8F0"/>
                </a:solidFill>
                <a:latin typeface="Consolas"/>
              </a:rPr>
              <a:t>alpha = </a:t>
            </a:r>
            <a:r>
              <a:rPr sz="1050">
                <a:solidFill>
                  <a:srgbClr val="FACC15"/>
                </a:solidFill>
                <a:latin typeface="Consolas"/>
              </a:rPr>
              <a:t>0.10</a:t>
            </a:r>
          </a:p>
          <a:p>
            <a:pPr algn="l">
              <a:spcAft>
                <a:spcPts val="0"/>
              </a:spcAft>
            </a:pPr>
            <a:r>
              <a:rPr sz="1050">
                <a:solidFill>
                  <a:srgbClr val="E2E8F0"/>
                </a:solidFill>
                <a:latin typeface="Consolas"/>
              </a:rPr>
              <a:t>n_cal = </a:t>
            </a:r>
            <a:r>
              <a:rPr sz="1050">
                <a:solidFill>
                  <a:srgbClr val="60A5FA"/>
                </a:solidFill>
                <a:latin typeface="Consolas"/>
              </a:rPr>
              <a:t>len</a:t>
            </a:r>
            <a:r>
              <a:rPr sz="1050">
                <a:solidFill>
                  <a:srgbClr val="E2E8F0"/>
                </a:solidFill>
                <a:latin typeface="Consolas"/>
              </a:rPr>
              <a:t>(scores)</a:t>
            </a:r>
          </a:p>
          <a:p>
            <a:pPr algn="l">
              <a:spcAft>
                <a:spcPts val="0"/>
              </a:spcAft>
            </a:pPr>
            <a:r>
              <a:rPr sz="1050">
                <a:solidFill>
                  <a:srgbClr val="E2E8F0"/>
                </a:solidFill>
                <a:latin typeface="Consolas"/>
              </a:rPr>
              <a:t>q_hat = np.</a:t>
            </a:r>
            <a:r>
              <a:rPr sz="1050">
                <a:solidFill>
                  <a:srgbClr val="60A5FA"/>
                </a:solidFill>
                <a:latin typeface="Consolas"/>
              </a:rPr>
              <a:t>quantile</a:t>
            </a:r>
            <a:r>
              <a:rPr sz="1050">
                <a:solidFill>
                  <a:srgbClr val="E2E8F0"/>
                </a:solidFill>
                <a:latin typeface="Consolas"/>
              </a:rPr>
              <a:t>(scores,</a:t>
            </a:r>
          </a:p>
          <a:p>
            <a:pPr algn="l">
              <a:spcAft>
                <a:spcPts val="0"/>
              </a:spcAft>
            </a:pPr>
            <a:r>
              <a:rPr sz="1050">
                <a:solidFill>
                  <a:srgbClr val="E2E8F0"/>
                </a:solidFill>
                <a:latin typeface="Consolas"/>
              </a:rPr>
              <a:t>                   np.</a:t>
            </a:r>
            <a:r>
              <a:rPr sz="1050">
                <a:solidFill>
                  <a:srgbClr val="60A5FA"/>
                </a:solidFill>
                <a:latin typeface="Consolas"/>
              </a:rPr>
              <a:t>ceil</a:t>
            </a:r>
            <a:r>
              <a:rPr sz="1050">
                <a:solidFill>
                  <a:srgbClr val="E2E8F0"/>
                </a:solidFill>
                <a:latin typeface="Consolas"/>
              </a:rPr>
              <a:t>((n_cal + </a:t>
            </a:r>
            <a:r>
              <a:rPr sz="1050">
                <a:solidFill>
                  <a:srgbClr val="FACC15"/>
                </a:solidFill>
                <a:latin typeface="Consolas"/>
              </a:rPr>
              <a:t>1</a:t>
            </a:r>
            <a:r>
              <a:rPr sz="1050">
                <a:solidFill>
                  <a:srgbClr val="E2E8F0"/>
                </a:solidFill>
                <a:latin typeface="Consolas"/>
              </a:rPr>
              <a:t>) * (</a:t>
            </a:r>
            <a:r>
              <a:rPr sz="1050">
                <a:solidFill>
                  <a:srgbClr val="FACC15"/>
                </a:solidFill>
                <a:latin typeface="Consolas"/>
              </a:rPr>
              <a:t>1</a:t>
            </a:r>
            <a:r>
              <a:rPr sz="1050">
                <a:solidFill>
                  <a:srgbClr val="E2E8F0"/>
                </a:solidFill>
                <a:latin typeface="Consolas"/>
              </a:rPr>
              <a:t> - alpha)) / n_cal)</a:t>
            </a:r>
          </a:p>
          <a:p>
            <a:pPr algn="l">
              <a:spcAft>
                <a:spcPts val="0"/>
              </a:spcAft>
            </a:pPr>
            <a:r>
              <a:rPr sz="1050">
                <a:solidFill>
                  <a:srgbClr val="E2E8F0"/>
                </a:solidFill>
                <a:latin typeface="Consolas"/>
              </a:rPr>
              <a:t> </a:t>
            </a:r>
          </a:p>
          <a:p>
            <a:pPr algn="l">
              <a:spcAft>
                <a:spcPts val="0"/>
              </a:spcAft>
            </a:pPr>
            <a:r>
              <a:rPr sz="1050">
                <a:solidFill>
                  <a:srgbClr val="94A3B8"/>
                </a:solidFill>
                <a:latin typeface="Consolas"/>
              </a:rPr>
              <a:t># 5. Prediction set: { y : 1 − p(y|x) &lt;= q_hat }.</a:t>
            </a:r>
          </a:p>
          <a:p>
            <a:pPr algn="l">
              <a:spcAft>
                <a:spcPts val="0"/>
              </a:spcAft>
            </a:pPr>
            <a:r>
              <a:rPr sz="1050">
                <a:solidFill>
                  <a:srgbClr val="E2E8F0"/>
                </a:solidFill>
                <a:latin typeface="Consolas"/>
              </a:rPr>
              <a:t>p_te = model.</a:t>
            </a:r>
            <a:r>
              <a:rPr sz="1050">
                <a:solidFill>
                  <a:srgbClr val="60A5FA"/>
                </a:solidFill>
                <a:latin typeface="Consolas"/>
              </a:rPr>
              <a:t>predict_proba</a:t>
            </a:r>
            <a:r>
              <a:rPr sz="1050">
                <a:solidFill>
                  <a:srgbClr val="E2E8F0"/>
                </a:solidFill>
                <a:latin typeface="Consolas"/>
              </a:rPr>
              <a:t>(X_test)</a:t>
            </a:r>
          </a:p>
          <a:p>
            <a:pPr algn="l">
              <a:spcAft>
                <a:spcPts val="0"/>
              </a:spcAft>
            </a:pPr>
            <a:r>
              <a:rPr sz="1050">
                <a:solidFill>
                  <a:srgbClr val="E2E8F0"/>
                </a:solidFill>
                <a:latin typeface="Consolas"/>
              </a:rPr>
              <a:t>sets = (</a:t>
            </a:r>
            <a:r>
              <a:rPr sz="1050">
                <a:solidFill>
                  <a:srgbClr val="FACC15"/>
                </a:solidFill>
                <a:latin typeface="Consolas"/>
              </a:rPr>
              <a:t>1</a:t>
            </a:r>
            <a:r>
              <a:rPr sz="1050">
                <a:solidFill>
                  <a:srgbClr val="E2E8F0"/>
                </a:solidFill>
                <a:latin typeface="Consolas"/>
              </a:rPr>
              <a:t> - p_te) &lt;= q_hat</a:t>
            </a:r>
          </a:p>
        </p:txBody>
      </p:sp>
      <p:sp>
        <p:nvSpPr>
          <p:cNvPr id="13" name="Rounded Rectangle 12"/>
          <p:cNvSpPr/>
          <p:nvPr/>
        </p:nvSpPr>
        <p:spPr>
          <a:xfrm>
            <a:off x="6492240" y="1691640"/>
            <a:ext cx="5257800" cy="4160520"/>
          </a:xfrm>
          <a:prstGeom prst="roundRect">
            <a:avLst>
              <a:gd name="adj" fmla="val 4000"/>
            </a:avLst>
          </a:prstGeom>
          <a:solidFill>
            <a:srgbClr val="F8FAFC"/>
          </a:solidFill>
          <a:ln w="7620">
            <a:solidFill>
              <a:srgbClr val="D9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691640"/>
            <a:ext cx="5257800" cy="320040"/>
          </a:xfrm>
          <a:prstGeom prst="rect">
            <a:avLst/>
          </a:prstGeom>
          <a:solidFill>
            <a:srgbClr val="E7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1691640"/>
            <a:ext cx="4983480" cy="320040"/>
          </a:xfrm>
          <a:prstGeom prst="rect">
            <a:avLst/>
          </a:prstGeom>
          <a:noFill/>
        </p:spPr>
        <p:txBody>
          <a:bodyPr wrap="square" lIns="0" rIns="0" tIns="36576" bIns="36576" anchor="ctr">
            <a:spAutoFit/>
          </a:bodyPr>
          <a:lstStyle/>
          <a:p>
            <a:pPr algn="l">
              <a:spcAft>
                <a:spcPts val="400"/>
              </a:spcAft>
            </a:pPr>
            <a:r>
              <a:rPr sz="1000" b="1" i="0">
                <a:solidFill>
                  <a:srgbClr val="007C89"/>
                </a:solidFill>
                <a:latin typeface="Consolas"/>
              </a:rPr>
              <a:t>Output  —  outputs/metrics/conformal_coverage.json</a:t>
            </a:r>
          </a:p>
        </p:txBody>
      </p:sp>
      <p:sp>
        <p:nvSpPr>
          <p:cNvPr id="16" name="TextBox 15"/>
          <p:cNvSpPr txBox="1"/>
          <p:nvPr/>
        </p:nvSpPr>
        <p:spPr>
          <a:xfrm>
            <a:off x="6675120" y="2057400"/>
            <a:ext cx="4983480" cy="3749040"/>
          </a:xfrm>
          <a:prstGeom prst="rect">
            <a:avLst/>
          </a:prstGeom>
          <a:noFill/>
        </p:spPr>
        <p:txBody>
          <a:bodyPr wrap="square" lIns="45720" rIns="45720" tIns="36576" bIns="36576" anchor="t">
            <a:spAutoFit/>
          </a:bodyPr>
          <a:lstStyle/>
          <a:p>
            <a:pPr algn="l">
              <a:spcAft>
                <a:spcPts val="0"/>
              </a:spcAft>
            </a:pPr>
            <a:r>
              <a:rPr sz="1050">
                <a:solidFill>
                  <a:srgbClr val="14213D"/>
                </a:solidFill>
                <a:latin typeface="Consolas"/>
              </a:rPr>
              <a:t>{</a:t>
            </a:r>
          </a:p>
          <a:p>
            <a:pPr algn="l">
              <a:spcAft>
                <a:spcPts val="0"/>
              </a:spcAft>
            </a:pPr>
            <a:r>
              <a:rPr sz="1050">
                <a:solidFill>
                  <a:srgbClr val="14213D"/>
                </a:solidFill>
                <a:latin typeface="Consolas"/>
              </a:rPr>
              <a:t>  </a:t>
            </a:r>
            <a:r>
              <a:rPr sz="1050">
                <a:solidFill>
                  <a:srgbClr val="5F6C7B"/>
                </a:solidFill>
                <a:latin typeface="Consolas"/>
              </a:rPr>
              <a:t>"target_coverage"</a:t>
            </a:r>
            <a:r>
              <a:rPr sz="1050">
                <a:solidFill>
                  <a:srgbClr val="14213D"/>
                </a:solidFill>
                <a:latin typeface="Consolas"/>
              </a:rPr>
              <a:t>:     0.900,</a:t>
            </a:r>
          </a:p>
          <a:p>
            <a:pPr algn="l">
              <a:spcAft>
                <a:spcPts val="0"/>
              </a:spcAft>
            </a:pPr>
            <a:r>
              <a:rPr sz="1050">
                <a:solidFill>
                  <a:srgbClr val="14213D"/>
                </a:solidFill>
                <a:latin typeface="Consolas"/>
              </a:rPr>
              <a:t>  </a:t>
            </a:r>
            <a:r>
              <a:rPr sz="1050">
                <a:solidFill>
                  <a:srgbClr val="5F6C7B"/>
                </a:solidFill>
                <a:latin typeface="Consolas"/>
              </a:rPr>
              <a:t>"q_hat"</a:t>
            </a:r>
            <a:r>
              <a:rPr sz="1050">
                <a:solidFill>
                  <a:srgbClr val="14213D"/>
                </a:solidFill>
                <a:latin typeface="Consolas"/>
              </a:rPr>
              <a:t>:               </a:t>
            </a:r>
            <a:r>
              <a:rPr sz="1050">
                <a:solidFill>
                  <a:srgbClr val="2F855A"/>
                </a:solidFill>
                <a:latin typeface="Consolas"/>
              </a:rPr>
              <a:t>0.486</a:t>
            </a:r>
            <a:r>
              <a:rPr sz="1050">
                <a:solidFill>
                  <a:srgbClr val="14213D"/>
                </a:solidFill>
                <a:latin typeface="Consolas"/>
              </a:rPr>
              <a:t>,</a:t>
            </a:r>
          </a:p>
          <a:p>
            <a:pPr algn="l">
              <a:spcAft>
                <a:spcPts val="0"/>
              </a:spcAft>
            </a:pPr>
            <a:r>
              <a:rPr sz="1050">
                <a:solidFill>
                  <a:srgbClr val="14213D"/>
                </a:solidFill>
                <a:latin typeface="Consolas"/>
              </a:rPr>
              <a:t>  </a:t>
            </a:r>
            <a:r>
              <a:rPr sz="1050">
                <a:solidFill>
                  <a:srgbClr val="5F6C7B"/>
                </a:solidFill>
                <a:latin typeface="Consolas"/>
              </a:rPr>
              <a:t>"empirical_coverage"</a:t>
            </a:r>
            <a:r>
              <a:rPr sz="1050">
                <a:solidFill>
                  <a:srgbClr val="14213D"/>
                </a:solidFill>
                <a:latin typeface="Consolas"/>
              </a:rPr>
              <a:t>:  </a:t>
            </a:r>
            <a:r>
              <a:rPr sz="1050">
                <a:solidFill>
                  <a:srgbClr val="2F855A"/>
                </a:solidFill>
                <a:latin typeface="Consolas"/>
              </a:rPr>
              <a:t>0.912</a:t>
            </a:r>
            <a:r>
              <a:rPr sz="1050">
                <a:solidFill>
                  <a:srgbClr val="14213D"/>
                </a:solidFill>
                <a:latin typeface="Consolas"/>
              </a:rPr>
              <a:t>,</a:t>
            </a:r>
          </a:p>
          <a:p>
            <a:pPr algn="l">
              <a:spcAft>
                <a:spcPts val="0"/>
              </a:spcAft>
            </a:pPr>
            <a:r>
              <a:rPr sz="1050">
                <a:solidFill>
                  <a:srgbClr val="14213D"/>
                </a:solidFill>
                <a:latin typeface="Consolas"/>
              </a:rPr>
              <a:t>  </a:t>
            </a:r>
            <a:r>
              <a:rPr sz="1050">
                <a:solidFill>
                  <a:srgbClr val="5F6C7B"/>
                </a:solidFill>
                <a:latin typeface="Consolas"/>
              </a:rPr>
              <a:t>"mean_set_size"</a:t>
            </a:r>
            <a:r>
              <a:rPr sz="1050">
                <a:solidFill>
                  <a:srgbClr val="14213D"/>
                </a:solidFill>
                <a:latin typeface="Consolas"/>
              </a:rPr>
              <a:t>:       0.993,</a:t>
            </a:r>
          </a:p>
          <a:p>
            <a:pPr algn="l">
              <a:spcAft>
                <a:spcPts val="0"/>
              </a:spcAft>
            </a:pPr>
            <a:r>
              <a:rPr sz="1050">
                <a:solidFill>
                  <a:srgbClr val="14213D"/>
                </a:solidFill>
                <a:latin typeface="Consolas"/>
              </a:rPr>
              <a:t>  </a:t>
            </a:r>
            <a:r>
              <a:rPr sz="1050">
                <a:solidFill>
                  <a:srgbClr val="5F6C7B"/>
                </a:solidFill>
                <a:latin typeface="Consolas"/>
              </a:rPr>
              <a:t>"singleton_fraction"</a:t>
            </a:r>
            <a:r>
              <a:rPr sz="1050">
                <a:solidFill>
                  <a:srgbClr val="14213D"/>
                </a:solidFill>
                <a:latin typeface="Consolas"/>
              </a:rPr>
              <a:t>:  </a:t>
            </a:r>
            <a:r>
              <a:rPr sz="1050">
                <a:solidFill>
                  <a:srgbClr val="2F855A"/>
                </a:solidFill>
                <a:latin typeface="Consolas"/>
              </a:rPr>
              <a:t>0.993</a:t>
            </a:r>
            <a:r>
              <a:rPr sz="1050">
                <a:solidFill>
                  <a:srgbClr val="14213D"/>
                </a:solidFill>
                <a:latin typeface="Consolas"/>
              </a:rPr>
              <a:t>,</a:t>
            </a:r>
          </a:p>
          <a:p>
            <a:pPr algn="l">
              <a:spcAft>
                <a:spcPts val="0"/>
              </a:spcAft>
            </a:pPr>
            <a:r>
              <a:rPr sz="1050">
                <a:solidFill>
                  <a:srgbClr val="14213D"/>
                </a:solidFill>
                <a:latin typeface="Consolas"/>
              </a:rPr>
              <a:t>  </a:t>
            </a:r>
            <a:r>
              <a:rPr sz="1050">
                <a:solidFill>
                  <a:srgbClr val="5F6C7B"/>
                </a:solidFill>
                <a:latin typeface="Consolas"/>
              </a:rPr>
              <a:t>"doubleton_fraction"</a:t>
            </a:r>
            <a:r>
              <a:rPr sz="1050">
                <a:solidFill>
                  <a:srgbClr val="14213D"/>
                </a:solidFill>
                <a:latin typeface="Consolas"/>
              </a:rPr>
              <a:t>:  0.000,</a:t>
            </a:r>
          </a:p>
          <a:p>
            <a:pPr algn="l">
              <a:spcAft>
                <a:spcPts val="0"/>
              </a:spcAft>
            </a:pPr>
            <a:r>
              <a:rPr sz="1050">
                <a:solidFill>
                  <a:srgbClr val="14213D"/>
                </a:solidFill>
                <a:latin typeface="Consolas"/>
              </a:rPr>
              <a:t>  </a:t>
            </a:r>
            <a:r>
              <a:rPr sz="1050">
                <a:solidFill>
                  <a:srgbClr val="5F6C7B"/>
                </a:solidFill>
                <a:latin typeface="Consolas"/>
              </a:rPr>
              <a:t>"empty_fraction"</a:t>
            </a:r>
            <a:r>
              <a:rPr sz="1050">
                <a:solidFill>
                  <a:srgbClr val="14213D"/>
                </a:solidFill>
                <a:latin typeface="Consolas"/>
              </a:rPr>
              <a:t>:      0.007,</a:t>
            </a:r>
          </a:p>
          <a:p>
            <a:pPr algn="l">
              <a:spcAft>
                <a:spcPts val="0"/>
              </a:spcAft>
            </a:pPr>
            <a:r>
              <a:rPr sz="1050">
                <a:solidFill>
                  <a:srgbClr val="14213D"/>
                </a:solidFill>
                <a:latin typeface="Consolas"/>
              </a:rPr>
              <a:t>  </a:t>
            </a:r>
            <a:r>
              <a:rPr sz="1050">
                <a:solidFill>
                  <a:srgbClr val="5F6C7B"/>
                </a:solidFill>
                <a:latin typeface="Consolas"/>
              </a:rPr>
              <a:t>"worked_examples"</a:t>
            </a:r>
            <a:r>
              <a:rPr sz="1050">
                <a:solidFill>
                  <a:srgbClr val="14213D"/>
                </a:solidFill>
                <a:latin typeface="Consolas"/>
              </a:rPr>
              <a:t>: [</a:t>
            </a:r>
          </a:p>
          <a:p>
            <a:pPr algn="l">
              <a:spcAft>
                <a:spcPts val="0"/>
              </a:spcAft>
            </a:pPr>
            <a:r>
              <a:rPr sz="1050">
                <a:solidFill>
                  <a:srgbClr val="14213D"/>
                </a:solidFill>
                <a:latin typeface="Consolas"/>
              </a:rPr>
              <a:t>    {</a:t>
            </a:r>
            <a:r>
              <a:rPr sz="1050">
                <a:solidFill>
                  <a:srgbClr val="5F6C7B"/>
                </a:solidFill>
                <a:latin typeface="Consolas"/>
              </a:rPr>
              <a:t>"true"</a:t>
            </a:r>
            <a:r>
              <a:rPr sz="1050">
                <a:solidFill>
                  <a:srgbClr val="14213D"/>
                </a:solidFill>
                <a:latin typeface="Consolas"/>
              </a:rPr>
              <a:t>: 1, </a:t>
            </a:r>
            <a:r>
              <a:rPr sz="1050">
                <a:solidFill>
                  <a:srgbClr val="5F6C7B"/>
                </a:solidFill>
                <a:latin typeface="Consolas"/>
              </a:rPr>
              <a:t>"p_pcos"</a:t>
            </a:r>
            <a:r>
              <a:rPr sz="1050">
                <a:solidFill>
                  <a:srgbClr val="14213D"/>
                </a:solidFill>
                <a:latin typeface="Consolas"/>
              </a:rPr>
              <a:t>: 0.903,</a:t>
            </a:r>
          </a:p>
          <a:p>
            <a:pPr algn="l">
              <a:spcAft>
                <a:spcPts val="0"/>
              </a:spcAft>
            </a:pPr>
            <a:r>
              <a:rPr sz="1050">
                <a:solidFill>
                  <a:srgbClr val="14213D"/>
                </a:solidFill>
                <a:latin typeface="Consolas"/>
              </a:rPr>
              <a:t>     </a:t>
            </a:r>
            <a:r>
              <a:rPr sz="1050">
                <a:solidFill>
                  <a:srgbClr val="5F6C7B"/>
                </a:solidFill>
                <a:latin typeface="Consolas"/>
              </a:rPr>
              <a:t>"set"</a:t>
            </a:r>
            <a:r>
              <a:rPr sz="1050">
                <a:solidFill>
                  <a:srgbClr val="14213D"/>
                </a:solidFill>
                <a:latin typeface="Consolas"/>
              </a:rPr>
              <a:t>: [</a:t>
            </a:r>
            <a:r>
              <a:rPr sz="1050">
                <a:solidFill>
                  <a:srgbClr val="2F855A"/>
                </a:solidFill>
                <a:latin typeface="Consolas"/>
              </a:rPr>
              <a:t>1</a:t>
            </a:r>
            <a:r>
              <a:rPr sz="1050">
                <a:solidFill>
                  <a:srgbClr val="14213D"/>
                </a:solidFill>
                <a:latin typeface="Consolas"/>
              </a:rPr>
              <a:t>],   </a:t>
            </a:r>
            <a:r>
              <a:rPr sz="1050">
                <a:solidFill>
                  <a:srgbClr val="5F6C7B"/>
                </a:solidFill>
                <a:latin typeface="Consolas"/>
              </a:rPr>
              <a:t>"covers"</a:t>
            </a:r>
            <a:r>
              <a:rPr sz="1050">
                <a:solidFill>
                  <a:srgbClr val="14213D"/>
                </a:solidFill>
                <a:latin typeface="Consolas"/>
              </a:rPr>
              <a:t>: </a:t>
            </a:r>
            <a:r>
              <a:rPr sz="1050">
                <a:solidFill>
                  <a:srgbClr val="2F855A"/>
                </a:solidFill>
                <a:latin typeface="Consolas"/>
              </a:rPr>
              <a:t>true</a:t>
            </a:r>
            <a:r>
              <a:rPr sz="1050">
                <a:solidFill>
                  <a:srgbClr val="14213D"/>
                </a:solidFill>
                <a:latin typeface="Consolas"/>
              </a:rPr>
              <a:t>},</a:t>
            </a:r>
          </a:p>
          <a:p>
            <a:pPr algn="l">
              <a:spcAft>
                <a:spcPts val="0"/>
              </a:spcAft>
            </a:pPr>
            <a:r>
              <a:rPr sz="1050">
                <a:solidFill>
                  <a:srgbClr val="14213D"/>
                </a:solidFill>
                <a:latin typeface="Consolas"/>
              </a:rPr>
              <a:t>    {</a:t>
            </a:r>
            <a:r>
              <a:rPr sz="1050">
                <a:solidFill>
                  <a:srgbClr val="5F6C7B"/>
                </a:solidFill>
                <a:latin typeface="Consolas"/>
              </a:rPr>
              <a:t>"true"</a:t>
            </a:r>
            <a:r>
              <a:rPr sz="1050">
                <a:solidFill>
                  <a:srgbClr val="14213D"/>
                </a:solidFill>
                <a:latin typeface="Consolas"/>
              </a:rPr>
              <a:t>: 0, </a:t>
            </a:r>
            <a:r>
              <a:rPr sz="1050">
                <a:solidFill>
                  <a:srgbClr val="5F6C7B"/>
                </a:solidFill>
                <a:latin typeface="Consolas"/>
              </a:rPr>
              <a:t>"p_pcos"</a:t>
            </a:r>
            <a:r>
              <a:rPr sz="1050">
                <a:solidFill>
                  <a:srgbClr val="14213D"/>
                </a:solidFill>
                <a:latin typeface="Consolas"/>
              </a:rPr>
              <a:t>: 0.271,</a:t>
            </a:r>
          </a:p>
          <a:p>
            <a:pPr algn="l">
              <a:spcAft>
                <a:spcPts val="0"/>
              </a:spcAft>
            </a:pPr>
            <a:r>
              <a:rPr sz="1050">
                <a:solidFill>
                  <a:srgbClr val="14213D"/>
                </a:solidFill>
                <a:latin typeface="Consolas"/>
              </a:rPr>
              <a:t>     </a:t>
            </a:r>
            <a:r>
              <a:rPr sz="1050">
                <a:solidFill>
                  <a:srgbClr val="5F6C7B"/>
                </a:solidFill>
                <a:latin typeface="Consolas"/>
              </a:rPr>
              <a:t>"set"</a:t>
            </a:r>
            <a:r>
              <a:rPr sz="1050">
                <a:solidFill>
                  <a:srgbClr val="14213D"/>
                </a:solidFill>
                <a:latin typeface="Consolas"/>
              </a:rPr>
              <a:t>: [</a:t>
            </a:r>
            <a:r>
              <a:rPr sz="1050">
                <a:solidFill>
                  <a:srgbClr val="2F855A"/>
                </a:solidFill>
                <a:latin typeface="Consolas"/>
              </a:rPr>
              <a:t>0</a:t>
            </a:r>
            <a:r>
              <a:rPr sz="1050">
                <a:solidFill>
                  <a:srgbClr val="14213D"/>
                </a:solidFill>
                <a:latin typeface="Consolas"/>
              </a:rPr>
              <a:t>],   </a:t>
            </a:r>
            <a:r>
              <a:rPr sz="1050">
                <a:solidFill>
                  <a:srgbClr val="5F6C7B"/>
                </a:solidFill>
                <a:latin typeface="Consolas"/>
              </a:rPr>
              <a:t>"covers"</a:t>
            </a:r>
            <a:r>
              <a:rPr sz="1050">
                <a:solidFill>
                  <a:srgbClr val="14213D"/>
                </a:solidFill>
                <a:latin typeface="Consolas"/>
              </a:rPr>
              <a:t>: </a:t>
            </a:r>
            <a:r>
              <a:rPr sz="1050">
                <a:solidFill>
                  <a:srgbClr val="2F855A"/>
                </a:solidFill>
                <a:latin typeface="Consolas"/>
              </a:rPr>
              <a:t>true</a:t>
            </a:r>
            <a:r>
              <a:rPr sz="1050">
                <a:solidFill>
                  <a:srgbClr val="14213D"/>
                </a:solidFill>
                <a:latin typeface="Consolas"/>
              </a:rPr>
              <a:t>}</a:t>
            </a:r>
          </a:p>
          <a:p>
            <a:pPr algn="l">
              <a:spcAft>
                <a:spcPts val="0"/>
              </a:spcAft>
            </a:pPr>
            <a:r>
              <a:rPr sz="1050">
                <a:solidFill>
                  <a:srgbClr val="14213D"/>
                </a:solidFill>
                <a:latin typeface="Consolas"/>
              </a:rPr>
              <a:t>  ]</a:t>
            </a:r>
          </a:p>
          <a:p>
            <a:pPr algn="l">
              <a:spcAft>
                <a:spcPts val="0"/>
              </a:spcAft>
            </a:pPr>
            <a:r>
              <a:rPr sz="1050">
                <a:solidFill>
                  <a:srgbClr val="14213D"/>
                </a:solidFill>
                <a:latin typeface="Consolas"/>
              </a:rPr>
              <a:t>}</a:t>
            </a:r>
          </a:p>
        </p:txBody>
      </p:sp>
      <p:sp>
        <p:nvSpPr>
          <p:cNvPr id="17" name="Rounded Rectangle 16"/>
          <p:cNvSpPr/>
          <p:nvPr/>
        </p:nvSpPr>
        <p:spPr>
          <a:xfrm>
            <a:off x="502920" y="5989320"/>
            <a:ext cx="11185855" cy="640080"/>
          </a:xfrm>
          <a:prstGeom prst="roundRect">
            <a:avLst>
              <a:gd name="adj" fmla="val 18000"/>
            </a:avLst>
          </a:prstGeom>
          <a:solidFill>
            <a:srgbClr val="FFF0EB"/>
          </a:solidFill>
          <a:ln w="12700">
            <a:solidFill>
              <a:srgbClr val="D95D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89320"/>
            <a:ext cx="10682935" cy="640080"/>
          </a:xfrm>
          <a:prstGeom prst="rect">
            <a:avLst/>
          </a:prstGeom>
          <a:noFill/>
        </p:spPr>
        <p:txBody>
          <a:bodyPr wrap="square" lIns="0" rIns="0" tIns="36576" bIns="36576" anchor="ctr">
            <a:spAutoFit/>
          </a:bodyPr>
          <a:lstStyle/>
          <a:p>
            <a:pPr algn="l">
              <a:spcAft>
                <a:spcPts val="400"/>
              </a:spcAft>
            </a:pPr>
            <a:r>
              <a:rPr sz="1100" b="1" i="0">
                <a:solidFill>
                  <a:srgbClr val="D95D39"/>
                </a:solidFill>
                <a:latin typeface="Inter"/>
              </a:rPr>
              <a:t>Takeaway   </a:t>
            </a:r>
            <a:r>
              <a:rPr sz="1250" b="0" i="0">
                <a:solidFill>
                  <a:srgbClr val="14213D"/>
                </a:solidFill>
                <a:latin typeface="Inter"/>
              </a:rPr>
              <a:t>Target coverage 0.90, empirical 0.912 on the held-out set. The 0.7% empty sets are honest abstentions — patients the model refuses to call confidently.</a:t>
            </a:r>
          </a:p>
        </p:txBody>
      </p:sp>
      <p:sp>
        <p:nvSpPr>
          <p:cNvPr id="19" name="TextBox 18"/>
          <p:cNvSpPr txBox="1"/>
          <p:nvPr/>
        </p:nvSpPr>
        <p:spPr>
          <a:xfrm>
            <a:off x="9448495" y="6400800"/>
            <a:ext cx="2468880" cy="274320"/>
          </a:xfrm>
          <a:prstGeom prst="rect">
            <a:avLst/>
          </a:prstGeom>
          <a:noFill/>
        </p:spPr>
        <p:txBody>
          <a:bodyPr wrap="square" lIns="0" rIns="0" tIns="36576" bIns="36576" anchor="t">
            <a:spAutoFit/>
          </a:bodyPr>
          <a:lstStyle/>
          <a:p>
            <a:pPr algn="r">
              <a:spcAft>
                <a:spcPts val="400"/>
              </a:spcAft>
            </a:pPr>
            <a:r>
              <a:rPr sz="1000" b="0" i="0">
                <a:solidFill>
                  <a:srgbClr val="5F6C7B"/>
                </a:solidFill>
                <a:latin typeface="Inter"/>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